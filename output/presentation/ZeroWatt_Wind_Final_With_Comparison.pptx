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7" r:id="rId11"/>
    <p:sldId id="263" r:id="rId12"/>
    <p:sldId id="264" r:id="rId13"/>
    <p:sldId id="265" r:id="rId14"/>
    <p:sldId id="266" r:id="rId15"/>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ZeroWatt Wind is a mechanical concept for wind-driven ventilation and pond aeration. The original logo is from assets/zerowatt-logo.jpg, referenced by the website index.html. The logo retains its proportions, colours and embedded artwork. Background ribbons come from the project Blender scene. No prototype photograph appears on this cover.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project targets rooms with poor airflow and an exposed, windy roof, plus ponds that may benefit from supplementary surface aeration. Natural ventilation remains useful where openings and wind are adequate. The website city image illustrates the context and is not field evidence. Avoid claiming continuous ventilation or adequate pond oxygen without measured wind and load data.</a:t>
            </a:r>
          </a:p>
          <a:p/>
          <a:p>
            <a:r>
              <a:t>Sources: Poster problem statement; Cezeri project pp. 3–4; costing document FAQ; local website docs/cars/citywide-clear.png.</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submission describes a two-stage right-angle bevel drivetrain. One mechanism serves two separate applications. A ventilation installation and a pond installation each need their own system. The spiral geometry and NACA 65-810 profile are design choices, not proof of higher efficiency or lower starting wind speed.</a:t>
            </a:r>
          </a:p>
          <a:p/>
          <a:p>
            <a:r>
              <a:t>Sources: Poster annotated prototype; Cezeri project pp. 3, 5–6. Image extracted directly from supplied poster.</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 two images are supplied website simulation screenshots, not photographs of field installations. The left shows wind capture, exhaust and fresh-air intake. The right shows the pond paddle-wheel concept. Both depend on wind. Source: user attachments, ventilation.png and pond.png.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Original project prototype photo from assets/prototype-white.jpg. The image fills the slide. The only on-slide text is the requested heading, A fabricated prototype. This photograph documents the demonstrator, not measured ventilation or aeration performance.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Arithmetic from costing_zero_watt_wind.docx. Currency is treated as BDT because the FAQ uses taka and Bangladesh suppliers. Ventilation: rotor 4.5×600=2700; gears 2×0.162×250=81; fan 0.121×600=72.60; collars 4×0.030×600=72; supports 3×0.327×120=117.72; casing and nuts 1000. Total 4043.32. Pond: paddle 3000; brackets/couplings/nuts 700; rotor 2700; gears 4×0.162×250=162; collars 72; supports 117.72. Total 6751.72. Displayed headlines round to the nearest BDT. The source narrative says about 4000 and 6500, but the listed expressions total 4043.32 and 6751.72. Rates and quantities are unverified estimates. No quoted installation labour, bearings, transport, maintenance or contingency allowance is established. Hybrid solar/battery costs are separate. Payback and electricity savings are not measured, so they are omitted.</a:t>
            </a:r>
          </a:p>
          <a:p/>
          <a:p>
            <a:r>
              <a:t>Sources: G:/new_8/costing_zero_watt_wind.docx, component tables.</a:t>
            </a:r>
          </a:p>
          <a:p>
            <a:r>
              <a:t>Slide background: original Blender studio scene, tmp/pitch-v2/ZeroWatt_Backgrounds.blend. Decorative wind ribbons do not represent measured airflow.</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Future scope. The question and answer reproduce the hybrid FAQ from G:/new_8/costing_zero_watt_wind.docx, with whitespace normalised. The 4000tk, 40k and 45k amounts are draft team figures, not verified quotes. The household-energy statement is an aspiration, not a sized or tested result. Hybrid components require electricity and are outside the mechanical component subtotal. Image: user supplied hybrid.png.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Comparison scope: conventional wind-only roof turbine ventilators. Solar and battery support for ZeroWatt Wind is planned future scope, not part of the basic mechanical version. Ventilation and pond aeration are separate configurations. Sources: user-provided ZeroWatt_Wind_Final.pptx, slides 3, 4 and 7; Lomanco Whirlybird product information https://www.lomanco.com/vents/whirlybirds/ . Design differences do not establish comparative airflow or low-wind performance.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the team costing document, FAQ 1. Whitespace normalised. The answer describes intended use and proposed benefits, not measured field savings. Source: G:/new_8/costing_zero_watt_wind.docx.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costing_zero_watt_wind.docx, FAQ 2. The original 2400tk annual electricity cost and 2.5-year payback are team assumptions. The source does not establish a tariff, equal-service operating comparison, verified wind output or installed cost sufficient to validate payback. Preserve this qualification while presenting the supplied wording.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Question and answer reproduced from costing_zero_watt_wind.docx, FAQ 4. The annual example uses 1.5kW × 8h/day × 360days × BDT10/kWh = BDT43,200; 20% is BDT8,640 and BDT10,000/8640 is about 1.2 years before maintenance. These are assumptions, not measured savings. The quoted 41k supplier price has not been rechecked, and the 6.5k narrative estimate differs from the component line-item total BDT6,751.72 shown in this deck. Multiple units cannot be assumed adequate without wind and oxygen-transfer measurements. Keep emergency backup where needed. Source: G:/new_8/costing_zero_watt_wind.docx.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Contributor names and institutional affiliation follow the supplied ZeroWatt Wind poster. The earlier Cezeri competition submission lists only Mohammad Rafiul Islam and Tasnia Basharat Mahi. This introduction follows the three-person poster team, as in the earlier deck. No roles, qualifications or biographies are invented. Source: ZeroWatt Wind_Poster.pdf contributor line. Background: original Blender render.</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p:txBody>
      </p:sp>
      <p:sp>
        <p:nvSpPr>
          <p:cNvPr id="2" name="Subtitle"/>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Body"/>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
        <p:nvSpPr>
          <p:cNvPr id="3" name="Right column"/>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p:txBody>
      </p:sp>
      <p:sp>
        <p:nvSpPr>
          <p:cNvPr id="2" name="Left column"/>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6.xml"/><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6.xml"/><Relationship Id="rId2" Type="http://schemas.openxmlformats.org/officeDocument/2006/relationships/image" Target="../media/image4.png"/><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5.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6.xml"/><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6.xml"/><Relationship Id="rId1"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6.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6.xml"/><Relationship Id="rId1" Type="http://schemas.openxmlformats.org/officeDocument/2006/relationships/image" Target="../media/image10.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6.xml"/><Relationship Id="rId2" Type="http://schemas.openxmlformats.org/officeDocument/2006/relationships/hyperlink" Target="https://nscbd.com/4-paddle-wheel-aerator-2hp-price-in-bangladesh/%20" TargetMode="Externa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p:pic>
        <p:nvPicPr>
          <p:cNvPr id="6" name="Picture 5"/>
          <p:cNvPicPr>
            <a:picLocks noChangeAspect="1"/>
          </p:cNvPicPr>
          <p:nvPr/>
        </p:nvPicPr>
        <p:blipFill>
          <a:blip r:embed="rId1"/>
          <a:stretch>
            <a:fillRect/>
          </a:stretch>
        </p:blipFill>
        <p:spPr>
          <a:xfrm>
            <a:off x="0" y="0"/>
            <a:ext cx="12192000" cy="6858000"/>
          </a:xfrm>
          <a:prstGeom prst="rect">
            <a:avLst/>
          </a:prstGeom>
        </p:spPr>
      </p:pic>
      <p:pic>
        <p:nvPicPr>
          <p:cNvPr id="2" name="Picture 1"/>
          <p:cNvPicPr>
            <a:picLocks noChangeAspect="1"/>
          </p:cNvPicPr>
          <p:nvPr/>
        </p:nvPicPr>
        <p:blipFill>
          <a:blip r:embed="rId2"/>
          <a:stretch>
            <a:fillRect/>
          </a:stretch>
        </p:blipFill>
        <p:spPr>
          <a:xfrm>
            <a:off x="714375" y="457200"/>
            <a:ext cx="4381500" cy="5257800"/>
          </a:xfrm>
          <a:prstGeom prst="rect">
            <a:avLst/>
          </a:prstGeom>
        </p:spPr>
      </p:pic>
      <p:sp>
        <p:nvSpPr>
          <p:cNvPr id="3" name="ZeroWatt Wind"/>
          <p:cNvSpPr>
            <a:spLocks noGrp="1"/>
          </p:cNvSpPr>
          <p:nvPr/>
        </p:nvSpPr>
        <p:spPr>
          <a:xfrm>
            <a:off x="5715000" y="1790700"/>
            <a:ext cx="5762625" cy="857250"/>
          </a:xfrm>
          <a:prstGeom prst="rect">
            <a:avLst/>
          </a:prstGeom>
          <a:noFill/>
          <a:ln w="0">
            <a:noFill/>
          </a:ln>
        </p:spPr>
        <p:txBody>
          <a:bodyPr wrap="square" lIns="0" tIns="0" rIns="0" bIns="0">
            <a:noAutofit/>
          </a:bodyPr>
          <a:lstStyle>
            <a:defPPr>
              <a:defRPr sz="4875" b="1">
                <a:solidFill>
                  <a:srgbClr val="19392E"/>
                </a:solidFill>
                <a:latin typeface="Arial" panose="020B0604020202020204"/>
                <a:ea typeface="Arial" panose="020B0604020202020204"/>
                <a:cs typeface="Arial" panose="020B0604020202020204"/>
              </a:defRPr>
            </a:defPPr>
            <a:lvl1pPr>
              <a:defRPr sz="4875" b="1">
                <a:solidFill>
                  <a:srgbClr val="19392E"/>
                </a:solidFill>
                <a:latin typeface="Arial" panose="020B0604020202020204"/>
                <a:ea typeface="Arial" panose="020B0604020202020204"/>
                <a:cs typeface="Arial" panose="020B0604020202020204"/>
              </a:defRPr>
            </a:lvl1pPr>
            <a:lvl2pPr>
              <a:defRPr sz="4875" b="1">
                <a:solidFill>
                  <a:srgbClr val="19392E"/>
                </a:solidFill>
                <a:latin typeface="Arial" panose="020B0604020202020204"/>
                <a:ea typeface="Arial" panose="020B0604020202020204"/>
                <a:cs typeface="Arial" panose="020B0604020202020204"/>
              </a:defRPr>
            </a:lvl2pPr>
            <a:lvl3pPr>
              <a:defRPr sz="4875" b="1">
                <a:solidFill>
                  <a:srgbClr val="19392E"/>
                </a:solidFill>
                <a:latin typeface="Arial" panose="020B0604020202020204"/>
                <a:ea typeface="Arial" panose="020B0604020202020204"/>
                <a:cs typeface="Arial" panose="020B0604020202020204"/>
              </a:defRPr>
            </a:lvl3pPr>
            <a:lvl4pPr>
              <a:defRPr sz="4875" b="1">
                <a:solidFill>
                  <a:srgbClr val="19392E"/>
                </a:solidFill>
                <a:latin typeface="Arial" panose="020B0604020202020204"/>
                <a:ea typeface="Arial" panose="020B0604020202020204"/>
                <a:cs typeface="Arial" panose="020B0604020202020204"/>
              </a:defRPr>
            </a:lvl4pPr>
            <a:lvl5pPr>
              <a:defRPr sz="4875" b="1">
                <a:solidFill>
                  <a:srgbClr val="19392E"/>
                </a:solidFill>
                <a:latin typeface="Arial" panose="020B0604020202020204"/>
                <a:ea typeface="Arial" panose="020B0604020202020204"/>
                <a:cs typeface="Arial" panose="020B0604020202020204"/>
              </a:defRPr>
            </a:lvl5pPr>
            <a:lvl6pPr>
              <a:defRPr sz="4875" b="1">
                <a:solidFill>
                  <a:srgbClr val="19392E"/>
                </a:solidFill>
                <a:latin typeface="Arial" panose="020B0604020202020204"/>
                <a:ea typeface="Arial" panose="020B0604020202020204"/>
                <a:cs typeface="Arial" panose="020B0604020202020204"/>
              </a:defRPr>
            </a:lvl6pPr>
            <a:lvl7pPr>
              <a:defRPr sz="4875" b="1">
                <a:solidFill>
                  <a:srgbClr val="19392E"/>
                </a:solidFill>
                <a:latin typeface="Arial" panose="020B0604020202020204"/>
                <a:ea typeface="Arial" panose="020B0604020202020204"/>
                <a:cs typeface="Arial" panose="020B0604020202020204"/>
              </a:defRPr>
            </a:lvl7pPr>
            <a:lvl8pPr>
              <a:defRPr sz="4875" b="1">
                <a:solidFill>
                  <a:srgbClr val="19392E"/>
                </a:solidFill>
                <a:latin typeface="Arial" panose="020B0604020202020204"/>
                <a:ea typeface="Arial" panose="020B0604020202020204"/>
                <a:cs typeface="Arial" panose="020B0604020202020204"/>
              </a:defRPr>
            </a:lvl8pPr>
            <a:lvl9pPr>
              <a:defRPr sz="4875" b="1">
                <a:solidFill>
                  <a:srgbClr val="19392E"/>
                </a:solidFill>
                <a:latin typeface="Arial" panose="020B0604020202020204"/>
                <a:ea typeface="Arial" panose="020B0604020202020204"/>
                <a:cs typeface="Arial" panose="020B0604020202020204"/>
              </a:defRPr>
            </a:lvl9pPr>
          </a:lstStyle>
          <a:p>
            <a:pPr>
              <a:defRPr sz="4875" b="1">
                <a:solidFill>
                  <a:srgbClr val="19392E"/>
                </a:solidFill>
                <a:latin typeface="Arial" panose="020B0604020202020204"/>
                <a:ea typeface="Arial" panose="020B0604020202020204"/>
                <a:cs typeface="Arial" panose="020B0604020202020204"/>
              </a:defRPr>
            </a:pPr>
            <a:r>
              <a:rPr sz="4875" b="1">
                <a:solidFill>
                  <a:srgbClr val="19392E"/>
                </a:solidFill>
                <a:latin typeface="Arial" panose="020B0604020202020204"/>
                <a:ea typeface="Arial" panose="020B0604020202020204"/>
                <a:cs typeface="Arial" panose="020B0604020202020204"/>
              </a:rPr>
              <a:t>ZeroWatt Wind</a:t>
            </a:r>
            <a:endParaRPr sz="4875" b="1">
              <a:solidFill>
                <a:srgbClr val="19392E"/>
              </a:solidFill>
              <a:latin typeface="Arial" panose="020B0604020202020204"/>
              <a:ea typeface="Arial" panose="020B0604020202020204"/>
              <a:cs typeface="Arial" panose="020B0604020202020204"/>
            </a:endParaRPr>
          </a:p>
        </p:txBody>
      </p:sp>
      <p:sp>
        <p:nvSpPr>
          <p:cNvPr id="4" name="Wind-driven ventilation&#10;and pond aeration"/>
          <p:cNvSpPr>
            <a:spLocks noGrp="1"/>
          </p:cNvSpPr>
          <p:nvPr/>
        </p:nvSpPr>
        <p:spPr>
          <a:xfrm>
            <a:off x="5743575" y="2952750"/>
            <a:ext cx="5524500" cy="1028700"/>
          </a:xfrm>
          <a:prstGeom prst="rect">
            <a:avLst/>
          </a:prstGeom>
          <a:noFill/>
          <a:ln w="0">
            <a:noFill/>
          </a:ln>
        </p:spPr>
        <p:txBody>
          <a:bodyPr wrap="square" lIns="0" tIns="0" rIns="0" bIns="0">
            <a:noAutofit/>
          </a:bodyPr>
          <a:lstStyle>
            <a:defPPr>
              <a:defRPr sz="2550" b="0">
                <a:solidFill>
                  <a:srgbClr val="284B39"/>
                </a:solidFill>
                <a:latin typeface="Arial" panose="020B0604020202020204"/>
                <a:ea typeface="Arial" panose="020B0604020202020204"/>
                <a:cs typeface="Arial" panose="020B0604020202020204"/>
              </a:defRPr>
            </a:defPPr>
            <a:lvl1pPr>
              <a:defRPr sz="2550" b="0">
                <a:solidFill>
                  <a:srgbClr val="284B39"/>
                </a:solidFill>
                <a:latin typeface="Arial" panose="020B0604020202020204"/>
                <a:ea typeface="Arial" panose="020B0604020202020204"/>
                <a:cs typeface="Arial" panose="020B0604020202020204"/>
              </a:defRPr>
            </a:lvl1pPr>
            <a:lvl2pPr>
              <a:defRPr sz="2550" b="0">
                <a:solidFill>
                  <a:srgbClr val="284B39"/>
                </a:solidFill>
                <a:latin typeface="Arial" panose="020B0604020202020204"/>
                <a:ea typeface="Arial" panose="020B0604020202020204"/>
                <a:cs typeface="Arial" panose="020B0604020202020204"/>
              </a:defRPr>
            </a:lvl2pPr>
            <a:lvl3pPr>
              <a:defRPr sz="2550" b="0">
                <a:solidFill>
                  <a:srgbClr val="284B39"/>
                </a:solidFill>
                <a:latin typeface="Arial" panose="020B0604020202020204"/>
                <a:ea typeface="Arial" panose="020B0604020202020204"/>
                <a:cs typeface="Arial" panose="020B0604020202020204"/>
              </a:defRPr>
            </a:lvl3pPr>
            <a:lvl4pPr>
              <a:defRPr sz="2550" b="0">
                <a:solidFill>
                  <a:srgbClr val="284B39"/>
                </a:solidFill>
                <a:latin typeface="Arial" panose="020B0604020202020204"/>
                <a:ea typeface="Arial" panose="020B0604020202020204"/>
                <a:cs typeface="Arial" panose="020B0604020202020204"/>
              </a:defRPr>
            </a:lvl4pPr>
            <a:lvl5pPr>
              <a:defRPr sz="2550" b="0">
                <a:solidFill>
                  <a:srgbClr val="284B39"/>
                </a:solidFill>
                <a:latin typeface="Arial" panose="020B0604020202020204"/>
                <a:ea typeface="Arial" panose="020B0604020202020204"/>
                <a:cs typeface="Arial" panose="020B0604020202020204"/>
              </a:defRPr>
            </a:lvl5pPr>
            <a:lvl6pPr>
              <a:defRPr sz="2550" b="0">
                <a:solidFill>
                  <a:srgbClr val="284B39"/>
                </a:solidFill>
                <a:latin typeface="Arial" panose="020B0604020202020204"/>
                <a:ea typeface="Arial" panose="020B0604020202020204"/>
                <a:cs typeface="Arial" panose="020B0604020202020204"/>
              </a:defRPr>
            </a:lvl6pPr>
            <a:lvl7pPr>
              <a:defRPr sz="2550" b="0">
                <a:solidFill>
                  <a:srgbClr val="284B39"/>
                </a:solidFill>
                <a:latin typeface="Arial" panose="020B0604020202020204"/>
                <a:ea typeface="Arial" panose="020B0604020202020204"/>
                <a:cs typeface="Arial" panose="020B0604020202020204"/>
              </a:defRPr>
            </a:lvl7pPr>
            <a:lvl8pPr>
              <a:defRPr sz="2550" b="0">
                <a:solidFill>
                  <a:srgbClr val="284B39"/>
                </a:solidFill>
                <a:latin typeface="Arial" panose="020B0604020202020204"/>
                <a:ea typeface="Arial" panose="020B0604020202020204"/>
                <a:cs typeface="Arial" panose="020B0604020202020204"/>
              </a:defRPr>
            </a:lvl8pPr>
            <a:lvl9pPr>
              <a:defRPr sz="2550" b="0">
                <a:solidFill>
                  <a:srgbClr val="284B39"/>
                </a:solidFill>
                <a:latin typeface="Arial" panose="020B0604020202020204"/>
                <a:ea typeface="Arial" panose="020B0604020202020204"/>
                <a:cs typeface="Arial" panose="020B0604020202020204"/>
              </a:defRPr>
            </a:lvl9pPr>
          </a:lstStyle>
          <a:p>
            <a:pPr>
              <a:defRPr sz="2550" b="0">
                <a:solidFill>
                  <a:srgbClr val="284B39"/>
                </a:solidFill>
                <a:latin typeface="Arial" panose="020B0604020202020204"/>
                <a:ea typeface="Arial" panose="020B0604020202020204"/>
                <a:cs typeface="Arial" panose="020B0604020202020204"/>
              </a:defRPr>
            </a:pPr>
            <a:r>
              <a:rPr sz="2550" b="0">
                <a:solidFill>
                  <a:srgbClr val="284B39"/>
                </a:solidFill>
                <a:latin typeface="Arial" panose="020B0604020202020204"/>
                <a:ea typeface="Arial" panose="020B0604020202020204"/>
                <a:cs typeface="Arial" panose="020B0604020202020204"/>
              </a:rPr>
              <a:t>Wind-driven ventilation</a:t>
            </a:r>
            <a:endParaRPr sz="2550" b="0">
              <a:solidFill>
                <a:srgbClr val="284B39"/>
              </a:solidFill>
              <a:latin typeface="Arial" panose="020B0604020202020204"/>
              <a:ea typeface="Arial" panose="020B0604020202020204"/>
              <a:cs typeface="Arial" panose="020B0604020202020204"/>
            </a:endParaRPr>
          </a:p>
          <a:p>
            <a:pPr>
              <a:defRPr sz="2550" b="0">
                <a:solidFill>
                  <a:srgbClr val="284B39"/>
                </a:solidFill>
                <a:latin typeface="Arial" panose="020B0604020202020204"/>
                <a:ea typeface="Arial" panose="020B0604020202020204"/>
                <a:cs typeface="Arial" panose="020B0604020202020204"/>
              </a:defRPr>
            </a:pPr>
            <a:r>
              <a:rPr sz="2550" b="0">
                <a:solidFill>
                  <a:srgbClr val="284B39"/>
                </a:solidFill>
                <a:latin typeface="Arial" panose="020B0604020202020204"/>
                <a:ea typeface="Arial" panose="020B0604020202020204"/>
                <a:cs typeface="Arial" panose="020B0604020202020204"/>
              </a:rPr>
              <a:t>and pond aeration</a:t>
            </a:r>
            <a:endParaRPr sz="2550" b="0">
              <a:solidFill>
                <a:srgbClr val="284B39"/>
              </a:solidFill>
              <a:latin typeface="Arial" panose="020B0604020202020204"/>
              <a:ea typeface="Arial" panose="020B0604020202020204"/>
              <a:cs typeface="Arial" panose="020B0604020202020204"/>
            </a:endParaRPr>
          </a:p>
        </p:txBody>
      </p:sp>
      <p:sp>
        <p:nvSpPr>
          <p:cNvPr id="5" name="Islamic University of Technology&#10;IUT-OIC, Bangladesh"/>
          <p:cNvSpPr>
            <a:spLocks noGrp="1"/>
          </p:cNvSpPr>
          <p:nvPr/>
        </p:nvSpPr>
        <p:spPr>
          <a:xfrm>
            <a:off x="5743575" y="4572000"/>
            <a:ext cx="5334000" cy="609600"/>
          </a:xfrm>
          <a:prstGeom prst="rect">
            <a:avLst/>
          </a:prstGeom>
          <a:noFill/>
          <a:ln w="0">
            <a:noFill/>
          </a:ln>
        </p:spPr>
        <p:txBody>
          <a:bodyPr wrap="square" lIns="0" tIns="0" rIns="0" bIns="0">
            <a:noAutofit/>
          </a:bodyPr>
          <a:lstStyle>
            <a:defPPr>
              <a:defRPr sz="1725" b="0">
                <a:solidFill>
                  <a:srgbClr val="586B5E"/>
                </a:solidFill>
                <a:latin typeface="Arial" panose="020B0604020202020204"/>
                <a:ea typeface="Arial" panose="020B0604020202020204"/>
                <a:cs typeface="Arial" panose="020B0604020202020204"/>
              </a:defRPr>
            </a:defPPr>
            <a:lvl1pPr>
              <a:defRPr sz="1725" b="0">
                <a:solidFill>
                  <a:srgbClr val="586B5E"/>
                </a:solidFill>
                <a:latin typeface="Arial" panose="020B0604020202020204"/>
                <a:ea typeface="Arial" panose="020B0604020202020204"/>
                <a:cs typeface="Arial" panose="020B0604020202020204"/>
              </a:defRPr>
            </a:lvl1pPr>
            <a:lvl2pPr>
              <a:defRPr sz="1725" b="0">
                <a:solidFill>
                  <a:srgbClr val="586B5E"/>
                </a:solidFill>
                <a:latin typeface="Arial" panose="020B0604020202020204"/>
                <a:ea typeface="Arial" panose="020B0604020202020204"/>
                <a:cs typeface="Arial" panose="020B0604020202020204"/>
              </a:defRPr>
            </a:lvl2pPr>
            <a:lvl3pPr>
              <a:defRPr sz="1725" b="0">
                <a:solidFill>
                  <a:srgbClr val="586B5E"/>
                </a:solidFill>
                <a:latin typeface="Arial" panose="020B0604020202020204"/>
                <a:ea typeface="Arial" panose="020B0604020202020204"/>
                <a:cs typeface="Arial" panose="020B0604020202020204"/>
              </a:defRPr>
            </a:lvl3pPr>
            <a:lvl4pPr>
              <a:defRPr sz="1725" b="0">
                <a:solidFill>
                  <a:srgbClr val="586B5E"/>
                </a:solidFill>
                <a:latin typeface="Arial" panose="020B0604020202020204"/>
                <a:ea typeface="Arial" panose="020B0604020202020204"/>
                <a:cs typeface="Arial" panose="020B0604020202020204"/>
              </a:defRPr>
            </a:lvl4pPr>
            <a:lvl5pPr>
              <a:defRPr sz="1725" b="0">
                <a:solidFill>
                  <a:srgbClr val="586B5E"/>
                </a:solidFill>
                <a:latin typeface="Arial" panose="020B0604020202020204"/>
                <a:ea typeface="Arial" panose="020B0604020202020204"/>
                <a:cs typeface="Arial" panose="020B0604020202020204"/>
              </a:defRPr>
            </a:lvl5pPr>
            <a:lvl6pPr>
              <a:defRPr sz="1725" b="0">
                <a:solidFill>
                  <a:srgbClr val="586B5E"/>
                </a:solidFill>
                <a:latin typeface="Arial" panose="020B0604020202020204"/>
                <a:ea typeface="Arial" panose="020B0604020202020204"/>
                <a:cs typeface="Arial" panose="020B0604020202020204"/>
              </a:defRPr>
            </a:lvl6pPr>
            <a:lvl7pPr>
              <a:defRPr sz="1725" b="0">
                <a:solidFill>
                  <a:srgbClr val="586B5E"/>
                </a:solidFill>
                <a:latin typeface="Arial" panose="020B0604020202020204"/>
                <a:ea typeface="Arial" panose="020B0604020202020204"/>
                <a:cs typeface="Arial" panose="020B0604020202020204"/>
              </a:defRPr>
            </a:lvl7pPr>
            <a:lvl8pPr>
              <a:defRPr sz="1725" b="0">
                <a:solidFill>
                  <a:srgbClr val="586B5E"/>
                </a:solidFill>
                <a:latin typeface="Arial" panose="020B0604020202020204"/>
                <a:ea typeface="Arial" panose="020B0604020202020204"/>
                <a:cs typeface="Arial" panose="020B0604020202020204"/>
              </a:defRPr>
            </a:lvl8pPr>
            <a:lvl9pPr>
              <a:defRPr sz="1725" b="0">
                <a:solidFill>
                  <a:srgbClr val="586B5E"/>
                </a:solidFill>
                <a:latin typeface="Arial" panose="020B0604020202020204"/>
                <a:ea typeface="Arial" panose="020B0604020202020204"/>
                <a:cs typeface="Arial" panose="020B0604020202020204"/>
              </a:defRPr>
            </a:lvl9pPr>
          </a:lstStyle>
          <a:p>
            <a:pPr>
              <a:defRPr sz="1725" b="0">
                <a:solidFill>
                  <a:srgbClr val="586B5E"/>
                </a:solidFill>
                <a:latin typeface="Arial" panose="020B0604020202020204"/>
                <a:ea typeface="Arial" panose="020B0604020202020204"/>
                <a:cs typeface="Arial" panose="020B0604020202020204"/>
              </a:defRPr>
            </a:pPr>
            <a:r>
              <a:rPr sz="1725" b="0">
                <a:solidFill>
                  <a:srgbClr val="586B5E"/>
                </a:solidFill>
                <a:latin typeface="Arial" panose="020B0604020202020204"/>
                <a:ea typeface="Arial" panose="020B0604020202020204"/>
                <a:cs typeface="Arial" panose="020B0604020202020204"/>
              </a:rPr>
              <a:t>Islamic University of Technology</a:t>
            </a:r>
            <a:endParaRPr sz="1725" b="0">
              <a:solidFill>
                <a:srgbClr val="586B5E"/>
              </a:solidFill>
              <a:latin typeface="Arial" panose="020B0604020202020204"/>
              <a:ea typeface="Arial" panose="020B0604020202020204"/>
              <a:cs typeface="Arial" panose="020B0604020202020204"/>
            </a:endParaRPr>
          </a:p>
          <a:p>
            <a:pPr>
              <a:defRPr sz="1725" b="0">
                <a:solidFill>
                  <a:srgbClr val="586B5E"/>
                </a:solidFill>
                <a:latin typeface="Arial" panose="020B0604020202020204"/>
                <a:ea typeface="Arial" panose="020B0604020202020204"/>
                <a:cs typeface="Arial" panose="020B0604020202020204"/>
              </a:defRPr>
            </a:pPr>
            <a:r>
              <a:rPr sz="1725" b="0">
                <a:solidFill>
                  <a:srgbClr val="586B5E"/>
                </a:solidFill>
                <a:latin typeface="Arial" panose="020B0604020202020204"/>
                <a:ea typeface="Arial" panose="020B0604020202020204"/>
                <a:cs typeface="Arial" panose="020B0604020202020204"/>
              </a:rPr>
              <a:t>IUT-OIC, Bangladesh</a:t>
            </a:r>
            <a:endParaRPr sz="1725" b="0">
              <a:solidFill>
                <a:srgbClr val="586B5E"/>
              </a:solidFill>
              <a:latin typeface="Arial" panose="020B0604020202020204"/>
              <a:ea typeface="Arial" panose="020B0604020202020204"/>
              <a:cs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he urban airflow problem"/>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The urban airflow problem</a:t>
            </a:r>
            <a:endParaRPr sz="3300" b="1">
              <a:solidFill>
                <a:srgbClr val="162D23"/>
              </a:solidFill>
              <a:latin typeface="Arial" panose="020B0604020202020204"/>
              <a:ea typeface="Arial" panose="020B0604020202020204"/>
              <a:cs typeface="Arial" panose="020B0604020202020204"/>
            </a:endParaRPr>
          </a:p>
        </p:txBody>
      </p:sp>
      <p:pic>
        <p:nvPicPr>
          <p:cNvPr id="4" name="Picture 3"/>
          <p:cNvPicPr>
            <a:picLocks noChangeAspect="1"/>
          </p:cNvPicPr>
          <p:nvPr/>
        </p:nvPicPr>
        <p:blipFill>
          <a:blip r:embed="rId2"/>
          <a:srcRect l="11376" r="11376"/>
          <a:stretch>
            <a:fillRect/>
          </a:stretch>
        </p:blipFill>
        <p:spPr>
          <a:xfrm>
            <a:off x="6334125" y="1619250"/>
            <a:ext cx="5238750" cy="4238625"/>
          </a:xfrm>
          <a:prstGeom prst="rect">
            <a:avLst/>
          </a:prstGeom>
        </p:spPr>
      </p:pic>
      <p:sp>
        <p:nvSpPr>
          <p:cNvPr id="5" name="Inside buildings"/>
          <p:cNvSpPr>
            <a:spLocks noGrp="1"/>
          </p:cNvSpPr>
          <p:nvPr/>
        </p:nvSpPr>
        <p:spPr>
          <a:xfrm>
            <a:off x="628650" y="1790700"/>
            <a:ext cx="5143500" cy="457200"/>
          </a:xfrm>
          <a:prstGeom prst="rect">
            <a:avLst/>
          </a:prstGeom>
          <a:noFill/>
          <a:ln w="0">
            <a:noFill/>
          </a:ln>
        </p:spPr>
        <p:txBody>
          <a:bodyPr wrap="square" lIns="0" tIns="0" rIns="0" bIns="0" anchor="t">
            <a:noAutofit/>
          </a:bodyPr>
          <a:lstStyle>
            <a:defPPr>
              <a:defRPr sz="2400" b="1">
                <a:solidFill>
                  <a:srgbClr val="19392E"/>
                </a:solidFill>
                <a:latin typeface="Arial" panose="020B0604020202020204"/>
                <a:ea typeface="Arial" panose="020B0604020202020204"/>
                <a:cs typeface="Arial" panose="020B0604020202020204"/>
              </a:defRPr>
            </a:defPPr>
            <a:lvl1pPr>
              <a:buNone/>
              <a:defRPr sz="2400" b="1">
                <a:solidFill>
                  <a:srgbClr val="19392E"/>
                </a:solidFill>
                <a:latin typeface="Arial" panose="020B0604020202020204"/>
                <a:ea typeface="Arial" panose="020B0604020202020204"/>
                <a:cs typeface="Arial" panose="020B0604020202020204"/>
              </a:defRPr>
            </a:lvl1pPr>
            <a:lvl2pPr>
              <a:buNone/>
              <a:defRPr sz="2400" b="1">
                <a:solidFill>
                  <a:srgbClr val="19392E"/>
                </a:solidFill>
                <a:latin typeface="Arial" panose="020B0604020202020204"/>
                <a:ea typeface="Arial" panose="020B0604020202020204"/>
                <a:cs typeface="Arial" panose="020B0604020202020204"/>
              </a:defRPr>
            </a:lvl2pPr>
            <a:lvl3pPr>
              <a:buNone/>
              <a:defRPr sz="2400" b="1">
                <a:solidFill>
                  <a:srgbClr val="19392E"/>
                </a:solidFill>
                <a:latin typeface="Arial" panose="020B0604020202020204"/>
                <a:ea typeface="Arial" panose="020B0604020202020204"/>
                <a:cs typeface="Arial" panose="020B0604020202020204"/>
              </a:defRPr>
            </a:lvl3pPr>
            <a:lvl4pPr>
              <a:buNone/>
              <a:defRPr sz="2400" b="1">
                <a:solidFill>
                  <a:srgbClr val="19392E"/>
                </a:solidFill>
                <a:latin typeface="Arial" panose="020B0604020202020204"/>
                <a:ea typeface="Arial" panose="020B0604020202020204"/>
                <a:cs typeface="Arial" panose="020B0604020202020204"/>
              </a:defRPr>
            </a:lvl4pPr>
            <a:lvl5pPr>
              <a:buNone/>
              <a:defRPr sz="2400" b="1">
                <a:solidFill>
                  <a:srgbClr val="19392E"/>
                </a:solidFill>
                <a:latin typeface="Arial" panose="020B0604020202020204"/>
                <a:ea typeface="Arial" panose="020B0604020202020204"/>
                <a:cs typeface="Arial" panose="020B0604020202020204"/>
              </a:defRPr>
            </a:lvl5pPr>
            <a:lvl6pPr>
              <a:buNone/>
              <a:defRPr sz="2400" b="1">
                <a:solidFill>
                  <a:srgbClr val="19392E"/>
                </a:solidFill>
                <a:latin typeface="Arial" panose="020B0604020202020204"/>
                <a:ea typeface="Arial" panose="020B0604020202020204"/>
                <a:cs typeface="Arial" panose="020B0604020202020204"/>
              </a:defRPr>
            </a:lvl6pPr>
            <a:lvl7pPr>
              <a:buNone/>
              <a:defRPr sz="2400" b="1">
                <a:solidFill>
                  <a:srgbClr val="19392E"/>
                </a:solidFill>
                <a:latin typeface="Arial" panose="020B0604020202020204"/>
                <a:ea typeface="Arial" panose="020B0604020202020204"/>
                <a:cs typeface="Arial" panose="020B0604020202020204"/>
              </a:defRPr>
            </a:lvl7pPr>
            <a:lvl8pPr>
              <a:buNone/>
              <a:defRPr sz="2400" b="1">
                <a:solidFill>
                  <a:srgbClr val="19392E"/>
                </a:solidFill>
                <a:latin typeface="Arial" panose="020B0604020202020204"/>
                <a:ea typeface="Arial" panose="020B0604020202020204"/>
                <a:cs typeface="Arial" panose="020B0604020202020204"/>
              </a:defRPr>
            </a:lvl8pPr>
            <a:lvl9pPr>
              <a:buNone/>
              <a:defRPr sz="2400" b="1">
                <a:solidFill>
                  <a:srgbClr val="19392E"/>
                </a:solidFill>
                <a:latin typeface="Arial" panose="020B0604020202020204"/>
                <a:ea typeface="Arial" panose="020B0604020202020204"/>
                <a:cs typeface="Arial" panose="020B0604020202020204"/>
              </a:defRPr>
            </a:lvl9pPr>
          </a:lstStyle>
          <a:p>
            <a:pPr>
              <a:buNone/>
              <a:defRPr sz="2400" b="1">
                <a:solidFill>
                  <a:srgbClr val="19392E"/>
                </a:solidFill>
                <a:latin typeface="Arial" panose="020B0604020202020204"/>
                <a:ea typeface="Arial" panose="020B0604020202020204"/>
                <a:cs typeface="Arial" panose="020B0604020202020204"/>
              </a:defRPr>
            </a:pPr>
            <a:r>
              <a:rPr sz="2400" b="1">
                <a:solidFill>
                  <a:srgbClr val="19392E"/>
                </a:solidFill>
                <a:latin typeface="Arial" panose="020B0604020202020204"/>
                <a:ea typeface="Arial" panose="020B0604020202020204"/>
                <a:cs typeface="Arial" panose="020B0604020202020204"/>
              </a:rPr>
              <a:t>Inside buildings</a:t>
            </a:r>
            <a:endParaRPr sz="2400" b="1">
              <a:solidFill>
                <a:srgbClr val="19392E"/>
              </a:solidFill>
              <a:latin typeface="Arial" panose="020B0604020202020204"/>
              <a:ea typeface="Arial" panose="020B0604020202020204"/>
              <a:cs typeface="Arial" panose="020B0604020202020204"/>
            </a:endParaRPr>
          </a:p>
        </p:txBody>
      </p:sp>
      <p:sp>
        <p:nvSpPr>
          <p:cNvPr id="6" name="Poorly ventilated rooms depend on powered fans. Outages"/>
          <p:cNvSpPr>
            <a:spLocks noGrp="1"/>
          </p:cNvSpPr>
          <p:nvPr/>
        </p:nvSpPr>
        <p:spPr>
          <a:xfrm>
            <a:off x="628650" y="2381250"/>
            <a:ext cx="5095875" cy="1143000"/>
          </a:xfrm>
          <a:prstGeom prst="rect">
            <a:avLst/>
          </a:prstGeom>
          <a:noFill/>
          <a:ln w="0">
            <a:noFill/>
          </a:ln>
        </p:spPr>
        <p:txBody>
          <a:bodyPr wrap="square" lIns="0" tIns="0" rIns="0" bIns="0" anchor="t">
            <a:noAutofit/>
          </a:bodyPr>
          <a:lstStyle>
            <a:defPPr>
              <a:defRPr sz="2175" b="0">
                <a:solidFill>
                  <a:srgbClr val="162D23"/>
                </a:solidFill>
                <a:latin typeface="Arial" panose="020B0604020202020204"/>
                <a:ea typeface="Arial" panose="020B0604020202020204"/>
                <a:cs typeface="Arial" panose="020B0604020202020204"/>
              </a:defRPr>
            </a:defPPr>
            <a:lvl1pPr>
              <a:buNone/>
              <a:defRPr sz="2175" b="0">
                <a:solidFill>
                  <a:srgbClr val="162D23"/>
                </a:solidFill>
                <a:latin typeface="Arial" panose="020B0604020202020204"/>
                <a:ea typeface="Arial" panose="020B0604020202020204"/>
                <a:cs typeface="Arial" panose="020B0604020202020204"/>
              </a:defRPr>
            </a:lvl1pPr>
            <a:lvl2pPr>
              <a:buNone/>
              <a:defRPr sz="2175" b="0">
                <a:solidFill>
                  <a:srgbClr val="162D23"/>
                </a:solidFill>
                <a:latin typeface="Arial" panose="020B0604020202020204"/>
                <a:ea typeface="Arial" panose="020B0604020202020204"/>
                <a:cs typeface="Arial" panose="020B0604020202020204"/>
              </a:defRPr>
            </a:lvl2pPr>
            <a:lvl3pPr>
              <a:buNone/>
              <a:defRPr sz="2175" b="0">
                <a:solidFill>
                  <a:srgbClr val="162D23"/>
                </a:solidFill>
                <a:latin typeface="Arial" panose="020B0604020202020204"/>
                <a:ea typeface="Arial" panose="020B0604020202020204"/>
                <a:cs typeface="Arial" panose="020B0604020202020204"/>
              </a:defRPr>
            </a:lvl3pPr>
            <a:lvl4pPr>
              <a:buNone/>
              <a:defRPr sz="2175" b="0">
                <a:solidFill>
                  <a:srgbClr val="162D23"/>
                </a:solidFill>
                <a:latin typeface="Arial" panose="020B0604020202020204"/>
                <a:ea typeface="Arial" panose="020B0604020202020204"/>
                <a:cs typeface="Arial" panose="020B0604020202020204"/>
              </a:defRPr>
            </a:lvl4pPr>
            <a:lvl5pPr>
              <a:buNone/>
              <a:defRPr sz="2175" b="0">
                <a:solidFill>
                  <a:srgbClr val="162D23"/>
                </a:solidFill>
                <a:latin typeface="Arial" panose="020B0604020202020204"/>
                <a:ea typeface="Arial" panose="020B0604020202020204"/>
                <a:cs typeface="Arial" panose="020B0604020202020204"/>
              </a:defRPr>
            </a:lvl5pPr>
            <a:lvl6pPr>
              <a:buNone/>
              <a:defRPr sz="2175" b="0">
                <a:solidFill>
                  <a:srgbClr val="162D23"/>
                </a:solidFill>
                <a:latin typeface="Arial" panose="020B0604020202020204"/>
                <a:ea typeface="Arial" panose="020B0604020202020204"/>
                <a:cs typeface="Arial" panose="020B0604020202020204"/>
              </a:defRPr>
            </a:lvl6pPr>
            <a:lvl7pPr>
              <a:buNone/>
              <a:defRPr sz="2175" b="0">
                <a:solidFill>
                  <a:srgbClr val="162D23"/>
                </a:solidFill>
                <a:latin typeface="Arial" panose="020B0604020202020204"/>
                <a:ea typeface="Arial" panose="020B0604020202020204"/>
                <a:cs typeface="Arial" panose="020B0604020202020204"/>
              </a:defRPr>
            </a:lvl7pPr>
            <a:lvl8pPr>
              <a:buNone/>
              <a:defRPr sz="2175" b="0">
                <a:solidFill>
                  <a:srgbClr val="162D23"/>
                </a:solidFill>
                <a:latin typeface="Arial" panose="020B0604020202020204"/>
                <a:ea typeface="Arial" panose="020B0604020202020204"/>
                <a:cs typeface="Arial" panose="020B0604020202020204"/>
              </a:defRPr>
            </a:lvl8pPr>
            <a:lvl9pPr>
              <a:buNone/>
              <a:defRPr sz="2175" b="0">
                <a:solidFill>
                  <a:srgbClr val="162D23"/>
                </a:solidFill>
                <a:latin typeface="Arial" panose="020B0604020202020204"/>
                <a:ea typeface="Arial" panose="020B0604020202020204"/>
                <a:cs typeface="Arial" panose="020B0604020202020204"/>
              </a:defRPr>
            </a:lvl9pPr>
          </a:lstStyle>
          <a:p>
            <a:pPr>
              <a:buNone/>
              <a:defRPr sz="2175" b="0">
                <a:solidFill>
                  <a:srgbClr val="162D23"/>
                </a:solidFill>
                <a:latin typeface="Arial" panose="020B0604020202020204"/>
                <a:ea typeface="Arial" panose="020B0604020202020204"/>
                <a:cs typeface="Arial" panose="020B0604020202020204"/>
              </a:defRPr>
            </a:pPr>
            <a:r>
              <a:rPr sz="2175" b="0">
                <a:solidFill>
                  <a:srgbClr val="162D23"/>
                </a:solidFill>
                <a:latin typeface="Arial" panose="020B0604020202020204"/>
                <a:ea typeface="Arial" panose="020B0604020202020204"/>
                <a:cs typeface="Arial" panose="020B0604020202020204"/>
              </a:rPr>
              <a:t>Poorly ventilated rooms depend on powered fans. Outages can interrupt air exchange.</a:t>
            </a:r>
            <a:endParaRPr sz="2175" b="0">
              <a:solidFill>
                <a:srgbClr val="162D23"/>
              </a:solidFill>
              <a:latin typeface="Arial" panose="020B0604020202020204"/>
              <a:ea typeface="Arial" panose="020B0604020202020204"/>
              <a:cs typeface="Arial" panose="020B0604020202020204"/>
            </a:endParaRPr>
          </a:p>
        </p:txBody>
      </p:sp>
      <p:sp>
        <p:nvSpPr>
          <p:cNvPr id="7" name="In urban ponds"/>
          <p:cNvSpPr>
            <a:spLocks noGrp="1"/>
          </p:cNvSpPr>
          <p:nvPr/>
        </p:nvSpPr>
        <p:spPr>
          <a:xfrm>
            <a:off x="628650" y="3971925"/>
            <a:ext cx="5143500" cy="457200"/>
          </a:xfrm>
          <a:prstGeom prst="rect">
            <a:avLst/>
          </a:prstGeom>
          <a:noFill/>
          <a:ln w="0">
            <a:noFill/>
          </a:ln>
        </p:spPr>
        <p:txBody>
          <a:bodyPr wrap="square" lIns="0" tIns="0" rIns="0" bIns="0" anchor="t">
            <a:noAutofit/>
          </a:bodyPr>
          <a:lstStyle>
            <a:defPPr>
              <a:defRPr sz="2400" b="1">
                <a:solidFill>
                  <a:srgbClr val="19392E"/>
                </a:solidFill>
                <a:latin typeface="Arial" panose="020B0604020202020204"/>
                <a:ea typeface="Arial" panose="020B0604020202020204"/>
                <a:cs typeface="Arial" panose="020B0604020202020204"/>
              </a:defRPr>
            </a:defPPr>
            <a:lvl1pPr>
              <a:buNone/>
              <a:defRPr sz="2400" b="1">
                <a:solidFill>
                  <a:srgbClr val="19392E"/>
                </a:solidFill>
                <a:latin typeface="Arial" panose="020B0604020202020204"/>
                <a:ea typeface="Arial" panose="020B0604020202020204"/>
                <a:cs typeface="Arial" panose="020B0604020202020204"/>
              </a:defRPr>
            </a:lvl1pPr>
            <a:lvl2pPr>
              <a:buNone/>
              <a:defRPr sz="2400" b="1">
                <a:solidFill>
                  <a:srgbClr val="19392E"/>
                </a:solidFill>
                <a:latin typeface="Arial" panose="020B0604020202020204"/>
                <a:ea typeface="Arial" panose="020B0604020202020204"/>
                <a:cs typeface="Arial" panose="020B0604020202020204"/>
              </a:defRPr>
            </a:lvl2pPr>
            <a:lvl3pPr>
              <a:buNone/>
              <a:defRPr sz="2400" b="1">
                <a:solidFill>
                  <a:srgbClr val="19392E"/>
                </a:solidFill>
                <a:latin typeface="Arial" panose="020B0604020202020204"/>
                <a:ea typeface="Arial" panose="020B0604020202020204"/>
                <a:cs typeface="Arial" panose="020B0604020202020204"/>
              </a:defRPr>
            </a:lvl3pPr>
            <a:lvl4pPr>
              <a:buNone/>
              <a:defRPr sz="2400" b="1">
                <a:solidFill>
                  <a:srgbClr val="19392E"/>
                </a:solidFill>
                <a:latin typeface="Arial" panose="020B0604020202020204"/>
                <a:ea typeface="Arial" panose="020B0604020202020204"/>
                <a:cs typeface="Arial" panose="020B0604020202020204"/>
              </a:defRPr>
            </a:lvl4pPr>
            <a:lvl5pPr>
              <a:buNone/>
              <a:defRPr sz="2400" b="1">
                <a:solidFill>
                  <a:srgbClr val="19392E"/>
                </a:solidFill>
                <a:latin typeface="Arial" panose="020B0604020202020204"/>
                <a:ea typeface="Arial" panose="020B0604020202020204"/>
                <a:cs typeface="Arial" panose="020B0604020202020204"/>
              </a:defRPr>
            </a:lvl5pPr>
            <a:lvl6pPr>
              <a:buNone/>
              <a:defRPr sz="2400" b="1">
                <a:solidFill>
                  <a:srgbClr val="19392E"/>
                </a:solidFill>
                <a:latin typeface="Arial" panose="020B0604020202020204"/>
                <a:ea typeface="Arial" panose="020B0604020202020204"/>
                <a:cs typeface="Arial" panose="020B0604020202020204"/>
              </a:defRPr>
            </a:lvl6pPr>
            <a:lvl7pPr>
              <a:buNone/>
              <a:defRPr sz="2400" b="1">
                <a:solidFill>
                  <a:srgbClr val="19392E"/>
                </a:solidFill>
                <a:latin typeface="Arial" panose="020B0604020202020204"/>
                <a:ea typeface="Arial" panose="020B0604020202020204"/>
                <a:cs typeface="Arial" panose="020B0604020202020204"/>
              </a:defRPr>
            </a:lvl7pPr>
            <a:lvl8pPr>
              <a:buNone/>
              <a:defRPr sz="2400" b="1">
                <a:solidFill>
                  <a:srgbClr val="19392E"/>
                </a:solidFill>
                <a:latin typeface="Arial" panose="020B0604020202020204"/>
                <a:ea typeface="Arial" panose="020B0604020202020204"/>
                <a:cs typeface="Arial" panose="020B0604020202020204"/>
              </a:defRPr>
            </a:lvl8pPr>
            <a:lvl9pPr>
              <a:buNone/>
              <a:defRPr sz="2400" b="1">
                <a:solidFill>
                  <a:srgbClr val="19392E"/>
                </a:solidFill>
                <a:latin typeface="Arial" panose="020B0604020202020204"/>
                <a:ea typeface="Arial" panose="020B0604020202020204"/>
                <a:cs typeface="Arial" panose="020B0604020202020204"/>
              </a:defRPr>
            </a:lvl9pPr>
          </a:lstStyle>
          <a:p>
            <a:pPr>
              <a:buNone/>
              <a:defRPr sz="2400" b="1">
                <a:solidFill>
                  <a:srgbClr val="19392E"/>
                </a:solidFill>
                <a:latin typeface="Arial" panose="020B0604020202020204"/>
                <a:ea typeface="Arial" panose="020B0604020202020204"/>
                <a:cs typeface="Arial" panose="020B0604020202020204"/>
              </a:defRPr>
            </a:pPr>
            <a:r>
              <a:rPr sz="2400" b="1">
                <a:solidFill>
                  <a:srgbClr val="19392E"/>
                </a:solidFill>
                <a:latin typeface="Arial" panose="020B0604020202020204"/>
                <a:ea typeface="Arial" panose="020B0604020202020204"/>
                <a:cs typeface="Arial" panose="020B0604020202020204"/>
              </a:rPr>
              <a:t>In urban ponds</a:t>
            </a:r>
            <a:endParaRPr sz="2400" b="1">
              <a:solidFill>
                <a:srgbClr val="19392E"/>
              </a:solidFill>
              <a:latin typeface="Arial" panose="020B0604020202020204"/>
              <a:ea typeface="Arial" panose="020B0604020202020204"/>
              <a:cs typeface="Arial" panose="020B0604020202020204"/>
            </a:endParaRPr>
          </a:p>
        </p:txBody>
      </p:sp>
      <p:sp>
        <p:nvSpPr>
          <p:cNvPr id="8" name="Stagnant water needs mixing and oxygen exchange. Powere"/>
          <p:cNvSpPr>
            <a:spLocks noGrp="1"/>
          </p:cNvSpPr>
          <p:nvPr/>
        </p:nvSpPr>
        <p:spPr>
          <a:xfrm>
            <a:off x="628650" y="4562475"/>
            <a:ext cx="5095875" cy="1143000"/>
          </a:xfrm>
          <a:prstGeom prst="rect">
            <a:avLst/>
          </a:prstGeom>
          <a:noFill/>
          <a:ln w="0">
            <a:noFill/>
          </a:ln>
        </p:spPr>
        <p:txBody>
          <a:bodyPr wrap="square" lIns="0" tIns="0" rIns="0" bIns="0" anchor="t">
            <a:noAutofit/>
          </a:bodyPr>
          <a:lstStyle>
            <a:defPPr>
              <a:defRPr sz="2175" b="0">
                <a:solidFill>
                  <a:srgbClr val="162D23"/>
                </a:solidFill>
                <a:latin typeface="Arial" panose="020B0604020202020204"/>
                <a:ea typeface="Arial" panose="020B0604020202020204"/>
                <a:cs typeface="Arial" panose="020B0604020202020204"/>
              </a:defRPr>
            </a:defPPr>
            <a:lvl1pPr>
              <a:buNone/>
              <a:defRPr sz="2175" b="0">
                <a:solidFill>
                  <a:srgbClr val="162D23"/>
                </a:solidFill>
                <a:latin typeface="Arial" panose="020B0604020202020204"/>
                <a:ea typeface="Arial" panose="020B0604020202020204"/>
                <a:cs typeface="Arial" panose="020B0604020202020204"/>
              </a:defRPr>
            </a:lvl1pPr>
            <a:lvl2pPr>
              <a:buNone/>
              <a:defRPr sz="2175" b="0">
                <a:solidFill>
                  <a:srgbClr val="162D23"/>
                </a:solidFill>
                <a:latin typeface="Arial" panose="020B0604020202020204"/>
                <a:ea typeface="Arial" panose="020B0604020202020204"/>
                <a:cs typeface="Arial" panose="020B0604020202020204"/>
              </a:defRPr>
            </a:lvl2pPr>
            <a:lvl3pPr>
              <a:buNone/>
              <a:defRPr sz="2175" b="0">
                <a:solidFill>
                  <a:srgbClr val="162D23"/>
                </a:solidFill>
                <a:latin typeface="Arial" panose="020B0604020202020204"/>
                <a:ea typeface="Arial" panose="020B0604020202020204"/>
                <a:cs typeface="Arial" panose="020B0604020202020204"/>
              </a:defRPr>
            </a:lvl3pPr>
            <a:lvl4pPr>
              <a:buNone/>
              <a:defRPr sz="2175" b="0">
                <a:solidFill>
                  <a:srgbClr val="162D23"/>
                </a:solidFill>
                <a:latin typeface="Arial" panose="020B0604020202020204"/>
                <a:ea typeface="Arial" panose="020B0604020202020204"/>
                <a:cs typeface="Arial" panose="020B0604020202020204"/>
              </a:defRPr>
            </a:lvl4pPr>
            <a:lvl5pPr>
              <a:buNone/>
              <a:defRPr sz="2175" b="0">
                <a:solidFill>
                  <a:srgbClr val="162D23"/>
                </a:solidFill>
                <a:latin typeface="Arial" panose="020B0604020202020204"/>
                <a:ea typeface="Arial" panose="020B0604020202020204"/>
                <a:cs typeface="Arial" panose="020B0604020202020204"/>
              </a:defRPr>
            </a:lvl5pPr>
            <a:lvl6pPr>
              <a:buNone/>
              <a:defRPr sz="2175" b="0">
                <a:solidFill>
                  <a:srgbClr val="162D23"/>
                </a:solidFill>
                <a:latin typeface="Arial" panose="020B0604020202020204"/>
                <a:ea typeface="Arial" panose="020B0604020202020204"/>
                <a:cs typeface="Arial" panose="020B0604020202020204"/>
              </a:defRPr>
            </a:lvl6pPr>
            <a:lvl7pPr>
              <a:buNone/>
              <a:defRPr sz="2175" b="0">
                <a:solidFill>
                  <a:srgbClr val="162D23"/>
                </a:solidFill>
                <a:latin typeface="Arial" panose="020B0604020202020204"/>
                <a:ea typeface="Arial" panose="020B0604020202020204"/>
                <a:cs typeface="Arial" panose="020B0604020202020204"/>
              </a:defRPr>
            </a:lvl7pPr>
            <a:lvl8pPr>
              <a:buNone/>
              <a:defRPr sz="2175" b="0">
                <a:solidFill>
                  <a:srgbClr val="162D23"/>
                </a:solidFill>
                <a:latin typeface="Arial" panose="020B0604020202020204"/>
                <a:ea typeface="Arial" panose="020B0604020202020204"/>
                <a:cs typeface="Arial" panose="020B0604020202020204"/>
              </a:defRPr>
            </a:lvl8pPr>
            <a:lvl9pPr>
              <a:buNone/>
              <a:defRPr sz="2175" b="0">
                <a:solidFill>
                  <a:srgbClr val="162D23"/>
                </a:solidFill>
                <a:latin typeface="Arial" panose="020B0604020202020204"/>
                <a:ea typeface="Arial" panose="020B0604020202020204"/>
                <a:cs typeface="Arial" panose="020B0604020202020204"/>
              </a:defRPr>
            </a:lvl9pPr>
          </a:lstStyle>
          <a:p>
            <a:pPr>
              <a:buNone/>
              <a:defRPr sz="2175" b="0">
                <a:solidFill>
                  <a:srgbClr val="162D23"/>
                </a:solidFill>
                <a:latin typeface="Arial" panose="020B0604020202020204"/>
                <a:ea typeface="Arial" panose="020B0604020202020204"/>
                <a:cs typeface="Arial" panose="020B0604020202020204"/>
              </a:defRPr>
            </a:pPr>
            <a:r>
              <a:rPr sz="2175" b="0">
                <a:solidFill>
                  <a:srgbClr val="162D23"/>
                </a:solidFill>
                <a:latin typeface="Arial" panose="020B0604020202020204"/>
                <a:ea typeface="Arial" panose="020B0604020202020204"/>
                <a:cs typeface="Arial" panose="020B0604020202020204"/>
              </a:rPr>
              <a:t>Stagnant water needs mixing and oxygen exchange. Powered aeration adds an energy cost.</a:t>
            </a:r>
            <a:endParaRPr sz="2175" b="0">
              <a:solidFill>
                <a:srgbClr val="162D23"/>
              </a:solidFill>
              <a:latin typeface="Arial" panose="020B0604020202020204"/>
              <a:ea typeface="Arial" panose="020B0604020202020204"/>
              <a:cs typeface="Arial" panose="020B0604020202020204"/>
            </a:endParaRPr>
          </a:p>
        </p:txBody>
      </p:sp>
      <p:sp>
        <p:nvSpPr>
          <p:cNvPr id="10" name="02"/>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02</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he mechanical drive"/>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The mechanical drive</a:t>
            </a:r>
            <a:endParaRPr sz="3300" b="1">
              <a:solidFill>
                <a:srgbClr val="162D23"/>
              </a:solidFill>
              <a:latin typeface="Arial" panose="020B0604020202020204"/>
              <a:ea typeface="Arial" panose="020B0604020202020204"/>
              <a:cs typeface="Arial" panose="020B0604020202020204"/>
            </a:endParaRPr>
          </a:p>
        </p:txBody>
      </p:sp>
      <p:sp>
        <p:nvSpPr>
          <p:cNvPr id="4" name="01  Wind capture"/>
          <p:cNvSpPr>
            <a:spLocks noGrp="1"/>
          </p:cNvSpPr>
          <p:nvPr/>
        </p:nvSpPr>
        <p:spPr>
          <a:xfrm>
            <a:off x="619125" y="1800225"/>
            <a:ext cx="409575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01  Wind capture</a:t>
            </a:r>
            <a:endParaRPr sz="2250" b="1">
              <a:solidFill>
                <a:srgbClr val="19392E"/>
              </a:solidFill>
              <a:latin typeface="Arial" panose="020B0604020202020204"/>
              <a:ea typeface="Arial" panose="020B0604020202020204"/>
              <a:cs typeface="Arial" panose="020B0604020202020204"/>
            </a:endParaRPr>
          </a:p>
        </p:txBody>
      </p:sp>
      <p:sp>
        <p:nvSpPr>
          <p:cNvPr id="5" name="A spiral rotor converts wind into shaft rotation."/>
          <p:cNvSpPr>
            <a:spLocks noGrp="1"/>
          </p:cNvSpPr>
          <p:nvPr/>
        </p:nvSpPr>
        <p:spPr>
          <a:xfrm>
            <a:off x="619125" y="2314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spiral rotor converts wind into shaft rotation.</a:t>
            </a:r>
            <a:endParaRPr sz="2025" b="0">
              <a:solidFill>
                <a:srgbClr val="162D23"/>
              </a:solidFill>
              <a:latin typeface="Arial" panose="020B0604020202020204"/>
              <a:ea typeface="Arial" panose="020B0604020202020204"/>
              <a:cs typeface="Arial" panose="020B0604020202020204"/>
            </a:endParaRPr>
          </a:p>
        </p:txBody>
      </p:sp>
      <p:sp>
        <p:nvSpPr>
          <p:cNvPr id="6" name="02  Power transmission"/>
          <p:cNvSpPr>
            <a:spLocks noGrp="1"/>
          </p:cNvSpPr>
          <p:nvPr/>
        </p:nvSpPr>
        <p:spPr>
          <a:xfrm>
            <a:off x="619125" y="3324225"/>
            <a:ext cx="428625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02  Power transmission</a:t>
            </a:r>
            <a:endParaRPr sz="2250" b="1">
              <a:solidFill>
                <a:srgbClr val="19392E"/>
              </a:solidFill>
              <a:latin typeface="Arial" panose="020B0604020202020204"/>
              <a:ea typeface="Arial" panose="020B0604020202020204"/>
              <a:cs typeface="Arial" panose="020B0604020202020204"/>
            </a:endParaRPr>
          </a:p>
        </p:txBody>
      </p:sp>
      <p:sp>
        <p:nvSpPr>
          <p:cNvPr id="7" name="Shafts and bevel gears redirect rotation through 90°."/>
          <p:cNvSpPr>
            <a:spLocks noGrp="1"/>
          </p:cNvSpPr>
          <p:nvPr/>
        </p:nvSpPr>
        <p:spPr>
          <a:xfrm>
            <a:off x="619125" y="3838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Shafts and bevel gears redirect rotation through 90°.</a:t>
            </a:r>
            <a:endParaRPr sz="2025" b="0">
              <a:solidFill>
                <a:srgbClr val="162D23"/>
              </a:solidFill>
              <a:latin typeface="Arial" panose="020B0604020202020204"/>
              <a:ea typeface="Arial" panose="020B0604020202020204"/>
              <a:cs typeface="Arial" panose="020B0604020202020204"/>
            </a:endParaRPr>
          </a:p>
        </p:txBody>
      </p:sp>
      <p:sp>
        <p:nvSpPr>
          <p:cNvPr id="8" name="03  Useful motion"/>
          <p:cNvSpPr>
            <a:spLocks noGrp="1"/>
          </p:cNvSpPr>
          <p:nvPr/>
        </p:nvSpPr>
        <p:spPr>
          <a:xfrm>
            <a:off x="619125" y="4848225"/>
            <a:ext cx="4191000" cy="428625"/>
          </a:xfrm>
          <a:prstGeom prst="rect">
            <a:avLst/>
          </a:prstGeom>
          <a:noFill/>
          <a:ln w="0">
            <a:noFill/>
          </a:ln>
        </p:spPr>
        <p:txBody>
          <a:bodyPr wrap="square" lIns="0" tIns="0" rIns="0" bIns="0" anchor="t">
            <a:noAutofit/>
          </a:bodyPr>
          <a:lstStyle>
            <a:defPPr>
              <a:defRPr sz="2250" b="1">
                <a:solidFill>
                  <a:srgbClr val="19392E"/>
                </a:solidFill>
                <a:latin typeface="Arial" panose="020B0604020202020204"/>
                <a:ea typeface="Arial" panose="020B0604020202020204"/>
                <a:cs typeface="Arial" panose="020B0604020202020204"/>
              </a:defRPr>
            </a:defPPr>
            <a:lvl1pPr>
              <a:buNone/>
              <a:defRPr sz="2250" b="1">
                <a:solidFill>
                  <a:srgbClr val="19392E"/>
                </a:solidFill>
                <a:latin typeface="Arial" panose="020B0604020202020204"/>
                <a:ea typeface="Arial" panose="020B0604020202020204"/>
                <a:cs typeface="Arial" panose="020B0604020202020204"/>
              </a:defRPr>
            </a:lvl1pPr>
            <a:lvl2pPr>
              <a:buNone/>
              <a:defRPr sz="2250" b="1">
                <a:solidFill>
                  <a:srgbClr val="19392E"/>
                </a:solidFill>
                <a:latin typeface="Arial" panose="020B0604020202020204"/>
                <a:ea typeface="Arial" panose="020B0604020202020204"/>
                <a:cs typeface="Arial" panose="020B0604020202020204"/>
              </a:defRPr>
            </a:lvl2pPr>
            <a:lvl3pPr>
              <a:buNone/>
              <a:defRPr sz="2250" b="1">
                <a:solidFill>
                  <a:srgbClr val="19392E"/>
                </a:solidFill>
                <a:latin typeface="Arial" panose="020B0604020202020204"/>
                <a:ea typeface="Arial" panose="020B0604020202020204"/>
                <a:cs typeface="Arial" panose="020B0604020202020204"/>
              </a:defRPr>
            </a:lvl3pPr>
            <a:lvl4pPr>
              <a:buNone/>
              <a:defRPr sz="2250" b="1">
                <a:solidFill>
                  <a:srgbClr val="19392E"/>
                </a:solidFill>
                <a:latin typeface="Arial" panose="020B0604020202020204"/>
                <a:ea typeface="Arial" panose="020B0604020202020204"/>
                <a:cs typeface="Arial" panose="020B0604020202020204"/>
              </a:defRPr>
            </a:lvl4pPr>
            <a:lvl5pPr>
              <a:buNone/>
              <a:defRPr sz="2250" b="1">
                <a:solidFill>
                  <a:srgbClr val="19392E"/>
                </a:solidFill>
                <a:latin typeface="Arial" panose="020B0604020202020204"/>
                <a:ea typeface="Arial" panose="020B0604020202020204"/>
                <a:cs typeface="Arial" panose="020B0604020202020204"/>
              </a:defRPr>
            </a:lvl5pPr>
            <a:lvl6pPr>
              <a:buNone/>
              <a:defRPr sz="2250" b="1">
                <a:solidFill>
                  <a:srgbClr val="19392E"/>
                </a:solidFill>
                <a:latin typeface="Arial" panose="020B0604020202020204"/>
                <a:ea typeface="Arial" panose="020B0604020202020204"/>
                <a:cs typeface="Arial" panose="020B0604020202020204"/>
              </a:defRPr>
            </a:lvl6pPr>
            <a:lvl7pPr>
              <a:buNone/>
              <a:defRPr sz="2250" b="1">
                <a:solidFill>
                  <a:srgbClr val="19392E"/>
                </a:solidFill>
                <a:latin typeface="Arial" panose="020B0604020202020204"/>
                <a:ea typeface="Arial" panose="020B0604020202020204"/>
                <a:cs typeface="Arial" panose="020B0604020202020204"/>
              </a:defRPr>
            </a:lvl7pPr>
            <a:lvl8pPr>
              <a:buNone/>
              <a:defRPr sz="2250" b="1">
                <a:solidFill>
                  <a:srgbClr val="19392E"/>
                </a:solidFill>
                <a:latin typeface="Arial" panose="020B0604020202020204"/>
                <a:ea typeface="Arial" panose="020B0604020202020204"/>
                <a:cs typeface="Arial" panose="020B0604020202020204"/>
              </a:defRPr>
            </a:lvl8pPr>
            <a:lvl9pPr>
              <a:buNone/>
              <a:defRPr sz="2250" b="1">
                <a:solidFill>
                  <a:srgbClr val="19392E"/>
                </a:solidFill>
                <a:latin typeface="Arial" panose="020B0604020202020204"/>
                <a:ea typeface="Arial" panose="020B0604020202020204"/>
                <a:cs typeface="Arial" panose="020B0604020202020204"/>
              </a:defRPr>
            </a:lvl9pPr>
          </a:lstStyle>
          <a:p>
            <a:pPr>
              <a:buNone/>
              <a:defRPr sz="2250" b="1">
                <a:solidFill>
                  <a:srgbClr val="19392E"/>
                </a:solidFill>
                <a:latin typeface="Arial" panose="020B0604020202020204"/>
                <a:ea typeface="Arial" panose="020B0604020202020204"/>
                <a:cs typeface="Arial" panose="020B0604020202020204"/>
              </a:defRPr>
            </a:pPr>
            <a:r>
              <a:rPr sz="2250" b="1">
                <a:solidFill>
                  <a:srgbClr val="19392E"/>
                </a:solidFill>
                <a:latin typeface="Arial" panose="020B0604020202020204"/>
                <a:ea typeface="Arial" panose="020B0604020202020204"/>
                <a:cs typeface="Arial" panose="020B0604020202020204"/>
              </a:rPr>
              <a:t>03  Useful motion</a:t>
            </a:r>
            <a:endParaRPr sz="2250" b="1">
              <a:solidFill>
                <a:srgbClr val="19392E"/>
              </a:solidFill>
              <a:latin typeface="Arial" panose="020B0604020202020204"/>
              <a:ea typeface="Arial" panose="020B0604020202020204"/>
              <a:cs typeface="Arial" panose="020B0604020202020204"/>
            </a:endParaRPr>
          </a:p>
        </p:txBody>
      </p:sp>
      <p:sp>
        <p:nvSpPr>
          <p:cNvPr id="9" name="A fan moves air, or a paddle wheel mixes water."/>
          <p:cNvSpPr>
            <a:spLocks noGrp="1"/>
          </p:cNvSpPr>
          <p:nvPr/>
        </p:nvSpPr>
        <p:spPr>
          <a:xfrm>
            <a:off x="619125" y="5362575"/>
            <a:ext cx="3905250" cy="819150"/>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fan moves air, or a paddle wheel mixes water.</a:t>
            </a:r>
            <a:endParaRPr sz="2025" b="0">
              <a:solidFill>
                <a:srgbClr val="162D23"/>
              </a:solidFill>
              <a:latin typeface="Arial" panose="020B0604020202020204"/>
              <a:ea typeface="Arial" panose="020B0604020202020204"/>
              <a:cs typeface="Arial" panose="020B0604020202020204"/>
            </a:endParaRPr>
          </a:p>
        </p:txBody>
      </p:sp>
      <p:pic>
        <p:nvPicPr>
          <p:cNvPr id="10" name="Picture 9"/>
          <p:cNvPicPr>
            <a:picLocks noChangeAspect="1"/>
          </p:cNvPicPr>
          <p:nvPr/>
        </p:nvPicPr>
        <p:blipFill>
          <a:blip r:embed="rId2"/>
          <a:stretch>
            <a:fillRect/>
          </a:stretch>
        </p:blipFill>
        <p:spPr>
          <a:xfrm>
            <a:off x="4905375" y="1572641"/>
            <a:ext cx="6667500" cy="4522342"/>
          </a:xfrm>
          <a:prstGeom prst="rect">
            <a:avLst/>
          </a:prstGeom>
        </p:spPr>
      </p:pic>
      <p:sp>
        <p:nvSpPr>
          <p:cNvPr id="11" name="03"/>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03</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Two applications for the same concept"/>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Two applications for the same concept</a:t>
            </a:r>
            <a:endParaRPr sz="3300" b="1">
              <a:solidFill>
                <a:srgbClr val="162D23"/>
              </a:solidFill>
              <a:latin typeface="Arial" panose="020B0604020202020204"/>
              <a:ea typeface="Arial" panose="020B0604020202020204"/>
              <a:cs typeface="Arial" panose="020B0604020202020204"/>
            </a:endParaRPr>
          </a:p>
        </p:txBody>
      </p:sp>
      <p:sp>
        <p:nvSpPr>
          <p:cNvPr id="4" name="Building ventilation"/>
          <p:cNvSpPr>
            <a:spLocks noGrp="1"/>
          </p:cNvSpPr>
          <p:nvPr/>
        </p:nvSpPr>
        <p:spPr>
          <a:xfrm>
            <a:off x="619125" y="1600200"/>
            <a:ext cx="5238750" cy="419100"/>
          </a:xfrm>
          <a:prstGeom prst="rect">
            <a:avLst/>
          </a:prstGeom>
          <a:noFill/>
          <a:ln w="0">
            <a:noFill/>
          </a:ln>
        </p:spPr>
        <p:txBody>
          <a:bodyPr wrap="square" lIns="0" tIns="0" rIns="0" bIns="0" anchor="t">
            <a:noAutofit/>
          </a:bodyPr>
          <a:lstStyle>
            <a:defPPr>
              <a:defRPr sz="2325" b="1">
                <a:solidFill>
                  <a:srgbClr val="19392E"/>
                </a:solidFill>
                <a:latin typeface="Arial" panose="020B0604020202020204"/>
                <a:ea typeface="Arial" panose="020B0604020202020204"/>
                <a:cs typeface="Arial" panose="020B0604020202020204"/>
              </a:defRPr>
            </a:defPPr>
            <a:lvl1pPr>
              <a:buNone/>
              <a:defRPr sz="2325" b="1">
                <a:solidFill>
                  <a:srgbClr val="19392E"/>
                </a:solidFill>
                <a:latin typeface="Arial" panose="020B0604020202020204"/>
                <a:ea typeface="Arial" panose="020B0604020202020204"/>
                <a:cs typeface="Arial" panose="020B0604020202020204"/>
              </a:defRPr>
            </a:lvl1pPr>
            <a:lvl2pPr>
              <a:buNone/>
              <a:defRPr sz="2325" b="1">
                <a:solidFill>
                  <a:srgbClr val="19392E"/>
                </a:solidFill>
                <a:latin typeface="Arial" panose="020B0604020202020204"/>
                <a:ea typeface="Arial" panose="020B0604020202020204"/>
                <a:cs typeface="Arial" panose="020B0604020202020204"/>
              </a:defRPr>
            </a:lvl2pPr>
            <a:lvl3pPr>
              <a:buNone/>
              <a:defRPr sz="2325" b="1">
                <a:solidFill>
                  <a:srgbClr val="19392E"/>
                </a:solidFill>
                <a:latin typeface="Arial" panose="020B0604020202020204"/>
                <a:ea typeface="Arial" panose="020B0604020202020204"/>
                <a:cs typeface="Arial" panose="020B0604020202020204"/>
              </a:defRPr>
            </a:lvl3pPr>
            <a:lvl4pPr>
              <a:buNone/>
              <a:defRPr sz="2325" b="1">
                <a:solidFill>
                  <a:srgbClr val="19392E"/>
                </a:solidFill>
                <a:latin typeface="Arial" panose="020B0604020202020204"/>
                <a:ea typeface="Arial" panose="020B0604020202020204"/>
                <a:cs typeface="Arial" panose="020B0604020202020204"/>
              </a:defRPr>
            </a:lvl4pPr>
            <a:lvl5pPr>
              <a:buNone/>
              <a:defRPr sz="2325" b="1">
                <a:solidFill>
                  <a:srgbClr val="19392E"/>
                </a:solidFill>
                <a:latin typeface="Arial" panose="020B0604020202020204"/>
                <a:ea typeface="Arial" panose="020B0604020202020204"/>
                <a:cs typeface="Arial" panose="020B0604020202020204"/>
              </a:defRPr>
            </a:lvl5pPr>
            <a:lvl6pPr>
              <a:buNone/>
              <a:defRPr sz="2325" b="1">
                <a:solidFill>
                  <a:srgbClr val="19392E"/>
                </a:solidFill>
                <a:latin typeface="Arial" panose="020B0604020202020204"/>
                <a:ea typeface="Arial" panose="020B0604020202020204"/>
                <a:cs typeface="Arial" panose="020B0604020202020204"/>
              </a:defRPr>
            </a:lvl6pPr>
            <a:lvl7pPr>
              <a:buNone/>
              <a:defRPr sz="2325" b="1">
                <a:solidFill>
                  <a:srgbClr val="19392E"/>
                </a:solidFill>
                <a:latin typeface="Arial" panose="020B0604020202020204"/>
                <a:ea typeface="Arial" panose="020B0604020202020204"/>
                <a:cs typeface="Arial" panose="020B0604020202020204"/>
              </a:defRPr>
            </a:lvl7pPr>
            <a:lvl8pPr>
              <a:buNone/>
              <a:defRPr sz="2325" b="1">
                <a:solidFill>
                  <a:srgbClr val="19392E"/>
                </a:solidFill>
                <a:latin typeface="Arial" panose="020B0604020202020204"/>
                <a:ea typeface="Arial" panose="020B0604020202020204"/>
                <a:cs typeface="Arial" panose="020B0604020202020204"/>
              </a:defRPr>
            </a:lvl8pPr>
            <a:lvl9pPr>
              <a:buNone/>
              <a:defRPr sz="2325" b="1">
                <a:solidFill>
                  <a:srgbClr val="19392E"/>
                </a:solidFill>
                <a:latin typeface="Arial" panose="020B0604020202020204"/>
                <a:ea typeface="Arial" panose="020B0604020202020204"/>
                <a:cs typeface="Arial" panose="020B0604020202020204"/>
              </a:defRPr>
            </a:lvl9pPr>
          </a:lstStyle>
          <a:p>
            <a:pPr>
              <a:buNone/>
              <a:defRPr sz="2325" b="1">
                <a:solidFill>
                  <a:srgbClr val="19392E"/>
                </a:solidFill>
                <a:latin typeface="Arial" panose="020B0604020202020204"/>
                <a:ea typeface="Arial" panose="020B0604020202020204"/>
                <a:cs typeface="Arial" panose="020B0604020202020204"/>
              </a:defRPr>
            </a:pPr>
            <a:r>
              <a:rPr sz="2325" b="1">
                <a:solidFill>
                  <a:srgbClr val="19392E"/>
                </a:solidFill>
                <a:latin typeface="Arial" panose="020B0604020202020204"/>
                <a:ea typeface="Arial" panose="020B0604020202020204"/>
                <a:cs typeface="Arial" panose="020B0604020202020204"/>
              </a:rPr>
              <a:t>Building ventilation</a:t>
            </a:r>
            <a:endParaRPr sz="2325" b="1">
              <a:solidFill>
                <a:srgbClr val="19392E"/>
              </a:solidFill>
              <a:latin typeface="Arial" panose="020B0604020202020204"/>
              <a:ea typeface="Arial" panose="020B0604020202020204"/>
              <a:cs typeface="Arial" panose="020B0604020202020204"/>
            </a:endParaRPr>
          </a:p>
        </p:txBody>
      </p:sp>
      <p:sp>
        <p:nvSpPr>
          <p:cNvPr id="5" name="Supplementary pond aeration"/>
          <p:cNvSpPr>
            <a:spLocks noGrp="1"/>
          </p:cNvSpPr>
          <p:nvPr/>
        </p:nvSpPr>
        <p:spPr>
          <a:xfrm>
            <a:off x="6334125" y="1600200"/>
            <a:ext cx="5238750" cy="419100"/>
          </a:xfrm>
          <a:prstGeom prst="rect">
            <a:avLst/>
          </a:prstGeom>
          <a:noFill/>
          <a:ln w="0">
            <a:noFill/>
          </a:ln>
        </p:spPr>
        <p:txBody>
          <a:bodyPr wrap="square" lIns="0" tIns="0" rIns="0" bIns="0" anchor="t">
            <a:noAutofit/>
          </a:bodyPr>
          <a:lstStyle>
            <a:defPPr>
              <a:defRPr sz="2325" b="1">
                <a:solidFill>
                  <a:srgbClr val="19392E"/>
                </a:solidFill>
                <a:latin typeface="Arial" panose="020B0604020202020204"/>
                <a:ea typeface="Arial" panose="020B0604020202020204"/>
                <a:cs typeface="Arial" panose="020B0604020202020204"/>
              </a:defRPr>
            </a:defPPr>
            <a:lvl1pPr>
              <a:buNone/>
              <a:defRPr sz="2325" b="1">
                <a:solidFill>
                  <a:srgbClr val="19392E"/>
                </a:solidFill>
                <a:latin typeface="Arial" panose="020B0604020202020204"/>
                <a:ea typeface="Arial" panose="020B0604020202020204"/>
                <a:cs typeface="Arial" panose="020B0604020202020204"/>
              </a:defRPr>
            </a:lvl1pPr>
            <a:lvl2pPr>
              <a:buNone/>
              <a:defRPr sz="2325" b="1">
                <a:solidFill>
                  <a:srgbClr val="19392E"/>
                </a:solidFill>
                <a:latin typeface="Arial" panose="020B0604020202020204"/>
                <a:ea typeface="Arial" panose="020B0604020202020204"/>
                <a:cs typeface="Arial" panose="020B0604020202020204"/>
              </a:defRPr>
            </a:lvl2pPr>
            <a:lvl3pPr>
              <a:buNone/>
              <a:defRPr sz="2325" b="1">
                <a:solidFill>
                  <a:srgbClr val="19392E"/>
                </a:solidFill>
                <a:latin typeface="Arial" panose="020B0604020202020204"/>
                <a:ea typeface="Arial" panose="020B0604020202020204"/>
                <a:cs typeface="Arial" panose="020B0604020202020204"/>
              </a:defRPr>
            </a:lvl3pPr>
            <a:lvl4pPr>
              <a:buNone/>
              <a:defRPr sz="2325" b="1">
                <a:solidFill>
                  <a:srgbClr val="19392E"/>
                </a:solidFill>
                <a:latin typeface="Arial" panose="020B0604020202020204"/>
                <a:ea typeface="Arial" panose="020B0604020202020204"/>
                <a:cs typeface="Arial" panose="020B0604020202020204"/>
              </a:defRPr>
            </a:lvl4pPr>
            <a:lvl5pPr>
              <a:buNone/>
              <a:defRPr sz="2325" b="1">
                <a:solidFill>
                  <a:srgbClr val="19392E"/>
                </a:solidFill>
                <a:latin typeface="Arial" panose="020B0604020202020204"/>
                <a:ea typeface="Arial" panose="020B0604020202020204"/>
                <a:cs typeface="Arial" panose="020B0604020202020204"/>
              </a:defRPr>
            </a:lvl5pPr>
            <a:lvl6pPr>
              <a:buNone/>
              <a:defRPr sz="2325" b="1">
                <a:solidFill>
                  <a:srgbClr val="19392E"/>
                </a:solidFill>
                <a:latin typeface="Arial" panose="020B0604020202020204"/>
                <a:ea typeface="Arial" panose="020B0604020202020204"/>
                <a:cs typeface="Arial" panose="020B0604020202020204"/>
              </a:defRPr>
            </a:lvl6pPr>
            <a:lvl7pPr>
              <a:buNone/>
              <a:defRPr sz="2325" b="1">
                <a:solidFill>
                  <a:srgbClr val="19392E"/>
                </a:solidFill>
                <a:latin typeface="Arial" panose="020B0604020202020204"/>
                <a:ea typeface="Arial" panose="020B0604020202020204"/>
                <a:cs typeface="Arial" panose="020B0604020202020204"/>
              </a:defRPr>
            </a:lvl7pPr>
            <a:lvl8pPr>
              <a:buNone/>
              <a:defRPr sz="2325" b="1">
                <a:solidFill>
                  <a:srgbClr val="19392E"/>
                </a:solidFill>
                <a:latin typeface="Arial" panose="020B0604020202020204"/>
                <a:ea typeface="Arial" panose="020B0604020202020204"/>
                <a:cs typeface="Arial" panose="020B0604020202020204"/>
              </a:defRPr>
            </a:lvl8pPr>
            <a:lvl9pPr>
              <a:buNone/>
              <a:defRPr sz="2325" b="1">
                <a:solidFill>
                  <a:srgbClr val="19392E"/>
                </a:solidFill>
                <a:latin typeface="Arial" panose="020B0604020202020204"/>
                <a:ea typeface="Arial" panose="020B0604020202020204"/>
                <a:cs typeface="Arial" panose="020B0604020202020204"/>
              </a:defRPr>
            </a:lvl9pPr>
          </a:lstStyle>
          <a:p>
            <a:pPr>
              <a:buNone/>
              <a:defRPr sz="2325" b="1">
                <a:solidFill>
                  <a:srgbClr val="19392E"/>
                </a:solidFill>
                <a:latin typeface="Arial" panose="020B0604020202020204"/>
                <a:ea typeface="Arial" panose="020B0604020202020204"/>
                <a:cs typeface="Arial" panose="020B0604020202020204"/>
              </a:defRPr>
            </a:pPr>
            <a:r>
              <a:rPr sz="2325" b="1">
                <a:solidFill>
                  <a:srgbClr val="19392E"/>
                </a:solidFill>
                <a:latin typeface="Arial" panose="020B0604020202020204"/>
                <a:ea typeface="Arial" panose="020B0604020202020204"/>
                <a:cs typeface="Arial" panose="020B0604020202020204"/>
              </a:rPr>
              <a:t>Supplementary pond aeration</a:t>
            </a:r>
            <a:endParaRPr sz="2325" b="1">
              <a:solidFill>
                <a:srgbClr val="19392E"/>
              </a:solidFill>
              <a:latin typeface="Arial" panose="020B0604020202020204"/>
              <a:ea typeface="Arial" panose="020B0604020202020204"/>
              <a:cs typeface="Arial" panose="020B0604020202020204"/>
            </a:endParaRPr>
          </a:p>
        </p:txBody>
      </p:sp>
      <p:pic>
        <p:nvPicPr>
          <p:cNvPr id="6" name="Picture 5"/>
          <p:cNvPicPr>
            <a:picLocks noChangeAspect="1"/>
          </p:cNvPicPr>
          <p:nvPr/>
        </p:nvPicPr>
        <p:blipFill>
          <a:blip r:embed="rId2"/>
          <a:stretch>
            <a:fillRect/>
          </a:stretch>
        </p:blipFill>
        <p:spPr>
          <a:xfrm>
            <a:off x="715561" y="2143125"/>
            <a:ext cx="5045878" cy="2809875"/>
          </a:xfrm>
          <a:prstGeom prst="rect">
            <a:avLst/>
          </a:prstGeom>
        </p:spPr>
      </p:pic>
      <p:pic>
        <p:nvPicPr>
          <p:cNvPr id="7" name="Picture 6"/>
          <p:cNvPicPr>
            <a:picLocks noChangeAspect="1"/>
          </p:cNvPicPr>
          <p:nvPr/>
        </p:nvPicPr>
        <p:blipFill>
          <a:blip r:embed="rId3"/>
          <a:stretch>
            <a:fillRect/>
          </a:stretch>
        </p:blipFill>
        <p:spPr>
          <a:xfrm>
            <a:off x="6329721" y="2143125"/>
            <a:ext cx="5247559" cy="2809875"/>
          </a:xfrm>
          <a:prstGeom prst="rect">
            <a:avLst/>
          </a:prstGeom>
        </p:spPr>
      </p:pic>
      <p:sp>
        <p:nvSpPr>
          <p:cNvPr id="8" name="A rooftop rotor drives an exhaust fan. Fresh air enters"/>
          <p:cNvSpPr>
            <a:spLocks noGrp="1"/>
          </p:cNvSpPr>
          <p:nvPr/>
        </p:nvSpPr>
        <p:spPr>
          <a:xfrm>
            <a:off x="619125" y="5076825"/>
            <a:ext cx="5095875" cy="866775"/>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rooftop rotor drives an exhaust fan. Fresh air enters through a planned intake.</a:t>
            </a:r>
            <a:endParaRPr sz="2025" b="0">
              <a:solidFill>
                <a:srgbClr val="162D23"/>
              </a:solidFill>
              <a:latin typeface="Arial" panose="020B0604020202020204"/>
              <a:ea typeface="Arial" panose="020B0604020202020204"/>
              <a:cs typeface="Arial" panose="020B0604020202020204"/>
            </a:endParaRPr>
          </a:p>
        </p:txBody>
      </p:sp>
      <p:sp>
        <p:nvSpPr>
          <p:cNvPr id="9" name="A wind-driven paddle disturbs the surface to promote ai"/>
          <p:cNvSpPr>
            <a:spLocks noGrp="1"/>
          </p:cNvSpPr>
          <p:nvPr/>
        </p:nvSpPr>
        <p:spPr>
          <a:xfrm>
            <a:off x="6334125" y="5076825"/>
            <a:ext cx="5095875" cy="866775"/>
          </a:xfrm>
          <a:prstGeom prst="rect">
            <a:avLst/>
          </a:prstGeom>
          <a:noFill/>
          <a:ln w="0">
            <a:noFill/>
          </a:ln>
        </p:spPr>
        <p:txBody>
          <a:bodyPr wrap="square" lIns="0" tIns="0" rIns="0" bIns="0" anchor="t">
            <a:noAutofit/>
          </a:bodyPr>
          <a:lstStyle>
            <a:defPPr>
              <a:defRPr sz="2025" b="0">
                <a:solidFill>
                  <a:srgbClr val="162D23"/>
                </a:solidFill>
                <a:latin typeface="Arial" panose="020B0604020202020204"/>
                <a:ea typeface="Arial" panose="020B0604020202020204"/>
                <a:cs typeface="Arial" panose="020B0604020202020204"/>
              </a:defRPr>
            </a:defPPr>
            <a:lvl1pPr>
              <a:buNone/>
              <a:defRPr sz="2025" b="0">
                <a:solidFill>
                  <a:srgbClr val="162D23"/>
                </a:solidFill>
                <a:latin typeface="Arial" panose="020B0604020202020204"/>
                <a:ea typeface="Arial" panose="020B0604020202020204"/>
                <a:cs typeface="Arial" panose="020B0604020202020204"/>
              </a:defRPr>
            </a:lvl1pPr>
            <a:lvl2pPr>
              <a:buNone/>
              <a:defRPr sz="2025" b="0">
                <a:solidFill>
                  <a:srgbClr val="162D23"/>
                </a:solidFill>
                <a:latin typeface="Arial" panose="020B0604020202020204"/>
                <a:ea typeface="Arial" panose="020B0604020202020204"/>
                <a:cs typeface="Arial" panose="020B0604020202020204"/>
              </a:defRPr>
            </a:lvl2pPr>
            <a:lvl3pPr>
              <a:buNone/>
              <a:defRPr sz="2025" b="0">
                <a:solidFill>
                  <a:srgbClr val="162D23"/>
                </a:solidFill>
                <a:latin typeface="Arial" panose="020B0604020202020204"/>
                <a:ea typeface="Arial" panose="020B0604020202020204"/>
                <a:cs typeface="Arial" panose="020B0604020202020204"/>
              </a:defRPr>
            </a:lvl3pPr>
            <a:lvl4pPr>
              <a:buNone/>
              <a:defRPr sz="2025" b="0">
                <a:solidFill>
                  <a:srgbClr val="162D23"/>
                </a:solidFill>
                <a:latin typeface="Arial" panose="020B0604020202020204"/>
                <a:ea typeface="Arial" panose="020B0604020202020204"/>
                <a:cs typeface="Arial" panose="020B0604020202020204"/>
              </a:defRPr>
            </a:lvl4pPr>
            <a:lvl5pPr>
              <a:buNone/>
              <a:defRPr sz="2025" b="0">
                <a:solidFill>
                  <a:srgbClr val="162D23"/>
                </a:solidFill>
                <a:latin typeface="Arial" panose="020B0604020202020204"/>
                <a:ea typeface="Arial" panose="020B0604020202020204"/>
                <a:cs typeface="Arial" panose="020B0604020202020204"/>
              </a:defRPr>
            </a:lvl5pPr>
            <a:lvl6pPr>
              <a:buNone/>
              <a:defRPr sz="2025" b="0">
                <a:solidFill>
                  <a:srgbClr val="162D23"/>
                </a:solidFill>
                <a:latin typeface="Arial" panose="020B0604020202020204"/>
                <a:ea typeface="Arial" panose="020B0604020202020204"/>
                <a:cs typeface="Arial" panose="020B0604020202020204"/>
              </a:defRPr>
            </a:lvl6pPr>
            <a:lvl7pPr>
              <a:buNone/>
              <a:defRPr sz="2025" b="0">
                <a:solidFill>
                  <a:srgbClr val="162D23"/>
                </a:solidFill>
                <a:latin typeface="Arial" panose="020B0604020202020204"/>
                <a:ea typeface="Arial" panose="020B0604020202020204"/>
                <a:cs typeface="Arial" panose="020B0604020202020204"/>
              </a:defRPr>
            </a:lvl7pPr>
            <a:lvl8pPr>
              <a:buNone/>
              <a:defRPr sz="2025" b="0">
                <a:solidFill>
                  <a:srgbClr val="162D23"/>
                </a:solidFill>
                <a:latin typeface="Arial" panose="020B0604020202020204"/>
                <a:ea typeface="Arial" panose="020B0604020202020204"/>
                <a:cs typeface="Arial" panose="020B0604020202020204"/>
              </a:defRPr>
            </a:lvl8pPr>
            <a:lvl9pPr>
              <a:buNone/>
              <a:defRPr sz="2025" b="0">
                <a:solidFill>
                  <a:srgbClr val="162D23"/>
                </a:solidFill>
                <a:latin typeface="Arial" panose="020B0604020202020204"/>
                <a:ea typeface="Arial" panose="020B0604020202020204"/>
                <a:cs typeface="Arial" panose="020B0604020202020204"/>
              </a:defRPr>
            </a:lvl9pPr>
          </a:lstStyle>
          <a:p>
            <a:pPr>
              <a:buNone/>
              <a:defRPr sz="2025" b="0">
                <a:solidFill>
                  <a:srgbClr val="162D23"/>
                </a:solidFill>
                <a:latin typeface="Arial" panose="020B0604020202020204"/>
                <a:ea typeface="Arial" panose="020B0604020202020204"/>
                <a:cs typeface="Arial" panose="020B0604020202020204"/>
              </a:defRPr>
            </a:pPr>
            <a:r>
              <a:rPr sz="2025" b="0">
                <a:solidFill>
                  <a:srgbClr val="162D23"/>
                </a:solidFill>
                <a:latin typeface="Arial" panose="020B0604020202020204"/>
                <a:ea typeface="Arial" panose="020B0604020202020204"/>
                <a:cs typeface="Arial" panose="020B0604020202020204"/>
              </a:rPr>
              <a:t>A wind-driven paddle disturbs the surface to promote air–water exchange.</a:t>
            </a:r>
            <a:endParaRPr sz="2025" b="0">
              <a:solidFill>
                <a:srgbClr val="162D23"/>
              </a:solidFill>
              <a:latin typeface="Arial" panose="020B0604020202020204"/>
              <a:ea typeface="Arial" panose="020B0604020202020204"/>
              <a:cs typeface="Arial" panose="020B0604020202020204"/>
            </a:endParaRPr>
          </a:p>
        </p:txBody>
      </p:sp>
      <p:sp>
        <p:nvSpPr>
          <p:cNvPr id="10" name="Both applications depend on available wind. Performance"/>
          <p:cNvSpPr>
            <a:spLocks noGrp="1"/>
          </p:cNvSpPr>
          <p:nvPr/>
        </p:nvSpPr>
        <p:spPr>
          <a:xfrm>
            <a:off x="619125" y="5810250"/>
            <a:ext cx="10191750" cy="266700"/>
          </a:xfrm>
          <a:prstGeom prst="rect">
            <a:avLst/>
          </a:prstGeom>
          <a:noFill/>
          <a:ln w="0">
            <a:noFill/>
          </a:ln>
        </p:spPr>
        <p:txBody>
          <a:bodyPr wrap="square" lIns="0" tIns="0" rIns="0" bIns="0" anchor="t">
            <a:noAutofit/>
          </a:bodyPr>
          <a:lstStyle>
            <a:defPPr>
              <a:defRPr sz="1350" b="0">
                <a:solidFill>
                  <a:srgbClr val="53645A"/>
                </a:solidFill>
                <a:latin typeface="Arial" panose="020B0604020202020204"/>
                <a:ea typeface="Arial" panose="020B0604020202020204"/>
                <a:cs typeface="Arial" panose="020B0604020202020204"/>
              </a:defRPr>
            </a:defPPr>
            <a:lvl1pPr>
              <a:buNone/>
              <a:defRPr sz="1350" b="0">
                <a:solidFill>
                  <a:srgbClr val="53645A"/>
                </a:solidFill>
                <a:latin typeface="Arial" panose="020B0604020202020204"/>
                <a:ea typeface="Arial" panose="020B0604020202020204"/>
                <a:cs typeface="Arial" panose="020B0604020202020204"/>
              </a:defRPr>
            </a:lvl1pPr>
            <a:lvl2pPr>
              <a:buNone/>
              <a:defRPr sz="1350" b="0">
                <a:solidFill>
                  <a:srgbClr val="53645A"/>
                </a:solidFill>
                <a:latin typeface="Arial" panose="020B0604020202020204"/>
                <a:ea typeface="Arial" panose="020B0604020202020204"/>
                <a:cs typeface="Arial" panose="020B0604020202020204"/>
              </a:defRPr>
            </a:lvl2pPr>
            <a:lvl3pPr>
              <a:buNone/>
              <a:defRPr sz="1350" b="0">
                <a:solidFill>
                  <a:srgbClr val="53645A"/>
                </a:solidFill>
                <a:latin typeface="Arial" panose="020B0604020202020204"/>
                <a:ea typeface="Arial" panose="020B0604020202020204"/>
                <a:cs typeface="Arial" panose="020B0604020202020204"/>
              </a:defRPr>
            </a:lvl3pPr>
            <a:lvl4pPr>
              <a:buNone/>
              <a:defRPr sz="1350" b="0">
                <a:solidFill>
                  <a:srgbClr val="53645A"/>
                </a:solidFill>
                <a:latin typeface="Arial" panose="020B0604020202020204"/>
                <a:ea typeface="Arial" panose="020B0604020202020204"/>
                <a:cs typeface="Arial" panose="020B0604020202020204"/>
              </a:defRPr>
            </a:lvl4pPr>
            <a:lvl5pPr>
              <a:buNone/>
              <a:defRPr sz="1350" b="0">
                <a:solidFill>
                  <a:srgbClr val="53645A"/>
                </a:solidFill>
                <a:latin typeface="Arial" panose="020B0604020202020204"/>
                <a:ea typeface="Arial" panose="020B0604020202020204"/>
                <a:cs typeface="Arial" panose="020B0604020202020204"/>
              </a:defRPr>
            </a:lvl5pPr>
            <a:lvl6pPr>
              <a:buNone/>
              <a:defRPr sz="1350" b="0">
                <a:solidFill>
                  <a:srgbClr val="53645A"/>
                </a:solidFill>
                <a:latin typeface="Arial" panose="020B0604020202020204"/>
                <a:ea typeface="Arial" panose="020B0604020202020204"/>
                <a:cs typeface="Arial" panose="020B0604020202020204"/>
              </a:defRPr>
            </a:lvl6pPr>
            <a:lvl7pPr>
              <a:buNone/>
              <a:defRPr sz="1350" b="0">
                <a:solidFill>
                  <a:srgbClr val="53645A"/>
                </a:solidFill>
                <a:latin typeface="Arial" panose="020B0604020202020204"/>
                <a:ea typeface="Arial" panose="020B0604020202020204"/>
                <a:cs typeface="Arial" panose="020B0604020202020204"/>
              </a:defRPr>
            </a:lvl7pPr>
            <a:lvl8pPr>
              <a:buNone/>
              <a:defRPr sz="1350" b="0">
                <a:solidFill>
                  <a:srgbClr val="53645A"/>
                </a:solidFill>
                <a:latin typeface="Arial" panose="020B0604020202020204"/>
                <a:ea typeface="Arial" panose="020B0604020202020204"/>
                <a:cs typeface="Arial" panose="020B0604020202020204"/>
              </a:defRPr>
            </a:lvl8pPr>
            <a:lvl9pPr>
              <a:buNone/>
              <a:defRPr sz="1350" b="0">
                <a:solidFill>
                  <a:srgbClr val="53645A"/>
                </a:solidFill>
                <a:latin typeface="Arial" panose="020B0604020202020204"/>
                <a:ea typeface="Arial" panose="020B0604020202020204"/>
                <a:cs typeface="Arial" panose="020B0604020202020204"/>
              </a:defRPr>
            </a:lvl9pPr>
          </a:lstStyle>
          <a:p>
            <a:pPr>
              <a:buNone/>
              <a:defRPr sz="1350" b="0">
                <a:solidFill>
                  <a:srgbClr val="53645A"/>
                </a:solidFill>
                <a:latin typeface="Arial" panose="020B0604020202020204"/>
                <a:ea typeface="Arial" panose="020B0604020202020204"/>
                <a:cs typeface="Arial" panose="020B0604020202020204"/>
              </a:defRPr>
            </a:pPr>
            <a:endParaRPr sz="1350" b="0">
              <a:solidFill>
                <a:srgbClr val="53645A"/>
              </a:solidFill>
              <a:latin typeface="Arial" panose="020B0604020202020204"/>
              <a:ea typeface="Arial" panose="020B0604020202020204"/>
              <a:cs typeface="Arial" panose="020B0604020202020204"/>
            </a:endParaRPr>
          </a:p>
        </p:txBody>
      </p:sp>
      <p:sp>
        <p:nvSpPr>
          <p:cNvPr id="11" name="04"/>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04</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01713"/>
        </a:solidFill>
        <a:effectLst/>
      </p:bgPr>
    </p:bg>
    <p:spTree>
      <p:nvGrpSpPr>
        <p:cNvPr id="1" name=""/>
        <p:cNvGrpSpPr/>
        <p:nvPr/>
      </p:nvGrpSpPr>
      <p:grpSpPr/>
      <p:pic>
        <p:nvPicPr>
          <p:cNvPr id="3" name="Picture 2"/>
          <p:cNvPicPr>
            <a:picLocks noChangeAspect="1"/>
          </p:cNvPicPr>
          <p:nvPr/>
        </p:nvPicPr>
        <p:blipFill>
          <a:blip r:embed="rId1"/>
          <a:srcRect t="9655" b="9655"/>
          <a:stretch>
            <a:fillRect/>
          </a:stretch>
        </p:blipFill>
        <p:spPr>
          <a:xfrm>
            <a:off x="0" y="-3810"/>
            <a:ext cx="12229465" cy="68897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384810" y="-99695"/>
            <a:ext cx="12192000" cy="6858000"/>
          </a:xfrm>
          <a:prstGeom prst="rect">
            <a:avLst/>
          </a:prstGeom>
        </p:spPr>
      </p:pic>
      <p:sp>
        <p:nvSpPr>
          <p:cNvPr id="3" name="Estimated mechanical component cost"/>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Estimated mechanical component cost</a:t>
            </a:r>
            <a:endParaRPr sz="3300" b="1">
              <a:solidFill>
                <a:srgbClr val="162D23"/>
              </a:solidFill>
              <a:latin typeface="Arial" panose="020B0604020202020204"/>
              <a:ea typeface="Arial" panose="020B0604020202020204"/>
              <a:cs typeface="Arial" panose="020B0604020202020204"/>
            </a:endParaRPr>
          </a:p>
        </p:txBody>
      </p:sp>
      <p:sp>
        <p:nvSpPr>
          <p:cNvPr id="4" name="Ventilation"/>
          <p:cNvSpPr>
            <a:spLocks noGrp="1"/>
          </p:cNvSpPr>
          <p:nvPr/>
        </p:nvSpPr>
        <p:spPr>
          <a:xfrm>
            <a:off x="628650" y="1495425"/>
            <a:ext cx="4286250" cy="333375"/>
          </a:xfrm>
          <a:prstGeom prst="rect">
            <a:avLst/>
          </a:prstGeom>
          <a:noFill/>
          <a:ln w="0">
            <a:noFill/>
          </a:ln>
        </p:spPr>
        <p:txBody>
          <a:bodyPr wrap="square" lIns="0" tIns="0" rIns="0" bIns="0" anchor="t">
            <a:noAutofit/>
          </a:bodyPr>
          <a:lstStyle>
            <a:defPPr>
              <a:defRPr sz="1875" b="0">
                <a:solidFill>
                  <a:srgbClr val="53645A"/>
                </a:solidFill>
                <a:latin typeface="Arial" panose="020B0604020202020204"/>
                <a:ea typeface="Arial" panose="020B0604020202020204"/>
                <a:cs typeface="Arial" panose="020B0604020202020204"/>
              </a:defRPr>
            </a:defPPr>
            <a:lvl1pPr>
              <a:buNone/>
              <a:defRPr sz="1875" b="0">
                <a:solidFill>
                  <a:srgbClr val="53645A"/>
                </a:solidFill>
                <a:latin typeface="Arial" panose="020B0604020202020204"/>
                <a:ea typeface="Arial" panose="020B0604020202020204"/>
                <a:cs typeface="Arial" panose="020B0604020202020204"/>
              </a:defRPr>
            </a:lvl1pPr>
            <a:lvl2pPr>
              <a:buNone/>
              <a:defRPr sz="1875" b="0">
                <a:solidFill>
                  <a:srgbClr val="53645A"/>
                </a:solidFill>
                <a:latin typeface="Arial" panose="020B0604020202020204"/>
                <a:ea typeface="Arial" panose="020B0604020202020204"/>
                <a:cs typeface="Arial" panose="020B0604020202020204"/>
              </a:defRPr>
            </a:lvl2pPr>
            <a:lvl3pPr>
              <a:buNone/>
              <a:defRPr sz="1875" b="0">
                <a:solidFill>
                  <a:srgbClr val="53645A"/>
                </a:solidFill>
                <a:latin typeface="Arial" panose="020B0604020202020204"/>
                <a:ea typeface="Arial" panose="020B0604020202020204"/>
                <a:cs typeface="Arial" panose="020B0604020202020204"/>
              </a:defRPr>
            </a:lvl3pPr>
            <a:lvl4pPr>
              <a:buNone/>
              <a:defRPr sz="1875" b="0">
                <a:solidFill>
                  <a:srgbClr val="53645A"/>
                </a:solidFill>
                <a:latin typeface="Arial" panose="020B0604020202020204"/>
                <a:ea typeface="Arial" panose="020B0604020202020204"/>
                <a:cs typeface="Arial" panose="020B0604020202020204"/>
              </a:defRPr>
            </a:lvl4pPr>
            <a:lvl5pPr>
              <a:buNone/>
              <a:defRPr sz="1875" b="0">
                <a:solidFill>
                  <a:srgbClr val="53645A"/>
                </a:solidFill>
                <a:latin typeface="Arial" panose="020B0604020202020204"/>
                <a:ea typeface="Arial" panose="020B0604020202020204"/>
                <a:cs typeface="Arial" panose="020B0604020202020204"/>
              </a:defRPr>
            </a:lvl5pPr>
            <a:lvl6pPr>
              <a:buNone/>
              <a:defRPr sz="1875" b="0">
                <a:solidFill>
                  <a:srgbClr val="53645A"/>
                </a:solidFill>
                <a:latin typeface="Arial" panose="020B0604020202020204"/>
                <a:ea typeface="Arial" panose="020B0604020202020204"/>
                <a:cs typeface="Arial" panose="020B0604020202020204"/>
              </a:defRPr>
            </a:lvl6pPr>
            <a:lvl7pPr>
              <a:buNone/>
              <a:defRPr sz="1875" b="0">
                <a:solidFill>
                  <a:srgbClr val="53645A"/>
                </a:solidFill>
                <a:latin typeface="Arial" panose="020B0604020202020204"/>
                <a:ea typeface="Arial" panose="020B0604020202020204"/>
                <a:cs typeface="Arial" panose="020B0604020202020204"/>
              </a:defRPr>
            </a:lvl7pPr>
            <a:lvl8pPr>
              <a:buNone/>
              <a:defRPr sz="1875" b="0">
                <a:solidFill>
                  <a:srgbClr val="53645A"/>
                </a:solidFill>
                <a:latin typeface="Arial" panose="020B0604020202020204"/>
                <a:ea typeface="Arial" panose="020B0604020202020204"/>
                <a:cs typeface="Arial" panose="020B0604020202020204"/>
              </a:defRPr>
            </a:lvl8pPr>
            <a:lvl9pPr>
              <a:buNone/>
              <a:defRPr sz="1875" b="0">
                <a:solidFill>
                  <a:srgbClr val="53645A"/>
                </a:solidFill>
                <a:latin typeface="Arial" panose="020B0604020202020204"/>
                <a:ea typeface="Arial" panose="020B0604020202020204"/>
                <a:cs typeface="Arial" panose="020B0604020202020204"/>
              </a:defRPr>
            </a:lvl9pPr>
          </a:lstStyle>
          <a:p>
            <a:pPr>
              <a:buNone/>
              <a:defRPr sz="1875" b="0">
                <a:solidFill>
                  <a:srgbClr val="53645A"/>
                </a:solidFill>
                <a:latin typeface="Arial" panose="020B0604020202020204"/>
                <a:ea typeface="Arial" panose="020B0604020202020204"/>
                <a:cs typeface="Arial" panose="020B0604020202020204"/>
              </a:defRPr>
            </a:pPr>
            <a:r>
              <a:rPr sz="1875" b="0">
                <a:solidFill>
                  <a:srgbClr val="53645A"/>
                </a:solidFill>
                <a:latin typeface="Arial" panose="020B0604020202020204"/>
                <a:ea typeface="Arial" panose="020B0604020202020204"/>
                <a:cs typeface="Arial" panose="020B0604020202020204"/>
              </a:rPr>
              <a:t>Ventilation</a:t>
            </a:r>
            <a:endParaRPr sz="1875" b="0">
              <a:solidFill>
                <a:srgbClr val="53645A"/>
              </a:solidFill>
              <a:latin typeface="Arial" panose="020B0604020202020204"/>
              <a:ea typeface="Arial" panose="020B0604020202020204"/>
              <a:cs typeface="Arial" panose="020B0604020202020204"/>
            </a:endParaRPr>
          </a:p>
        </p:txBody>
      </p:sp>
      <p:sp>
        <p:nvSpPr>
          <p:cNvPr id="5" name="BDT 4,043"/>
          <p:cNvSpPr>
            <a:spLocks noGrp="1"/>
          </p:cNvSpPr>
          <p:nvPr/>
        </p:nvSpPr>
        <p:spPr>
          <a:xfrm>
            <a:off x="619125" y="1885950"/>
            <a:ext cx="4857750" cy="657225"/>
          </a:xfrm>
          <a:prstGeom prst="rect">
            <a:avLst/>
          </a:prstGeom>
          <a:noFill/>
          <a:ln w="0">
            <a:noFill/>
          </a:ln>
        </p:spPr>
        <p:txBody>
          <a:bodyPr wrap="square" lIns="0" tIns="0" rIns="0" bIns="0" anchor="t">
            <a:noAutofit/>
          </a:bodyPr>
          <a:lstStyle>
            <a:defPPr>
              <a:defRPr sz="3900" b="1">
                <a:solidFill>
                  <a:srgbClr val="19392E"/>
                </a:solidFill>
                <a:latin typeface="Arial" panose="020B0604020202020204"/>
                <a:ea typeface="Arial" panose="020B0604020202020204"/>
                <a:cs typeface="Arial" panose="020B0604020202020204"/>
              </a:defRPr>
            </a:defPPr>
            <a:lvl1pPr>
              <a:buNone/>
              <a:defRPr sz="3900" b="1">
                <a:solidFill>
                  <a:srgbClr val="19392E"/>
                </a:solidFill>
                <a:latin typeface="Arial" panose="020B0604020202020204"/>
                <a:ea typeface="Arial" panose="020B0604020202020204"/>
                <a:cs typeface="Arial" panose="020B0604020202020204"/>
              </a:defRPr>
            </a:lvl1pPr>
            <a:lvl2pPr>
              <a:buNone/>
              <a:defRPr sz="3900" b="1">
                <a:solidFill>
                  <a:srgbClr val="19392E"/>
                </a:solidFill>
                <a:latin typeface="Arial" panose="020B0604020202020204"/>
                <a:ea typeface="Arial" panose="020B0604020202020204"/>
                <a:cs typeface="Arial" panose="020B0604020202020204"/>
              </a:defRPr>
            </a:lvl2pPr>
            <a:lvl3pPr>
              <a:buNone/>
              <a:defRPr sz="3900" b="1">
                <a:solidFill>
                  <a:srgbClr val="19392E"/>
                </a:solidFill>
                <a:latin typeface="Arial" panose="020B0604020202020204"/>
                <a:ea typeface="Arial" panose="020B0604020202020204"/>
                <a:cs typeface="Arial" panose="020B0604020202020204"/>
              </a:defRPr>
            </a:lvl3pPr>
            <a:lvl4pPr>
              <a:buNone/>
              <a:defRPr sz="3900" b="1">
                <a:solidFill>
                  <a:srgbClr val="19392E"/>
                </a:solidFill>
                <a:latin typeface="Arial" panose="020B0604020202020204"/>
                <a:ea typeface="Arial" panose="020B0604020202020204"/>
                <a:cs typeface="Arial" panose="020B0604020202020204"/>
              </a:defRPr>
            </a:lvl4pPr>
            <a:lvl5pPr>
              <a:buNone/>
              <a:defRPr sz="3900" b="1">
                <a:solidFill>
                  <a:srgbClr val="19392E"/>
                </a:solidFill>
                <a:latin typeface="Arial" panose="020B0604020202020204"/>
                <a:ea typeface="Arial" panose="020B0604020202020204"/>
                <a:cs typeface="Arial" panose="020B0604020202020204"/>
              </a:defRPr>
            </a:lvl5pPr>
            <a:lvl6pPr>
              <a:buNone/>
              <a:defRPr sz="3900" b="1">
                <a:solidFill>
                  <a:srgbClr val="19392E"/>
                </a:solidFill>
                <a:latin typeface="Arial" panose="020B0604020202020204"/>
                <a:ea typeface="Arial" panose="020B0604020202020204"/>
                <a:cs typeface="Arial" panose="020B0604020202020204"/>
              </a:defRPr>
            </a:lvl6pPr>
            <a:lvl7pPr>
              <a:buNone/>
              <a:defRPr sz="3900" b="1">
                <a:solidFill>
                  <a:srgbClr val="19392E"/>
                </a:solidFill>
                <a:latin typeface="Arial" panose="020B0604020202020204"/>
                <a:ea typeface="Arial" panose="020B0604020202020204"/>
                <a:cs typeface="Arial" panose="020B0604020202020204"/>
              </a:defRPr>
            </a:lvl7pPr>
            <a:lvl8pPr>
              <a:buNone/>
              <a:defRPr sz="3900" b="1">
                <a:solidFill>
                  <a:srgbClr val="19392E"/>
                </a:solidFill>
                <a:latin typeface="Arial" panose="020B0604020202020204"/>
                <a:ea typeface="Arial" panose="020B0604020202020204"/>
                <a:cs typeface="Arial" panose="020B0604020202020204"/>
              </a:defRPr>
            </a:lvl8pPr>
            <a:lvl9pPr>
              <a:buNone/>
              <a:defRPr sz="3900" b="1">
                <a:solidFill>
                  <a:srgbClr val="19392E"/>
                </a:solidFill>
                <a:latin typeface="Arial" panose="020B0604020202020204"/>
                <a:ea typeface="Arial" panose="020B0604020202020204"/>
                <a:cs typeface="Arial" panose="020B0604020202020204"/>
              </a:defRPr>
            </a:lvl9pPr>
          </a:lstStyle>
          <a:p>
            <a:pPr>
              <a:buNone/>
              <a:defRPr sz="3900" b="1">
                <a:solidFill>
                  <a:srgbClr val="19392E"/>
                </a:solidFill>
                <a:latin typeface="Arial" panose="020B0604020202020204"/>
                <a:ea typeface="Arial" panose="020B0604020202020204"/>
                <a:cs typeface="Arial" panose="020B0604020202020204"/>
              </a:defRPr>
            </a:pPr>
            <a:r>
              <a:rPr sz="3900" b="1">
                <a:solidFill>
                  <a:srgbClr val="19392E"/>
                </a:solidFill>
                <a:latin typeface="Arial" panose="020B0604020202020204"/>
                <a:ea typeface="Arial" panose="020B0604020202020204"/>
                <a:cs typeface="Arial" panose="020B0604020202020204"/>
              </a:rPr>
              <a:t>BDT 4,</a:t>
            </a:r>
            <a:r>
              <a:rPr lang="en-US" sz="3900" b="1">
                <a:solidFill>
                  <a:srgbClr val="19392E"/>
                </a:solidFill>
                <a:latin typeface="Arial" panose="020B0604020202020204"/>
                <a:ea typeface="Arial" panose="020B0604020202020204"/>
                <a:cs typeface="Arial" panose="020B0604020202020204"/>
              </a:rPr>
              <a:t>500</a:t>
            </a:r>
            <a:endParaRPr lang="en-US" sz="3900" b="1">
              <a:solidFill>
                <a:srgbClr val="19392E"/>
              </a:solidFill>
              <a:latin typeface="Arial" panose="020B0604020202020204"/>
              <a:ea typeface="Arial" panose="020B0604020202020204"/>
              <a:cs typeface="Arial" panose="020B0604020202020204"/>
            </a:endParaRPr>
          </a:p>
        </p:txBody>
      </p:sp>
      <p:sp>
        <p:nvSpPr>
          <p:cNvPr id="6" name="Pond aeration"/>
          <p:cNvSpPr>
            <a:spLocks noGrp="1"/>
          </p:cNvSpPr>
          <p:nvPr/>
        </p:nvSpPr>
        <p:spPr>
          <a:xfrm>
            <a:off x="6334125" y="1495425"/>
            <a:ext cx="4286250" cy="333375"/>
          </a:xfrm>
          <a:prstGeom prst="rect">
            <a:avLst/>
          </a:prstGeom>
          <a:noFill/>
          <a:ln w="0">
            <a:noFill/>
          </a:ln>
        </p:spPr>
        <p:txBody>
          <a:bodyPr wrap="square" lIns="0" tIns="0" rIns="0" bIns="0" anchor="t">
            <a:noAutofit/>
          </a:bodyPr>
          <a:lstStyle>
            <a:defPPr>
              <a:defRPr sz="1875" b="0">
                <a:solidFill>
                  <a:srgbClr val="53645A"/>
                </a:solidFill>
                <a:latin typeface="Arial" panose="020B0604020202020204"/>
                <a:ea typeface="Arial" panose="020B0604020202020204"/>
                <a:cs typeface="Arial" panose="020B0604020202020204"/>
              </a:defRPr>
            </a:defPPr>
            <a:lvl1pPr>
              <a:buNone/>
              <a:defRPr sz="1875" b="0">
                <a:solidFill>
                  <a:srgbClr val="53645A"/>
                </a:solidFill>
                <a:latin typeface="Arial" panose="020B0604020202020204"/>
                <a:ea typeface="Arial" panose="020B0604020202020204"/>
                <a:cs typeface="Arial" panose="020B0604020202020204"/>
              </a:defRPr>
            </a:lvl1pPr>
            <a:lvl2pPr>
              <a:buNone/>
              <a:defRPr sz="1875" b="0">
                <a:solidFill>
                  <a:srgbClr val="53645A"/>
                </a:solidFill>
                <a:latin typeface="Arial" panose="020B0604020202020204"/>
                <a:ea typeface="Arial" panose="020B0604020202020204"/>
                <a:cs typeface="Arial" panose="020B0604020202020204"/>
              </a:defRPr>
            </a:lvl2pPr>
            <a:lvl3pPr>
              <a:buNone/>
              <a:defRPr sz="1875" b="0">
                <a:solidFill>
                  <a:srgbClr val="53645A"/>
                </a:solidFill>
                <a:latin typeface="Arial" panose="020B0604020202020204"/>
                <a:ea typeface="Arial" panose="020B0604020202020204"/>
                <a:cs typeface="Arial" panose="020B0604020202020204"/>
              </a:defRPr>
            </a:lvl3pPr>
            <a:lvl4pPr>
              <a:buNone/>
              <a:defRPr sz="1875" b="0">
                <a:solidFill>
                  <a:srgbClr val="53645A"/>
                </a:solidFill>
                <a:latin typeface="Arial" panose="020B0604020202020204"/>
                <a:ea typeface="Arial" panose="020B0604020202020204"/>
                <a:cs typeface="Arial" panose="020B0604020202020204"/>
              </a:defRPr>
            </a:lvl4pPr>
            <a:lvl5pPr>
              <a:buNone/>
              <a:defRPr sz="1875" b="0">
                <a:solidFill>
                  <a:srgbClr val="53645A"/>
                </a:solidFill>
                <a:latin typeface="Arial" panose="020B0604020202020204"/>
                <a:ea typeface="Arial" panose="020B0604020202020204"/>
                <a:cs typeface="Arial" panose="020B0604020202020204"/>
              </a:defRPr>
            </a:lvl5pPr>
            <a:lvl6pPr>
              <a:buNone/>
              <a:defRPr sz="1875" b="0">
                <a:solidFill>
                  <a:srgbClr val="53645A"/>
                </a:solidFill>
                <a:latin typeface="Arial" panose="020B0604020202020204"/>
                <a:ea typeface="Arial" panose="020B0604020202020204"/>
                <a:cs typeface="Arial" panose="020B0604020202020204"/>
              </a:defRPr>
            </a:lvl6pPr>
            <a:lvl7pPr>
              <a:buNone/>
              <a:defRPr sz="1875" b="0">
                <a:solidFill>
                  <a:srgbClr val="53645A"/>
                </a:solidFill>
                <a:latin typeface="Arial" panose="020B0604020202020204"/>
                <a:ea typeface="Arial" panose="020B0604020202020204"/>
                <a:cs typeface="Arial" panose="020B0604020202020204"/>
              </a:defRPr>
            </a:lvl7pPr>
            <a:lvl8pPr>
              <a:buNone/>
              <a:defRPr sz="1875" b="0">
                <a:solidFill>
                  <a:srgbClr val="53645A"/>
                </a:solidFill>
                <a:latin typeface="Arial" panose="020B0604020202020204"/>
                <a:ea typeface="Arial" panose="020B0604020202020204"/>
                <a:cs typeface="Arial" panose="020B0604020202020204"/>
              </a:defRPr>
            </a:lvl8pPr>
            <a:lvl9pPr>
              <a:buNone/>
              <a:defRPr sz="1875" b="0">
                <a:solidFill>
                  <a:srgbClr val="53645A"/>
                </a:solidFill>
                <a:latin typeface="Arial" panose="020B0604020202020204"/>
                <a:ea typeface="Arial" panose="020B0604020202020204"/>
                <a:cs typeface="Arial" panose="020B0604020202020204"/>
              </a:defRPr>
            </a:lvl9pPr>
          </a:lstStyle>
          <a:p>
            <a:pPr>
              <a:buNone/>
              <a:defRPr sz="1875" b="0">
                <a:solidFill>
                  <a:srgbClr val="53645A"/>
                </a:solidFill>
                <a:latin typeface="Arial" panose="020B0604020202020204"/>
                <a:ea typeface="Arial" panose="020B0604020202020204"/>
                <a:cs typeface="Arial" panose="020B0604020202020204"/>
              </a:defRPr>
            </a:pPr>
            <a:r>
              <a:rPr sz="1875" b="0">
                <a:solidFill>
                  <a:srgbClr val="53645A"/>
                </a:solidFill>
                <a:latin typeface="Arial" panose="020B0604020202020204"/>
                <a:ea typeface="Arial" panose="020B0604020202020204"/>
                <a:cs typeface="Arial" panose="020B0604020202020204"/>
              </a:rPr>
              <a:t>Pond aeration</a:t>
            </a:r>
            <a:endParaRPr sz="1875" b="0">
              <a:solidFill>
                <a:srgbClr val="53645A"/>
              </a:solidFill>
              <a:latin typeface="Arial" panose="020B0604020202020204"/>
              <a:ea typeface="Arial" panose="020B0604020202020204"/>
              <a:cs typeface="Arial" panose="020B0604020202020204"/>
            </a:endParaRPr>
          </a:p>
        </p:txBody>
      </p:sp>
      <p:sp>
        <p:nvSpPr>
          <p:cNvPr id="7" name="BDT 6,752"/>
          <p:cNvSpPr>
            <a:spLocks noGrp="1"/>
          </p:cNvSpPr>
          <p:nvPr/>
        </p:nvSpPr>
        <p:spPr>
          <a:xfrm>
            <a:off x="6324600" y="1885950"/>
            <a:ext cx="4857750" cy="657225"/>
          </a:xfrm>
          <a:prstGeom prst="rect">
            <a:avLst/>
          </a:prstGeom>
          <a:noFill/>
          <a:ln w="0">
            <a:noFill/>
          </a:ln>
        </p:spPr>
        <p:txBody>
          <a:bodyPr wrap="square" lIns="0" tIns="0" rIns="0" bIns="0" anchor="t">
            <a:noAutofit/>
          </a:bodyPr>
          <a:lstStyle>
            <a:defPPr>
              <a:defRPr sz="3900" b="1">
                <a:solidFill>
                  <a:srgbClr val="19392E"/>
                </a:solidFill>
                <a:latin typeface="Arial" panose="020B0604020202020204"/>
                <a:ea typeface="Arial" panose="020B0604020202020204"/>
                <a:cs typeface="Arial" panose="020B0604020202020204"/>
              </a:defRPr>
            </a:defPPr>
            <a:lvl1pPr>
              <a:buNone/>
              <a:defRPr sz="3900" b="1">
                <a:solidFill>
                  <a:srgbClr val="19392E"/>
                </a:solidFill>
                <a:latin typeface="Arial" panose="020B0604020202020204"/>
                <a:ea typeface="Arial" panose="020B0604020202020204"/>
                <a:cs typeface="Arial" panose="020B0604020202020204"/>
              </a:defRPr>
            </a:lvl1pPr>
            <a:lvl2pPr>
              <a:buNone/>
              <a:defRPr sz="3900" b="1">
                <a:solidFill>
                  <a:srgbClr val="19392E"/>
                </a:solidFill>
                <a:latin typeface="Arial" panose="020B0604020202020204"/>
                <a:ea typeface="Arial" panose="020B0604020202020204"/>
                <a:cs typeface="Arial" panose="020B0604020202020204"/>
              </a:defRPr>
            </a:lvl2pPr>
            <a:lvl3pPr>
              <a:buNone/>
              <a:defRPr sz="3900" b="1">
                <a:solidFill>
                  <a:srgbClr val="19392E"/>
                </a:solidFill>
                <a:latin typeface="Arial" panose="020B0604020202020204"/>
                <a:ea typeface="Arial" panose="020B0604020202020204"/>
                <a:cs typeface="Arial" panose="020B0604020202020204"/>
              </a:defRPr>
            </a:lvl3pPr>
            <a:lvl4pPr>
              <a:buNone/>
              <a:defRPr sz="3900" b="1">
                <a:solidFill>
                  <a:srgbClr val="19392E"/>
                </a:solidFill>
                <a:latin typeface="Arial" panose="020B0604020202020204"/>
                <a:ea typeface="Arial" panose="020B0604020202020204"/>
                <a:cs typeface="Arial" panose="020B0604020202020204"/>
              </a:defRPr>
            </a:lvl4pPr>
            <a:lvl5pPr>
              <a:buNone/>
              <a:defRPr sz="3900" b="1">
                <a:solidFill>
                  <a:srgbClr val="19392E"/>
                </a:solidFill>
                <a:latin typeface="Arial" panose="020B0604020202020204"/>
                <a:ea typeface="Arial" panose="020B0604020202020204"/>
                <a:cs typeface="Arial" panose="020B0604020202020204"/>
              </a:defRPr>
            </a:lvl5pPr>
            <a:lvl6pPr>
              <a:buNone/>
              <a:defRPr sz="3900" b="1">
                <a:solidFill>
                  <a:srgbClr val="19392E"/>
                </a:solidFill>
                <a:latin typeface="Arial" panose="020B0604020202020204"/>
                <a:ea typeface="Arial" panose="020B0604020202020204"/>
                <a:cs typeface="Arial" panose="020B0604020202020204"/>
              </a:defRPr>
            </a:lvl6pPr>
            <a:lvl7pPr>
              <a:buNone/>
              <a:defRPr sz="3900" b="1">
                <a:solidFill>
                  <a:srgbClr val="19392E"/>
                </a:solidFill>
                <a:latin typeface="Arial" panose="020B0604020202020204"/>
                <a:ea typeface="Arial" panose="020B0604020202020204"/>
                <a:cs typeface="Arial" panose="020B0604020202020204"/>
              </a:defRPr>
            </a:lvl7pPr>
            <a:lvl8pPr>
              <a:buNone/>
              <a:defRPr sz="3900" b="1">
                <a:solidFill>
                  <a:srgbClr val="19392E"/>
                </a:solidFill>
                <a:latin typeface="Arial" panose="020B0604020202020204"/>
                <a:ea typeface="Arial" panose="020B0604020202020204"/>
                <a:cs typeface="Arial" panose="020B0604020202020204"/>
              </a:defRPr>
            </a:lvl8pPr>
            <a:lvl9pPr>
              <a:buNone/>
              <a:defRPr sz="3900" b="1">
                <a:solidFill>
                  <a:srgbClr val="19392E"/>
                </a:solidFill>
                <a:latin typeface="Arial" panose="020B0604020202020204"/>
                <a:ea typeface="Arial" panose="020B0604020202020204"/>
                <a:cs typeface="Arial" panose="020B0604020202020204"/>
              </a:defRPr>
            </a:lvl9pPr>
          </a:lstStyle>
          <a:p>
            <a:pPr>
              <a:buNone/>
              <a:defRPr sz="3900" b="1">
                <a:solidFill>
                  <a:srgbClr val="19392E"/>
                </a:solidFill>
                <a:latin typeface="Arial" panose="020B0604020202020204"/>
                <a:ea typeface="Arial" panose="020B0604020202020204"/>
                <a:cs typeface="Arial" panose="020B0604020202020204"/>
              </a:defRPr>
            </a:pPr>
            <a:r>
              <a:rPr sz="3900" b="1">
                <a:solidFill>
                  <a:srgbClr val="19392E"/>
                </a:solidFill>
                <a:latin typeface="Arial" panose="020B0604020202020204"/>
                <a:ea typeface="Arial" panose="020B0604020202020204"/>
                <a:cs typeface="Arial" panose="020B0604020202020204"/>
              </a:rPr>
              <a:t>BDT 6,</a:t>
            </a:r>
            <a:r>
              <a:rPr lang="en-US" sz="3900" b="1">
                <a:solidFill>
                  <a:srgbClr val="19392E"/>
                </a:solidFill>
                <a:latin typeface="Arial" panose="020B0604020202020204"/>
                <a:ea typeface="Arial" panose="020B0604020202020204"/>
                <a:cs typeface="Arial" panose="020B0604020202020204"/>
              </a:rPr>
              <a:t>500</a:t>
            </a:r>
            <a:endParaRPr lang="en-US" sz="3900" b="1">
              <a:solidFill>
                <a:srgbClr val="19392E"/>
              </a:solidFill>
              <a:latin typeface="Arial" panose="020B0604020202020204"/>
              <a:ea typeface="Arial" panose="020B0604020202020204"/>
              <a:cs typeface="Arial" panose="020B0604020202020204"/>
            </a:endParaRPr>
          </a:p>
        </p:txBody>
      </p:sp>
      <p:graphicFrame>
        <p:nvGraphicFramePr>
          <p:cNvPr id="8" name="Table 7"/>
          <p:cNvGraphicFramePr/>
          <p:nvPr/>
        </p:nvGraphicFramePr>
        <p:xfrm>
          <a:off x="619125" y="2647950"/>
          <a:ext cx="10953750" cy="2667000"/>
        </p:xfrm>
        <a:graphic>
          <a:graphicData uri="http://schemas.openxmlformats.org/drawingml/2006/table">
            <a:tbl>
              <a:tblPr/>
              <a:tblGrid>
                <a:gridCol w="5238750"/>
                <a:gridCol w="2857500"/>
                <a:gridCol w="2857500"/>
              </a:tblGrid>
              <a:tr h="381000">
                <a:tc>
                  <a:txBody>
                    <a:bodyPr/>
                    <a:lstStyle/>
                    <a:p>
                      <a:r>
                        <a:rPr sz="1650" b="1">
                          <a:solidFill>
                            <a:srgbClr val="F4F3EB"/>
                          </a:solidFill>
                          <a:latin typeface="Arial" panose="020B0604020202020204"/>
                          <a:ea typeface="Arial" panose="020B0604020202020204"/>
                          <a:cs typeface="Arial" panose="020B0604020202020204"/>
                        </a:rPr>
                        <a:t>Component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Ventilation (BDT)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Pond (BDT)</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T w="19050">
                      <a:solidFill>
                        <a:srgbClr val="F4F3EB"/>
                      </a:solidFill>
                      <a:prstDash val="solid"/>
                    </a:lnT>
                    <a:lnB w="19050">
                      <a:solidFill>
                        <a:srgbClr val="F4F3EB"/>
                      </a:solidFill>
                      <a:prstDash val="solid"/>
                    </a:lnB>
                    <a:solidFill>
                      <a:srgbClr val="19392E"/>
                    </a:solidFill>
                  </a:tcPr>
                </a:tc>
              </a:tr>
              <a:tr h="381000">
                <a:tc>
                  <a:txBody>
                    <a:bodyPr/>
                    <a:lstStyle/>
                    <a:p>
                      <a:r>
                        <a:rPr sz="1650" b="0">
                          <a:solidFill>
                            <a:srgbClr val="162D23"/>
                          </a:solidFill>
                          <a:latin typeface="Arial" panose="020B0604020202020204"/>
                          <a:ea typeface="Arial" panose="020B0604020202020204"/>
                          <a:cs typeface="Arial" panose="020B0604020202020204"/>
                        </a:rPr>
                        <a:t>Spiral rotor</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2,700.00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2,700.00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0">
                          <a:solidFill>
                            <a:srgbClr val="162D23"/>
                          </a:solidFill>
                          <a:latin typeface="Arial" panose="020B0604020202020204"/>
                          <a:ea typeface="Arial" panose="020B0604020202020204"/>
                          <a:cs typeface="Arial" panose="020B0604020202020204"/>
                        </a:rPr>
                        <a:t>Bevel gears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81.00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162.00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r>
              <a:tr h="381000">
                <a:tc>
                  <a:txBody>
                    <a:bodyPr/>
                    <a:lstStyle/>
                    <a:p>
                      <a:r>
                        <a:rPr sz="1650" b="0">
                          <a:solidFill>
                            <a:srgbClr val="162D23"/>
                          </a:solidFill>
                          <a:latin typeface="Arial" panose="020B0604020202020204"/>
                          <a:ea typeface="Arial" panose="020B0604020202020204"/>
                          <a:cs typeface="Arial" panose="020B0604020202020204"/>
                        </a:rPr>
                        <a:t>Fan / paddle wheel</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lang="en-US" sz="1650" b="0">
                          <a:solidFill>
                            <a:srgbClr val="162D23"/>
                          </a:solidFill>
                          <a:latin typeface="Arial" panose="020B0604020202020204"/>
                          <a:ea typeface="Arial" panose="020B0604020202020204"/>
                          <a:cs typeface="Arial" panose="020B0604020202020204"/>
                        </a:rPr>
                        <a:t>550</a:t>
                      </a:r>
                      <a:endParaRPr lang="en-US"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3,000.00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0">
                          <a:solidFill>
                            <a:srgbClr val="162D23"/>
                          </a:solidFill>
                          <a:latin typeface="Arial" panose="020B0604020202020204"/>
                          <a:ea typeface="Arial" panose="020B0604020202020204"/>
                          <a:cs typeface="Arial" panose="020B0604020202020204"/>
                        </a:rPr>
                        <a:t>Collars and supports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189.72</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c>
                  <a:txBody>
                    <a:bodyPr/>
                    <a:lstStyle/>
                    <a:p>
                      <a:r>
                        <a:rPr sz="1650" b="0">
                          <a:solidFill>
                            <a:srgbClr val="162D23"/>
                          </a:solidFill>
                          <a:latin typeface="Arial" panose="020B0604020202020204"/>
                          <a:ea typeface="Arial" panose="020B0604020202020204"/>
                          <a:cs typeface="Arial" panose="020B0604020202020204"/>
                        </a:rPr>
                        <a:t>189.72</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F0F0E7"/>
                    </a:solidFill>
                  </a:tcPr>
                </a:tc>
              </a:tr>
              <a:tr h="381000">
                <a:tc>
                  <a:txBody>
                    <a:bodyPr/>
                    <a:lstStyle/>
                    <a:p>
                      <a:r>
                        <a:rPr sz="1650" b="0">
                          <a:solidFill>
                            <a:srgbClr val="162D23"/>
                          </a:solidFill>
                          <a:latin typeface="Arial" panose="020B0604020202020204"/>
                          <a:ea typeface="Arial" panose="020B0604020202020204"/>
                          <a:cs typeface="Arial" panose="020B0604020202020204"/>
                        </a:rPr>
                        <a:t>Casing / brackets / fasteners</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1,000.00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c>
                  <a:txBody>
                    <a:bodyPr/>
                    <a:lstStyle/>
                    <a:p>
                      <a:r>
                        <a:rPr sz="1650" b="0">
                          <a:solidFill>
                            <a:srgbClr val="162D23"/>
                          </a:solidFill>
                          <a:latin typeface="Arial" panose="020B0604020202020204"/>
                          <a:ea typeface="Arial" panose="020B0604020202020204"/>
                          <a:cs typeface="Arial" panose="020B0604020202020204"/>
                        </a:rPr>
                        <a:t>700.00</a:t>
                      </a:r>
                      <a:endParaRPr sz="1650" b="0">
                        <a:solidFill>
                          <a:srgbClr val="162D23"/>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E7EADF"/>
                    </a:solidFill>
                  </a:tcPr>
                </a:tc>
              </a:tr>
              <a:tr h="381000">
                <a:tc>
                  <a:txBody>
                    <a:bodyPr/>
                    <a:lstStyle/>
                    <a:p>
                      <a:r>
                        <a:rPr sz="1650" b="1">
                          <a:solidFill>
                            <a:srgbClr val="F4F3EB"/>
                          </a:solidFill>
                          <a:latin typeface="Arial" panose="020B0604020202020204"/>
                          <a:ea typeface="Arial" panose="020B0604020202020204"/>
                          <a:cs typeface="Arial" panose="020B0604020202020204"/>
                        </a:rPr>
                        <a:t>Component subtotal</a:t>
                      </a:r>
                      <a:endParaRPr sz="1650" b="1">
                        <a:solidFill>
                          <a:srgbClr val="F4F3EB"/>
                        </a:solidFill>
                        <a:latin typeface="Arial" panose="020B0604020202020204"/>
                        <a:ea typeface="Arial" panose="020B0604020202020204"/>
                        <a:cs typeface="Arial" panose="020B0604020202020204"/>
                      </a:endParaRPr>
                    </a:p>
                  </a:txBody>
                  <a:tcPr marL="133350" marR="114300" marT="57150" marB="57150" anchor="ctr">
                    <a:lnL w="19050">
                      <a:solidFill>
                        <a:srgbClr val="F4F3EB"/>
                      </a:solidFill>
                      <a:prstDash val="solid"/>
                    </a:lnL>
                    <a:lnR w="19050">
                      <a:solidFill>
                        <a:srgbClr val="F4F3EB"/>
                      </a:solidFill>
                      <a:prstDash val="solid"/>
                    </a:lnR>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4,</a:t>
                      </a:r>
                      <a:r>
                        <a:rPr lang="en-US" sz="1650" b="1">
                          <a:solidFill>
                            <a:srgbClr val="F4F3EB"/>
                          </a:solidFill>
                          <a:latin typeface="Arial" panose="020B0604020202020204"/>
                          <a:ea typeface="Arial" panose="020B0604020202020204"/>
                          <a:cs typeface="Arial" panose="020B0604020202020204"/>
                        </a:rPr>
                        <a:t>500</a:t>
                      </a:r>
                      <a:endParaRPr lang="en-US"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19392E"/>
                    </a:solidFill>
                  </a:tcPr>
                </a:tc>
                <a:tc>
                  <a:txBody>
                    <a:bodyPr/>
                    <a:lstStyle/>
                    <a:p>
                      <a:r>
                        <a:rPr sz="1650" b="1">
                          <a:solidFill>
                            <a:srgbClr val="F4F3EB"/>
                          </a:solidFill>
                          <a:latin typeface="Arial" panose="020B0604020202020204"/>
                          <a:ea typeface="Arial" panose="020B0604020202020204"/>
                          <a:cs typeface="Arial" panose="020B0604020202020204"/>
                        </a:rPr>
                        <a:t>6,</a:t>
                      </a:r>
                      <a:r>
                        <a:rPr lang="en-US" sz="1650" b="1">
                          <a:solidFill>
                            <a:srgbClr val="F4F3EB"/>
                          </a:solidFill>
                          <a:latin typeface="Arial" panose="020B0604020202020204"/>
                          <a:ea typeface="Arial" panose="020B0604020202020204"/>
                          <a:cs typeface="Arial" panose="020B0604020202020204"/>
                        </a:rPr>
                        <a:t>500</a:t>
                      </a:r>
                      <a:endParaRPr lang="en-US" sz="1650" b="1">
                        <a:solidFill>
                          <a:srgbClr val="F4F3EB"/>
                        </a:solidFill>
                        <a:latin typeface="Arial" panose="020B0604020202020204"/>
                        <a:ea typeface="Arial" panose="020B0604020202020204"/>
                        <a:cs typeface="Arial" panose="020B0604020202020204"/>
                      </a:endParaRPr>
                    </a:p>
                  </a:txBody>
                  <a:tcPr marL="133350" marR="114300" marT="57150" marB="57150" anchor="ctr">
                    <a:lnR w="19050">
                      <a:solidFill>
                        <a:srgbClr val="F4F3EB"/>
                      </a:solidFill>
                      <a:prstDash val="solid"/>
                    </a:lnR>
                    <a:lnB w="19050">
                      <a:solidFill>
                        <a:srgbClr val="F4F3EB"/>
                      </a:solidFill>
                      <a:prstDash val="solid"/>
                    </a:lnB>
                    <a:solidFill>
                      <a:srgbClr val="19392E"/>
                    </a:solidFill>
                  </a:tcPr>
                </a:tc>
              </a:tr>
            </a:tbl>
          </a:graphicData>
        </a:graphic>
      </p:graphicFrame>
      <p:sp>
        <p:nvSpPr>
          <p:cNvPr id="11" name="06"/>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06</a:t>
            </a:r>
            <a:endParaRPr sz="127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sp>
        <p:nvSpPr>
          <p:cNvPr id="3" name="Future scope: hybrid ventilatio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Arial" panose="020B0604020202020204"/>
                <a:ea typeface="Arial" panose="020B0604020202020204"/>
                <a:cs typeface="Arial" panose="020B0604020202020204"/>
              </a:defRPr>
            </a:defPPr>
            <a:lvl1pPr>
              <a:buNone/>
              <a:defRPr sz="3225" b="1">
                <a:solidFill>
                  <a:srgbClr val="F4F3EB"/>
                </a:solidFill>
                <a:latin typeface="Arial" panose="020B0604020202020204"/>
                <a:ea typeface="Arial" panose="020B0604020202020204"/>
                <a:cs typeface="Arial" panose="020B0604020202020204"/>
              </a:defRPr>
            </a:lvl1pPr>
            <a:lvl2pPr>
              <a:buNone/>
              <a:defRPr sz="3225" b="1">
                <a:solidFill>
                  <a:srgbClr val="F4F3EB"/>
                </a:solidFill>
                <a:latin typeface="Arial" panose="020B0604020202020204"/>
                <a:ea typeface="Arial" panose="020B0604020202020204"/>
                <a:cs typeface="Arial" panose="020B0604020202020204"/>
              </a:defRPr>
            </a:lvl2pPr>
            <a:lvl3pPr>
              <a:buNone/>
              <a:defRPr sz="3225" b="1">
                <a:solidFill>
                  <a:srgbClr val="F4F3EB"/>
                </a:solidFill>
                <a:latin typeface="Arial" panose="020B0604020202020204"/>
                <a:ea typeface="Arial" panose="020B0604020202020204"/>
                <a:cs typeface="Arial" panose="020B0604020202020204"/>
              </a:defRPr>
            </a:lvl3pPr>
            <a:lvl4pPr>
              <a:buNone/>
              <a:defRPr sz="3225" b="1">
                <a:solidFill>
                  <a:srgbClr val="F4F3EB"/>
                </a:solidFill>
                <a:latin typeface="Arial" panose="020B0604020202020204"/>
                <a:ea typeface="Arial" panose="020B0604020202020204"/>
                <a:cs typeface="Arial" panose="020B0604020202020204"/>
              </a:defRPr>
            </a:lvl4pPr>
            <a:lvl5pPr>
              <a:buNone/>
              <a:defRPr sz="3225" b="1">
                <a:solidFill>
                  <a:srgbClr val="F4F3EB"/>
                </a:solidFill>
                <a:latin typeface="Arial" panose="020B0604020202020204"/>
                <a:ea typeface="Arial" panose="020B0604020202020204"/>
                <a:cs typeface="Arial" panose="020B0604020202020204"/>
              </a:defRPr>
            </a:lvl5pPr>
            <a:lvl6pPr>
              <a:buNone/>
              <a:defRPr sz="3225" b="1">
                <a:solidFill>
                  <a:srgbClr val="F4F3EB"/>
                </a:solidFill>
                <a:latin typeface="Arial" panose="020B0604020202020204"/>
                <a:ea typeface="Arial" panose="020B0604020202020204"/>
                <a:cs typeface="Arial" panose="020B0604020202020204"/>
              </a:defRPr>
            </a:lvl6pPr>
            <a:lvl7pPr>
              <a:buNone/>
              <a:defRPr sz="3225" b="1">
                <a:solidFill>
                  <a:srgbClr val="F4F3EB"/>
                </a:solidFill>
                <a:latin typeface="Arial" panose="020B0604020202020204"/>
                <a:ea typeface="Arial" panose="020B0604020202020204"/>
                <a:cs typeface="Arial" panose="020B0604020202020204"/>
              </a:defRPr>
            </a:lvl7pPr>
            <a:lvl8pPr>
              <a:buNone/>
              <a:defRPr sz="3225" b="1">
                <a:solidFill>
                  <a:srgbClr val="F4F3EB"/>
                </a:solidFill>
                <a:latin typeface="Arial" panose="020B0604020202020204"/>
                <a:ea typeface="Arial" panose="020B0604020202020204"/>
                <a:cs typeface="Arial" panose="020B0604020202020204"/>
              </a:defRPr>
            </a:lvl8pPr>
            <a:lvl9pPr>
              <a:buNone/>
              <a:defRPr sz="3225" b="1">
                <a:solidFill>
                  <a:srgbClr val="F4F3EB"/>
                </a:solidFill>
                <a:latin typeface="Arial" panose="020B0604020202020204"/>
                <a:ea typeface="Arial" panose="020B0604020202020204"/>
                <a:cs typeface="Arial" panose="020B0604020202020204"/>
              </a:defRPr>
            </a:lvl9pPr>
          </a:lstStyle>
          <a:p>
            <a:pPr>
              <a:buNone/>
              <a:defRPr sz="3225" b="1">
                <a:solidFill>
                  <a:srgbClr val="F4F3EB"/>
                </a:solidFill>
                <a:latin typeface="Arial" panose="020B0604020202020204"/>
                <a:ea typeface="Arial" panose="020B0604020202020204"/>
                <a:cs typeface="Arial" panose="020B0604020202020204"/>
              </a:defRPr>
            </a:pPr>
            <a:r>
              <a:rPr sz="3225" b="1">
                <a:solidFill>
                  <a:srgbClr val="F4F3EB"/>
                </a:solidFill>
                <a:latin typeface="Arial" panose="020B0604020202020204"/>
                <a:ea typeface="Arial" panose="020B0604020202020204"/>
                <a:cs typeface="Arial" panose="020B0604020202020204"/>
              </a:rPr>
              <a:t>Future scope: </a:t>
            </a:r>
            <a:r>
              <a:rPr lang="en-US" sz="3225" b="1">
                <a:solidFill>
                  <a:srgbClr val="F4F3EB"/>
                </a:solidFill>
                <a:latin typeface="Arial" panose="020B0604020202020204"/>
                <a:ea typeface="Arial" panose="020B0604020202020204"/>
                <a:cs typeface="Arial" panose="020B0604020202020204"/>
              </a:rPr>
              <a:t>H</a:t>
            </a:r>
            <a:r>
              <a:rPr sz="3225" b="1">
                <a:solidFill>
                  <a:srgbClr val="F4F3EB"/>
                </a:solidFill>
                <a:latin typeface="Arial" panose="020B0604020202020204"/>
                <a:ea typeface="Arial" panose="020B0604020202020204"/>
                <a:cs typeface="Arial" panose="020B0604020202020204"/>
              </a:rPr>
              <a:t>ybrid </a:t>
            </a:r>
            <a:r>
              <a:rPr lang="en-US" sz="3225" b="1">
                <a:solidFill>
                  <a:srgbClr val="F4F3EB"/>
                </a:solidFill>
                <a:latin typeface="Arial" panose="020B0604020202020204"/>
                <a:ea typeface="Arial" panose="020B0604020202020204"/>
                <a:cs typeface="Arial" panose="020B0604020202020204"/>
              </a:rPr>
              <a:t>V</a:t>
            </a:r>
            <a:r>
              <a:rPr sz="3225" b="1">
                <a:solidFill>
                  <a:srgbClr val="F4F3EB"/>
                </a:solidFill>
                <a:latin typeface="Arial" panose="020B0604020202020204"/>
                <a:ea typeface="Arial" panose="020B0604020202020204"/>
                <a:cs typeface="Arial" panose="020B0604020202020204"/>
              </a:rPr>
              <a:t>entilation</a:t>
            </a:r>
            <a:endParaRPr sz="3225" b="1">
              <a:solidFill>
                <a:srgbClr val="F4F3EB"/>
              </a:solidFill>
              <a:latin typeface="Arial" panose="020B0604020202020204"/>
              <a:ea typeface="Arial" panose="020B0604020202020204"/>
              <a:cs typeface="Arial" panose="020B0604020202020204"/>
            </a:endParaRPr>
          </a:p>
        </p:txBody>
      </p:sp>
      <p:sp>
        <p:nvSpPr>
          <p:cNvPr id="4" name="07"/>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07</a:t>
            </a:r>
            <a:endParaRPr sz="1275" b="0">
              <a:solidFill>
                <a:srgbClr val="D3E0D5"/>
              </a:solidFill>
              <a:latin typeface="Arial" panose="020B0604020202020204"/>
              <a:ea typeface="Arial" panose="020B0604020202020204"/>
              <a:cs typeface="Arial" panose="020B0604020202020204"/>
            </a:endParaRPr>
          </a:p>
        </p:txBody>
      </p:sp>
      <p:sp>
        <p:nvSpPr>
          <p:cNvPr id="5" name="Why combine wind with an existing solar setup?"/>
          <p:cNvSpPr>
            <a:spLocks noGrp="1"/>
          </p:cNvSpPr>
          <p:nvPr/>
        </p:nvSpPr>
        <p:spPr>
          <a:xfrm>
            <a:off x="619125" y="1495425"/>
            <a:ext cx="6953250" cy="704850"/>
          </a:xfrm>
          <a:prstGeom prst="rect">
            <a:avLst/>
          </a:prstGeom>
          <a:noFill/>
          <a:ln w="0">
            <a:noFill/>
          </a:ln>
        </p:spPr>
        <p:txBody>
          <a:bodyPr wrap="square" lIns="0" tIns="0" rIns="0" bIns="0" anchor="t">
            <a:noAutofit/>
          </a:bodyPr>
          <a:lstStyle>
            <a:defPPr>
              <a:defRPr sz="2175" b="1">
                <a:solidFill>
                  <a:srgbClr val="D6F39B"/>
                </a:solidFill>
                <a:latin typeface="Arial" panose="020B0604020202020204"/>
                <a:ea typeface="Arial" panose="020B0604020202020204"/>
                <a:cs typeface="Arial" panose="020B0604020202020204"/>
              </a:defRPr>
            </a:defPPr>
            <a:lvl1pPr>
              <a:buNone/>
              <a:defRPr sz="2175" b="1">
                <a:solidFill>
                  <a:srgbClr val="D6F39B"/>
                </a:solidFill>
                <a:latin typeface="Arial" panose="020B0604020202020204"/>
                <a:ea typeface="Arial" panose="020B0604020202020204"/>
                <a:cs typeface="Arial" panose="020B0604020202020204"/>
              </a:defRPr>
            </a:lvl1pPr>
            <a:lvl2pPr>
              <a:buNone/>
              <a:defRPr sz="2175" b="1">
                <a:solidFill>
                  <a:srgbClr val="D6F39B"/>
                </a:solidFill>
                <a:latin typeface="Arial" panose="020B0604020202020204"/>
                <a:ea typeface="Arial" panose="020B0604020202020204"/>
                <a:cs typeface="Arial" panose="020B0604020202020204"/>
              </a:defRPr>
            </a:lvl2pPr>
            <a:lvl3pPr>
              <a:buNone/>
              <a:defRPr sz="2175" b="1">
                <a:solidFill>
                  <a:srgbClr val="D6F39B"/>
                </a:solidFill>
                <a:latin typeface="Arial" panose="020B0604020202020204"/>
                <a:ea typeface="Arial" panose="020B0604020202020204"/>
                <a:cs typeface="Arial" panose="020B0604020202020204"/>
              </a:defRPr>
            </a:lvl3pPr>
            <a:lvl4pPr>
              <a:buNone/>
              <a:defRPr sz="2175" b="1">
                <a:solidFill>
                  <a:srgbClr val="D6F39B"/>
                </a:solidFill>
                <a:latin typeface="Arial" panose="020B0604020202020204"/>
                <a:ea typeface="Arial" panose="020B0604020202020204"/>
                <a:cs typeface="Arial" panose="020B0604020202020204"/>
              </a:defRPr>
            </a:lvl4pPr>
            <a:lvl5pPr>
              <a:buNone/>
              <a:defRPr sz="2175" b="1">
                <a:solidFill>
                  <a:srgbClr val="D6F39B"/>
                </a:solidFill>
                <a:latin typeface="Arial" panose="020B0604020202020204"/>
                <a:ea typeface="Arial" panose="020B0604020202020204"/>
                <a:cs typeface="Arial" panose="020B0604020202020204"/>
              </a:defRPr>
            </a:lvl5pPr>
            <a:lvl6pPr>
              <a:buNone/>
              <a:defRPr sz="2175" b="1">
                <a:solidFill>
                  <a:srgbClr val="D6F39B"/>
                </a:solidFill>
                <a:latin typeface="Arial" panose="020B0604020202020204"/>
                <a:ea typeface="Arial" panose="020B0604020202020204"/>
                <a:cs typeface="Arial" panose="020B0604020202020204"/>
              </a:defRPr>
            </a:lvl6pPr>
            <a:lvl7pPr>
              <a:buNone/>
              <a:defRPr sz="2175" b="1">
                <a:solidFill>
                  <a:srgbClr val="D6F39B"/>
                </a:solidFill>
                <a:latin typeface="Arial" panose="020B0604020202020204"/>
                <a:ea typeface="Arial" panose="020B0604020202020204"/>
                <a:cs typeface="Arial" panose="020B0604020202020204"/>
              </a:defRPr>
            </a:lvl7pPr>
            <a:lvl8pPr>
              <a:buNone/>
              <a:defRPr sz="2175" b="1">
                <a:solidFill>
                  <a:srgbClr val="D6F39B"/>
                </a:solidFill>
                <a:latin typeface="Arial" panose="020B0604020202020204"/>
                <a:ea typeface="Arial" panose="020B0604020202020204"/>
                <a:cs typeface="Arial" panose="020B0604020202020204"/>
              </a:defRPr>
            </a:lvl8pPr>
            <a:lvl9pPr>
              <a:buNone/>
              <a:defRPr sz="2175" b="1">
                <a:solidFill>
                  <a:srgbClr val="D6F39B"/>
                </a:solidFill>
                <a:latin typeface="Arial" panose="020B0604020202020204"/>
                <a:ea typeface="Arial" panose="020B0604020202020204"/>
                <a:cs typeface="Arial" panose="020B0604020202020204"/>
              </a:defRPr>
            </a:lvl9pPr>
          </a:lstStyle>
          <a:p>
            <a:pPr>
              <a:buNone/>
              <a:defRPr sz="2175" b="1">
                <a:solidFill>
                  <a:srgbClr val="D6F39B"/>
                </a:solidFill>
                <a:latin typeface="Arial" panose="020B0604020202020204"/>
                <a:ea typeface="Arial" panose="020B0604020202020204"/>
                <a:cs typeface="Arial" panose="020B0604020202020204"/>
              </a:defRPr>
            </a:pPr>
            <a:r>
              <a:rPr sz="2175" b="1">
                <a:solidFill>
                  <a:srgbClr val="D6F39B"/>
                </a:solidFill>
                <a:latin typeface="Arial" panose="020B0604020202020204"/>
                <a:ea typeface="Arial" panose="020B0604020202020204"/>
                <a:cs typeface="Arial" panose="020B0604020202020204"/>
              </a:rPr>
              <a:t>Why combine wind with an existing solar setup?</a:t>
            </a:r>
            <a:endParaRPr sz="2175" b="1">
              <a:solidFill>
                <a:srgbClr val="D6F39B"/>
              </a:solidFill>
              <a:latin typeface="Arial" panose="020B0604020202020204"/>
              <a:ea typeface="Arial" panose="020B0604020202020204"/>
              <a:cs typeface="Arial" panose="020B0604020202020204"/>
            </a:endParaRPr>
          </a:p>
        </p:txBody>
      </p:sp>
      <p:sp>
        <p:nvSpPr>
          <p:cNvPr id="6" name="Solar works during daylight. Useful wind can also occur after sunset, "/>
          <p:cNvSpPr>
            <a:spLocks noGrp="1"/>
          </p:cNvSpPr>
          <p:nvPr/>
        </p:nvSpPr>
        <p:spPr>
          <a:xfrm>
            <a:off x="619125" y="2333625"/>
            <a:ext cx="7000875" cy="3609975"/>
          </a:xfrm>
          <a:prstGeom prst="rect">
            <a:avLst/>
          </a:prstGeom>
          <a:noFill/>
          <a:ln w="0">
            <a:noFill/>
          </a:ln>
        </p:spPr>
        <p:txBody>
          <a:bodyPr wrap="square" lIns="0" tIns="0" rIns="0" bIns="0" anchor="t">
            <a:noAutofit/>
          </a:bodyPr>
          <a:lstStyle>
            <a:defPPr>
              <a:defRPr sz="1800" b="0">
                <a:solidFill>
                  <a:srgbClr val="F4F3EB"/>
                </a:solidFill>
                <a:latin typeface="Arial" panose="020B0604020202020204"/>
                <a:ea typeface="Arial" panose="020B0604020202020204"/>
                <a:cs typeface="Arial" panose="020B0604020202020204"/>
              </a:defRPr>
            </a:defPPr>
            <a:lvl1pPr>
              <a:buNone/>
              <a:defRPr sz="1800" b="0">
                <a:solidFill>
                  <a:srgbClr val="F4F3EB"/>
                </a:solidFill>
                <a:latin typeface="Arial" panose="020B0604020202020204"/>
                <a:ea typeface="Arial" panose="020B0604020202020204"/>
                <a:cs typeface="Arial" panose="020B0604020202020204"/>
              </a:defRPr>
            </a:lvl1pPr>
            <a:lvl2pPr>
              <a:buNone/>
              <a:defRPr sz="1800" b="0">
                <a:solidFill>
                  <a:srgbClr val="F4F3EB"/>
                </a:solidFill>
                <a:latin typeface="Arial" panose="020B0604020202020204"/>
                <a:ea typeface="Arial" panose="020B0604020202020204"/>
                <a:cs typeface="Arial" panose="020B0604020202020204"/>
              </a:defRPr>
            </a:lvl2pPr>
            <a:lvl3pPr>
              <a:buNone/>
              <a:defRPr sz="1800" b="0">
                <a:solidFill>
                  <a:srgbClr val="F4F3EB"/>
                </a:solidFill>
                <a:latin typeface="Arial" panose="020B0604020202020204"/>
                <a:ea typeface="Arial" panose="020B0604020202020204"/>
                <a:cs typeface="Arial" panose="020B0604020202020204"/>
              </a:defRPr>
            </a:lvl3pPr>
            <a:lvl4pPr>
              <a:buNone/>
              <a:defRPr sz="1800" b="0">
                <a:solidFill>
                  <a:srgbClr val="F4F3EB"/>
                </a:solidFill>
                <a:latin typeface="Arial" panose="020B0604020202020204"/>
                <a:ea typeface="Arial" panose="020B0604020202020204"/>
                <a:cs typeface="Arial" panose="020B0604020202020204"/>
              </a:defRPr>
            </a:lvl4pPr>
            <a:lvl5pPr>
              <a:buNone/>
              <a:defRPr sz="1800" b="0">
                <a:solidFill>
                  <a:srgbClr val="F4F3EB"/>
                </a:solidFill>
                <a:latin typeface="Arial" panose="020B0604020202020204"/>
                <a:ea typeface="Arial" panose="020B0604020202020204"/>
                <a:cs typeface="Arial" panose="020B0604020202020204"/>
              </a:defRPr>
            </a:lvl5pPr>
            <a:lvl6pPr>
              <a:buNone/>
              <a:defRPr sz="1800" b="0">
                <a:solidFill>
                  <a:srgbClr val="F4F3EB"/>
                </a:solidFill>
                <a:latin typeface="Arial" panose="020B0604020202020204"/>
                <a:ea typeface="Arial" panose="020B0604020202020204"/>
                <a:cs typeface="Arial" panose="020B0604020202020204"/>
              </a:defRPr>
            </a:lvl6pPr>
            <a:lvl7pPr>
              <a:buNone/>
              <a:defRPr sz="1800" b="0">
                <a:solidFill>
                  <a:srgbClr val="F4F3EB"/>
                </a:solidFill>
                <a:latin typeface="Arial" panose="020B0604020202020204"/>
                <a:ea typeface="Arial" panose="020B0604020202020204"/>
                <a:cs typeface="Arial" panose="020B0604020202020204"/>
              </a:defRPr>
            </a:lvl7pPr>
            <a:lvl8pPr>
              <a:buNone/>
              <a:defRPr sz="1800" b="0">
                <a:solidFill>
                  <a:srgbClr val="F4F3EB"/>
                </a:solidFill>
                <a:latin typeface="Arial" panose="020B0604020202020204"/>
                <a:ea typeface="Arial" panose="020B0604020202020204"/>
                <a:cs typeface="Arial" panose="020B0604020202020204"/>
              </a:defRPr>
            </a:lvl8pPr>
            <a:lvl9pPr>
              <a:buNone/>
              <a:defRPr sz="1800" b="0">
                <a:solidFill>
                  <a:srgbClr val="F4F3EB"/>
                </a:solidFill>
                <a:latin typeface="Arial" panose="020B0604020202020204"/>
                <a:ea typeface="Arial" panose="020B0604020202020204"/>
                <a:cs typeface="Arial" panose="020B0604020202020204"/>
              </a:defRPr>
            </a:lvl9pPr>
          </a:lstStyle>
          <a:p>
            <a:pPr>
              <a:buNone/>
              <a:defRPr sz="1800" b="0">
                <a:solidFill>
                  <a:srgbClr val="F4F3EB"/>
                </a:solidFill>
                <a:latin typeface="Arial" panose="020B0604020202020204"/>
                <a:ea typeface="Arial" panose="020B0604020202020204"/>
                <a:cs typeface="Arial" panose="020B0604020202020204"/>
              </a:defRPr>
            </a:pPr>
            <a:r>
              <a:rPr sz="1800" b="0">
                <a:solidFill>
                  <a:srgbClr val="F4F3EB"/>
                </a:solidFill>
                <a:latin typeface="Arial" panose="020B0604020202020204"/>
                <a:ea typeface="Arial" panose="020B0604020202020204"/>
                <a:cs typeface="Arial" panose="020B0604020202020204"/>
              </a:rPr>
              <a:t>Solar works during daylight. Useful wind can also occur after sunset, helping drive the fan and conserve battery energy . We are not providing a hybrid system in 4</a:t>
            </a:r>
            <a:r>
              <a:rPr lang="en-US" sz="1800" b="0">
                <a:solidFill>
                  <a:srgbClr val="F4F3EB"/>
                </a:solidFill>
                <a:latin typeface="Arial" panose="020B0604020202020204"/>
                <a:ea typeface="Arial" panose="020B0604020202020204"/>
                <a:cs typeface="Arial" panose="020B0604020202020204"/>
              </a:rPr>
              <a:t>5</a:t>
            </a:r>
            <a:r>
              <a:rPr sz="1800" b="0">
                <a:solidFill>
                  <a:srgbClr val="F4F3EB"/>
                </a:solidFill>
                <a:latin typeface="Arial" panose="020B0604020202020204"/>
                <a:ea typeface="Arial" panose="020B0604020202020204"/>
                <a:cs typeface="Arial" panose="020B0604020202020204"/>
              </a:rPr>
              <a:t>00tk, we are talking about the complementary scenario. Solar setup can cost about 40k with external duct for ventilation . For advanced mode, we have two type of cost(solar system implementation cost and ventilation implem e ntation cost). Both cost will round up to </a:t>
            </a:r>
            <a:r>
              <a:rPr lang="en-US" sz="1800" b="0">
                <a:solidFill>
                  <a:srgbClr val="F4F3EB"/>
                </a:solidFill>
                <a:latin typeface="Arial" panose="020B0604020202020204"/>
                <a:ea typeface="Arial" panose="020B0604020202020204"/>
                <a:cs typeface="Arial" panose="020B0604020202020204"/>
              </a:rPr>
              <a:t>50</a:t>
            </a:r>
            <a:r>
              <a:rPr sz="1800" b="0">
                <a:solidFill>
                  <a:srgbClr val="F4F3EB"/>
                </a:solidFill>
                <a:latin typeface="Arial" panose="020B0604020202020204"/>
                <a:ea typeface="Arial" panose="020B0604020202020204"/>
                <a:cs typeface="Arial" panose="020B0604020202020204"/>
              </a:rPr>
              <a:t>k. Though thinking about this cost is a very big number, but solar cell can easily cover up our whole house’s electricity whereas we can set up our zero watt wind in messy room’s rooftop so it can keep that room cool and will work in the non operating hours of solar cell and reduce electricity bill with battery demand.</a:t>
            </a:r>
            <a:endParaRPr sz="1800" b="0">
              <a:solidFill>
                <a:srgbClr val="F4F3EB"/>
              </a:solidFill>
              <a:latin typeface="Arial" panose="020B0604020202020204"/>
              <a:ea typeface="Arial" panose="020B0604020202020204"/>
              <a:cs typeface="Arial" panose="020B0604020202020204"/>
            </a:endParaRPr>
          </a:p>
        </p:txBody>
      </p:sp>
      <p:pic>
        <p:nvPicPr>
          <p:cNvPr id="7" name="Picture 6"/>
          <p:cNvPicPr>
            <a:picLocks noChangeAspect="1"/>
          </p:cNvPicPr>
          <p:nvPr/>
        </p:nvPicPr>
        <p:blipFill>
          <a:blip r:embed="rId1"/>
          <a:stretch>
            <a:fillRect/>
          </a:stretch>
        </p:blipFill>
        <p:spPr>
          <a:xfrm>
            <a:off x="8029575" y="1935768"/>
            <a:ext cx="3486150" cy="3167439"/>
          </a:xfrm>
          <a:prstGeom prst="rect">
            <a:avLst/>
          </a:prstGeom>
        </p:spPr>
      </p:pic>
      <p:sp>
        <p:nvSpPr>
          <p:cNvPr id="8" name="Hybrid concept"/>
          <p:cNvSpPr>
            <a:spLocks noGrp="1"/>
          </p:cNvSpPr>
          <p:nvPr/>
        </p:nvSpPr>
        <p:spPr>
          <a:xfrm>
            <a:off x="8115300" y="5524500"/>
            <a:ext cx="3143250" cy="285750"/>
          </a:xfrm>
          <a:prstGeom prst="rect">
            <a:avLst/>
          </a:prstGeom>
          <a:noFill/>
          <a:ln w="0">
            <a:noFill/>
          </a:ln>
        </p:spPr>
        <p:txBody>
          <a:bodyPr wrap="square" lIns="0" tIns="0" rIns="0" bIns="0" anchor="t">
            <a:noAutofit/>
          </a:bodyPr>
          <a:lstStyle>
            <a:defPPr>
              <a:defRPr sz="1800" b="1">
                <a:solidFill>
                  <a:srgbClr val="D6F39B"/>
                </a:solidFill>
                <a:latin typeface="Arial" panose="020B0604020202020204"/>
                <a:ea typeface="Arial" panose="020B0604020202020204"/>
                <a:cs typeface="Arial" panose="020B0604020202020204"/>
              </a:defRPr>
            </a:defPPr>
            <a:lvl1pPr>
              <a:buNone/>
              <a:defRPr sz="1800" b="1">
                <a:solidFill>
                  <a:srgbClr val="D6F39B"/>
                </a:solidFill>
                <a:latin typeface="Arial" panose="020B0604020202020204"/>
                <a:ea typeface="Arial" panose="020B0604020202020204"/>
                <a:cs typeface="Arial" panose="020B0604020202020204"/>
              </a:defRPr>
            </a:lvl1pPr>
            <a:lvl2pPr>
              <a:buNone/>
              <a:defRPr sz="1800" b="1">
                <a:solidFill>
                  <a:srgbClr val="D6F39B"/>
                </a:solidFill>
                <a:latin typeface="Arial" panose="020B0604020202020204"/>
                <a:ea typeface="Arial" panose="020B0604020202020204"/>
                <a:cs typeface="Arial" panose="020B0604020202020204"/>
              </a:defRPr>
            </a:lvl2pPr>
            <a:lvl3pPr>
              <a:buNone/>
              <a:defRPr sz="1800" b="1">
                <a:solidFill>
                  <a:srgbClr val="D6F39B"/>
                </a:solidFill>
                <a:latin typeface="Arial" panose="020B0604020202020204"/>
                <a:ea typeface="Arial" panose="020B0604020202020204"/>
                <a:cs typeface="Arial" panose="020B0604020202020204"/>
              </a:defRPr>
            </a:lvl3pPr>
            <a:lvl4pPr>
              <a:buNone/>
              <a:defRPr sz="1800" b="1">
                <a:solidFill>
                  <a:srgbClr val="D6F39B"/>
                </a:solidFill>
                <a:latin typeface="Arial" panose="020B0604020202020204"/>
                <a:ea typeface="Arial" panose="020B0604020202020204"/>
                <a:cs typeface="Arial" panose="020B0604020202020204"/>
              </a:defRPr>
            </a:lvl4pPr>
            <a:lvl5pPr>
              <a:buNone/>
              <a:defRPr sz="1800" b="1">
                <a:solidFill>
                  <a:srgbClr val="D6F39B"/>
                </a:solidFill>
                <a:latin typeface="Arial" panose="020B0604020202020204"/>
                <a:ea typeface="Arial" panose="020B0604020202020204"/>
                <a:cs typeface="Arial" panose="020B0604020202020204"/>
              </a:defRPr>
            </a:lvl5pPr>
            <a:lvl6pPr>
              <a:buNone/>
              <a:defRPr sz="1800" b="1">
                <a:solidFill>
                  <a:srgbClr val="D6F39B"/>
                </a:solidFill>
                <a:latin typeface="Arial" panose="020B0604020202020204"/>
                <a:ea typeface="Arial" panose="020B0604020202020204"/>
                <a:cs typeface="Arial" panose="020B0604020202020204"/>
              </a:defRPr>
            </a:lvl6pPr>
            <a:lvl7pPr>
              <a:buNone/>
              <a:defRPr sz="1800" b="1">
                <a:solidFill>
                  <a:srgbClr val="D6F39B"/>
                </a:solidFill>
                <a:latin typeface="Arial" panose="020B0604020202020204"/>
                <a:ea typeface="Arial" panose="020B0604020202020204"/>
                <a:cs typeface="Arial" panose="020B0604020202020204"/>
              </a:defRPr>
            </a:lvl7pPr>
            <a:lvl8pPr>
              <a:buNone/>
              <a:defRPr sz="1800" b="1">
                <a:solidFill>
                  <a:srgbClr val="D6F39B"/>
                </a:solidFill>
                <a:latin typeface="Arial" panose="020B0604020202020204"/>
                <a:ea typeface="Arial" panose="020B0604020202020204"/>
                <a:cs typeface="Arial" panose="020B0604020202020204"/>
              </a:defRPr>
            </a:lvl8pPr>
            <a:lvl9pPr>
              <a:buNone/>
              <a:defRPr sz="1800" b="1">
                <a:solidFill>
                  <a:srgbClr val="D6F39B"/>
                </a:solidFill>
                <a:latin typeface="Arial" panose="020B0604020202020204"/>
                <a:ea typeface="Arial" panose="020B0604020202020204"/>
                <a:cs typeface="Arial" panose="020B0604020202020204"/>
              </a:defRPr>
            </a:lvl9pPr>
          </a:lstStyle>
          <a:p>
            <a:pPr>
              <a:buNone/>
              <a:defRPr sz="1800" b="1">
                <a:solidFill>
                  <a:srgbClr val="D6F39B"/>
                </a:solidFill>
                <a:latin typeface="Arial" panose="020B0604020202020204"/>
                <a:ea typeface="Arial" panose="020B0604020202020204"/>
                <a:cs typeface="Arial" panose="020B0604020202020204"/>
              </a:defRPr>
            </a:pPr>
            <a:endParaRPr sz="1800" b="1">
              <a:solidFill>
                <a:srgbClr val="D6F39B"/>
              </a:solidFill>
              <a:latin typeface="Arial" panose="020B0604020202020204"/>
              <a:ea typeface="Arial" panose="020B0604020202020204"/>
              <a:cs typeface="Arial" panose="020B0604020202020204"/>
            </a:endParaRPr>
          </a:p>
        </p:txBody>
      </p:sp>
      <p:sp>
        <p:nvSpPr>
          <p:cNvPr id="9" name="Illustrative costs. Whole-house supply and savings depend on system si"/>
          <p:cNvSpPr>
            <a:spLocks noGrp="1"/>
          </p:cNvSpPr>
          <p:nvPr/>
        </p:nvSpPr>
        <p:spPr>
          <a:xfrm>
            <a:off x="619125" y="5810250"/>
            <a:ext cx="10239375" cy="438150"/>
          </a:xfrm>
          <a:prstGeom prst="rect">
            <a:avLst/>
          </a:prstGeom>
          <a:noFill/>
          <a:ln w="0">
            <a:noFill/>
          </a:ln>
        </p:spPr>
        <p:txBody>
          <a:bodyPr wrap="square" lIns="0" tIns="0" rIns="0" bIns="0" anchor="t">
            <a:noAutofit/>
          </a:bodyPr>
          <a:lstStyle>
            <a:defPPr>
              <a:defRPr sz="1350" b="0">
                <a:solidFill>
                  <a:srgbClr val="D3E0D5"/>
                </a:solidFill>
                <a:latin typeface="Arial" panose="020B0604020202020204"/>
                <a:ea typeface="Arial" panose="020B0604020202020204"/>
                <a:cs typeface="Arial" panose="020B0604020202020204"/>
              </a:defRPr>
            </a:defPPr>
            <a:lvl1pPr>
              <a:buNone/>
              <a:defRPr sz="1350" b="0">
                <a:solidFill>
                  <a:srgbClr val="D3E0D5"/>
                </a:solidFill>
                <a:latin typeface="Arial" panose="020B0604020202020204"/>
                <a:ea typeface="Arial" panose="020B0604020202020204"/>
                <a:cs typeface="Arial" panose="020B0604020202020204"/>
              </a:defRPr>
            </a:lvl1pPr>
            <a:lvl2pPr>
              <a:buNone/>
              <a:defRPr sz="1350" b="0">
                <a:solidFill>
                  <a:srgbClr val="D3E0D5"/>
                </a:solidFill>
                <a:latin typeface="Arial" panose="020B0604020202020204"/>
                <a:ea typeface="Arial" panose="020B0604020202020204"/>
                <a:cs typeface="Arial" panose="020B0604020202020204"/>
              </a:defRPr>
            </a:lvl2pPr>
            <a:lvl3pPr>
              <a:buNone/>
              <a:defRPr sz="1350" b="0">
                <a:solidFill>
                  <a:srgbClr val="D3E0D5"/>
                </a:solidFill>
                <a:latin typeface="Arial" panose="020B0604020202020204"/>
                <a:ea typeface="Arial" panose="020B0604020202020204"/>
                <a:cs typeface="Arial" panose="020B0604020202020204"/>
              </a:defRPr>
            </a:lvl3pPr>
            <a:lvl4pPr>
              <a:buNone/>
              <a:defRPr sz="1350" b="0">
                <a:solidFill>
                  <a:srgbClr val="D3E0D5"/>
                </a:solidFill>
                <a:latin typeface="Arial" panose="020B0604020202020204"/>
                <a:ea typeface="Arial" panose="020B0604020202020204"/>
                <a:cs typeface="Arial" panose="020B0604020202020204"/>
              </a:defRPr>
            </a:lvl4pPr>
            <a:lvl5pPr>
              <a:buNone/>
              <a:defRPr sz="1350" b="0">
                <a:solidFill>
                  <a:srgbClr val="D3E0D5"/>
                </a:solidFill>
                <a:latin typeface="Arial" panose="020B0604020202020204"/>
                <a:ea typeface="Arial" panose="020B0604020202020204"/>
                <a:cs typeface="Arial" panose="020B0604020202020204"/>
              </a:defRPr>
            </a:lvl5pPr>
            <a:lvl6pPr>
              <a:buNone/>
              <a:defRPr sz="1350" b="0">
                <a:solidFill>
                  <a:srgbClr val="D3E0D5"/>
                </a:solidFill>
                <a:latin typeface="Arial" panose="020B0604020202020204"/>
                <a:ea typeface="Arial" panose="020B0604020202020204"/>
                <a:cs typeface="Arial" panose="020B0604020202020204"/>
              </a:defRPr>
            </a:lvl6pPr>
            <a:lvl7pPr>
              <a:buNone/>
              <a:defRPr sz="1350" b="0">
                <a:solidFill>
                  <a:srgbClr val="D3E0D5"/>
                </a:solidFill>
                <a:latin typeface="Arial" panose="020B0604020202020204"/>
                <a:ea typeface="Arial" panose="020B0604020202020204"/>
                <a:cs typeface="Arial" panose="020B0604020202020204"/>
              </a:defRPr>
            </a:lvl7pPr>
            <a:lvl8pPr>
              <a:buNone/>
              <a:defRPr sz="1350" b="0">
                <a:solidFill>
                  <a:srgbClr val="D3E0D5"/>
                </a:solidFill>
                <a:latin typeface="Arial" panose="020B0604020202020204"/>
                <a:ea typeface="Arial" panose="020B0604020202020204"/>
                <a:cs typeface="Arial" panose="020B0604020202020204"/>
              </a:defRPr>
            </a:lvl8pPr>
            <a:lvl9pPr>
              <a:buNone/>
              <a:defRPr sz="1350" b="0">
                <a:solidFill>
                  <a:srgbClr val="D3E0D5"/>
                </a:solidFill>
                <a:latin typeface="Arial" panose="020B0604020202020204"/>
                <a:ea typeface="Arial" panose="020B0604020202020204"/>
                <a:cs typeface="Arial" panose="020B0604020202020204"/>
              </a:defRPr>
            </a:lvl9pPr>
          </a:lstStyle>
          <a:p>
            <a:pPr>
              <a:buNone/>
              <a:defRPr sz="1350" b="0">
                <a:solidFill>
                  <a:srgbClr val="D3E0D5"/>
                </a:solidFill>
                <a:latin typeface="Arial" panose="020B0604020202020204"/>
                <a:ea typeface="Arial" panose="020B0604020202020204"/>
                <a:cs typeface="Arial" panose="020B0604020202020204"/>
              </a:defRPr>
            </a:pPr>
            <a:endParaRPr sz="1350" b="0">
              <a:solidFill>
                <a:srgbClr val="D3E0D5"/>
              </a:solidFill>
              <a:latin typeface="Arial" panose="020B0604020202020204"/>
              <a:ea typeface="Arial" panose="020B0604020202020204"/>
              <a:cs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ZeroWatt Wind vs Whirlybird"/>
          <p:cNvSpPr>
            <a:spLocks noGrp="1"/>
          </p:cNvSpPr>
          <p:nvPr/>
        </p:nvSpPr>
        <p:spPr>
          <a:xfrm>
            <a:off x="609600" y="428625"/>
            <a:ext cx="10858500" cy="857250"/>
          </a:xfrm>
          <a:prstGeom prst="rect">
            <a:avLst/>
          </a:prstGeom>
          <a:noFill/>
          <a:ln w="0">
            <a:noFill/>
          </a:ln>
        </p:spPr>
        <p:txBody>
          <a:bodyPr wrap="square" lIns="0" tIns="0" rIns="0" bIns="0" anchor="t">
            <a:noAutofit/>
          </a:bodyPr>
          <a:lstStyle>
            <a:defPPr>
              <a:defRPr sz="3300" b="1">
                <a:solidFill>
                  <a:srgbClr val="162D23"/>
                </a:solidFill>
                <a:latin typeface="Arial" panose="020B0604020202020204"/>
                <a:ea typeface="Arial" panose="020B0604020202020204"/>
                <a:cs typeface="Arial" panose="020B0604020202020204"/>
              </a:defRPr>
            </a:defPPr>
            <a:lvl1pPr>
              <a:buNone/>
              <a:defRPr sz="3300" b="1">
                <a:solidFill>
                  <a:srgbClr val="162D23"/>
                </a:solidFill>
                <a:latin typeface="Arial" panose="020B0604020202020204"/>
                <a:ea typeface="Arial" panose="020B0604020202020204"/>
                <a:cs typeface="Arial" panose="020B0604020202020204"/>
              </a:defRPr>
            </a:lvl1pPr>
            <a:lvl2pPr>
              <a:buNone/>
              <a:defRPr sz="3300" b="1">
                <a:solidFill>
                  <a:srgbClr val="162D23"/>
                </a:solidFill>
                <a:latin typeface="Arial" panose="020B0604020202020204"/>
                <a:ea typeface="Arial" panose="020B0604020202020204"/>
                <a:cs typeface="Arial" panose="020B0604020202020204"/>
              </a:defRPr>
            </a:lvl2pPr>
            <a:lvl3pPr>
              <a:buNone/>
              <a:defRPr sz="3300" b="1">
                <a:solidFill>
                  <a:srgbClr val="162D23"/>
                </a:solidFill>
                <a:latin typeface="Arial" panose="020B0604020202020204"/>
                <a:ea typeface="Arial" panose="020B0604020202020204"/>
                <a:cs typeface="Arial" panose="020B0604020202020204"/>
              </a:defRPr>
            </a:lvl3pPr>
            <a:lvl4pPr>
              <a:buNone/>
              <a:defRPr sz="3300" b="1">
                <a:solidFill>
                  <a:srgbClr val="162D23"/>
                </a:solidFill>
                <a:latin typeface="Arial" panose="020B0604020202020204"/>
                <a:ea typeface="Arial" panose="020B0604020202020204"/>
                <a:cs typeface="Arial" panose="020B0604020202020204"/>
              </a:defRPr>
            </a:lvl4pPr>
            <a:lvl5pPr>
              <a:buNone/>
              <a:defRPr sz="3300" b="1">
                <a:solidFill>
                  <a:srgbClr val="162D23"/>
                </a:solidFill>
                <a:latin typeface="Arial" panose="020B0604020202020204"/>
                <a:ea typeface="Arial" panose="020B0604020202020204"/>
                <a:cs typeface="Arial" panose="020B0604020202020204"/>
              </a:defRPr>
            </a:lvl5pPr>
            <a:lvl6pPr>
              <a:buNone/>
              <a:defRPr sz="3300" b="1">
                <a:solidFill>
                  <a:srgbClr val="162D23"/>
                </a:solidFill>
                <a:latin typeface="Arial" panose="020B0604020202020204"/>
                <a:ea typeface="Arial" panose="020B0604020202020204"/>
                <a:cs typeface="Arial" panose="020B0604020202020204"/>
              </a:defRPr>
            </a:lvl6pPr>
            <a:lvl7pPr>
              <a:buNone/>
              <a:defRPr sz="3300" b="1">
                <a:solidFill>
                  <a:srgbClr val="162D23"/>
                </a:solidFill>
                <a:latin typeface="Arial" panose="020B0604020202020204"/>
                <a:ea typeface="Arial" panose="020B0604020202020204"/>
                <a:cs typeface="Arial" panose="020B0604020202020204"/>
              </a:defRPr>
            </a:lvl7pPr>
            <a:lvl8pPr>
              <a:buNone/>
              <a:defRPr sz="3300" b="1">
                <a:solidFill>
                  <a:srgbClr val="162D23"/>
                </a:solidFill>
                <a:latin typeface="Arial" panose="020B0604020202020204"/>
                <a:ea typeface="Arial" panose="020B0604020202020204"/>
                <a:cs typeface="Arial" panose="020B0604020202020204"/>
              </a:defRPr>
            </a:lvl8pPr>
            <a:lvl9pPr>
              <a:buNone/>
              <a:defRPr sz="3300" b="1">
                <a:solidFill>
                  <a:srgbClr val="162D23"/>
                </a:solidFill>
                <a:latin typeface="Arial" panose="020B0604020202020204"/>
                <a:ea typeface="Arial" panose="020B0604020202020204"/>
                <a:cs typeface="Arial" panose="020B0604020202020204"/>
              </a:defRPr>
            </a:lvl9pPr>
          </a:lstStyle>
          <a:p>
            <a:pPr>
              <a:buNone/>
              <a:defRPr sz="3300" b="1">
                <a:solidFill>
                  <a:srgbClr val="162D23"/>
                </a:solidFill>
                <a:latin typeface="Arial" panose="020B0604020202020204"/>
                <a:ea typeface="Arial" panose="020B0604020202020204"/>
                <a:cs typeface="Arial" panose="020B0604020202020204"/>
              </a:defRPr>
            </a:pPr>
            <a:r>
              <a:rPr sz="3300" b="1">
                <a:solidFill>
                  <a:srgbClr val="162D23"/>
                </a:solidFill>
                <a:latin typeface="Arial" panose="020B0604020202020204"/>
                <a:ea typeface="Arial" panose="020B0604020202020204"/>
                <a:cs typeface="Arial" panose="020B0604020202020204"/>
              </a:rPr>
              <a:t>ZeroWatt Wind vs Whirlybird</a:t>
            </a:r>
            <a:endParaRPr sz="3300" b="1">
              <a:solidFill>
                <a:srgbClr val="162D23"/>
              </a:solidFill>
              <a:latin typeface="Arial" panose="020B0604020202020204"/>
              <a:ea typeface="Arial" panose="020B0604020202020204"/>
              <a:cs typeface="Arial" panose="020B0604020202020204"/>
            </a:endParaRPr>
          </a:p>
        </p:txBody>
      </p:sp>
      <p:sp>
        <p:nvSpPr>
          <p:cNvPr id="11" name="08"/>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08</a:t>
            </a:r>
            <a:endParaRPr sz="1275" b="0">
              <a:solidFill>
                <a:srgbClr val="405B4E"/>
              </a:solidFill>
              <a:latin typeface="Arial" panose="020B0604020202020204"/>
              <a:ea typeface="Arial" panose="020B0604020202020204"/>
              <a:cs typeface="Arial" panose="020B0604020202020204"/>
            </a:endParaRPr>
          </a:p>
        </p:txBody>
      </p:sp>
      <p:graphicFrame>
        <p:nvGraphicFramePr>
          <p:cNvPr id="20" name="Editable Whirlybird comparison table"/>
          <p:cNvGraphicFramePr/>
          <p:nvPr/>
        </p:nvGraphicFramePr>
        <p:xfrm>
          <a:off x="619125" y="1504950"/>
          <a:ext cx="10953750" cy="4133850"/>
        </p:xfrm>
        <a:graphic>
          <a:graphicData uri="http://schemas.openxmlformats.org/drawingml/2006/table">
            <a:tbl>
              <a:tblPr/>
              <a:tblGrid>
                <a:gridCol w="2381250"/>
                <a:gridCol w="4286250"/>
                <a:gridCol w="4286250"/>
              </a:tblGrid>
              <a:tr h="590550">
                <a:tc>
                  <a:txBody>
                    <a:bodyPr/>
                    <a:lstStyle/>
                    <a:p>
                      <a:r>
                        <a:rPr sz="1800" b="1">
                          <a:solidFill>
                            <a:srgbClr val="F5F4EB"/>
                          </a:solidFill>
                          <a:latin typeface="Arial" panose="020B0604020202020204"/>
                          <a:ea typeface="Arial" panose="020B0604020202020204"/>
                          <a:cs typeface="Arial" panose="020B0604020202020204"/>
                        </a:rPr>
                        <a:t>Feature</a:t>
                      </a:r>
                      <a:endParaRPr sz="1800" b="1">
                        <a:solidFill>
                          <a:srgbClr val="F5F4EB"/>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T w="13335">
                      <a:solidFill>
                        <a:srgbClr val="F6F5EE"/>
                      </a:solidFill>
                      <a:prstDash val="solid"/>
                    </a:lnT>
                    <a:lnB w="13335">
                      <a:solidFill>
                        <a:srgbClr val="F6F5EE"/>
                      </a:solidFill>
                      <a:prstDash val="solid"/>
                    </a:lnB>
                    <a:solidFill>
                      <a:srgbClr val="19392E"/>
                    </a:solidFill>
                  </a:tcPr>
                </a:tc>
                <a:tc>
                  <a:txBody>
                    <a:bodyPr/>
                    <a:lstStyle/>
                    <a:p>
                      <a:r>
                        <a:rPr sz="1800" b="1">
                          <a:solidFill>
                            <a:srgbClr val="F5F4EB"/>
                          </a:solidFill>
                          <a:latin typeface="Arial" panose="020B0604020202020204"/>
                          <a:ea typeface="Arial" panose="020B0604020202020204"/>
                          <a:cs typeface="Arial" panose="020B0604020202020204"/>
                        </a:rPr>
                        <a:t>ZeroWatt Wind</a:t>
                      </a:r>
                      <a:endParaRPr sz="1800" b="1">
                        <a:solidFill>
                          <a:srgbClr val="F5F4EB"/>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T w="13335">
                      <a:solidFill>
                        <a:srgbClr val="F6F5EE"/>
                      </a:solidFill>
                      <a:prstDash val="solid"/>
                    </a:lnT>
                    <a:lnB w="13335">
                      <a:solidFill>
                        <a:srgbClr val="F6F5EE"/>
                      </a:solidFill>
                      <a:prstDash val="solid"/>
                    </a:lnB>
                    <a:solidFill>
                      <a:srgbClr val="19392E"/>
                    </a:solidFill>
                  </a:tcPr>
                </a:tc>
                <a:tc>
                  <a:txBody>
                    <a:bodyPr/>
                    <a:lstStyle/>
                    <a:p>
                      <a:r>
                        <a:rPr sz="1800" b="1">
                          <a:solidFill>
                            <a:srgbClr val="F5F4EB"/>
                          </a:solidFill>
                          <a:latin typeface="Arial" panose="020B0604020202020204"/>
                          <a:ea typeface="Arial" panose="020B0604020202020204"/>
                          <a:cs typeface="Arial" panose="020B0604020202020204"/>
                        </a:rPr>
                        <a:t>Conventional Whirlybird</a:t>
                      </a:r>
                      <a:endParaRPr sz="1800" b="1">
                        <a:solidFill>
                          <a:srgbClr val="F5F4EB"/>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T w="13335">
                      <a:solidFill>
                        <a:srgbClr val="F6F5EE"/>
                      </a:solidFill>
                      <a:prstDash val="solid"/>
                    </a:lnT>
                    <a:lnB w="13335">
                      <a:solidFill>
                        <a:srgbClr val="F6F5EE"/>
                      </a:solidFill>
                      <a:prstDash val="solid"/>
                    </a:lnB>
                    <a:solidFill>
                      <a:srgbClr val="19392E"/>
                    </a:solidFill>
                  </a:tcPr>
                </a:tc>
              </a:tr>
              <a:tr h="590550">
                <a:tc>
                  <a:txBody>
                    <a:bodyPr/>
                    <a:lstStyle/>
                    <a:p>
                      <a:r>
                        <a:rPr sz="1800" b="1">
                          <a:solidFill>
                            <a:srgbClr val="19392E"/>
                          </a:solidFill>
                          <a:latin typeface="Arial" panose="020B0604020202020204"/>
                          <a:ea typeface="Arial" panose="020B0604020202020204"/>
                          <a:cs typeface="Arial" panose="020B0604020202020204"/>
                        </a:rPr>
                        <a:t>Uses</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F0F0E7"/>
                    </a:solidFill>
                  </a:tcPr>
                </a:tc>
                <a:tc>
                  <a:txBody>
                    <a:bodyPr/>
                    <a:lstStyle/>
                    <a:p>
                      <a:r>
                        <a:rPr sz="1800" b="0">
                          <a:solidFill>
                            <a:srgbClr val="19392E"/>
                          </a:solidFill>
                          <a:latin typeface="Arial" panose="020B0604020202020204"/>
                          <a:ea typeface="Arial" panose="020B0604020202020204"/>
                          <a:cs typeface="Arial" panose="020B0604020202020204"/>
                        </a:rPr>
                        <a:t>Ventilation or pond aeration</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Roof ventilation only</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F0F0E7"/>
                    </a:solidFill>
                  </a:tcPr>
                </a:tc>
              </a:tr>
              <a:tr h="590550">
                <a:tc>
                  <a:txBody>
                    <a:bodyPr/>
                    <a:lstStyle/>
                    <a:p>
                      <a:r>
                        <a:rPr sz="1800" b="1">
                          <a:solidFill>
                            <a:srgbClr val="19392E"/>
                          </a:solidFill>
                          <a:latin typeface="Arial" panose="020B0604020202020204"/>
                          <a:ea typeface="Arial" panose="020B0604020202020204"/>
                          <a:cs typeface="Arial" panose="020B0604020202020204"/>
                        </a:rPr>
                        <a:t>Power transfer</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E6E9DE"/>
                    </a:solidFill>
                  </a:tcPr>
                </a:tc>
                <a:tc>
                  <a:txBody>
                    <a:bodyPr/>
                    <a:lstStyle/>
                    <a:p>
                      <a:r>
                        <a:rPr sz="1800" b="0">
                          <a:solidFill>
                            <a:srgbClr val="19392E"/>
                          </a:solidFill>
                          <a:latin typeface="Arial" panose="020B0604020202020204"/>
                          <a:ea typeface="Arial" panose="020B0604020202020204"/>
                          <a:cs typeface="Arial" panose="020B0604020202020204"/>
                        </a:rPr>
                        <a:t>Drives a separate fan or paddle</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No external drive</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6E9DE"/>
                    </a:solidFill>
                  </a:tcPr>
                </a:tc>
              </a:tr>
              <a:tr h="590550">
                <a:tc>
                  <a:txBody>
                    <a:bodyPr/>
                    <a:lstStyle/>
                    <a:p>
                      <a:r>
                        <a:rPr sz="1800" b="1">
                          <a:solidFill>
                            <a:srgbClr val="19392E"/>
                          </a:solidFill>
                          <a:latin typeface="Arial" panose="020B0604020202020204"/>
                          <a:ea typeface="Arial" panose="020B0604020202020204"/>
                          <a:cs typeface="Arial" panose="020B0604020202020204"/>
                        </a:rPr>
                        <a:t>Placement</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F0F0E7"/>
                    </a:solidFill>
                  </a:tcPr>
                </a:tc>
                <a:tc>
                  <a:txBody>
                    <a:bodyPr/>
                    <a:lstStyle/>
                    <a:p>
                      <a:r>
                        <a:rPr sz="1800" b="0">
                          <a:solidFill>
                            <a:srgbClr val="19392E"/>
                          </a:solidFill>
                          <a:latin typeface="Arial" panose="020B0604020202020204"/>
                          <a:ea typeface="Arial" panose="020B0604020202020204"/>
                          <a:cs typeface="Arial" panose="020B0604020202020204"/>
                        </a:rPr>
                        <a:t>Separate rotor and fan</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Extraction at roof turbine</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F0F0E7"/>
                    </a:solidFill>
                  </a:tcPr>
                </a:tc>
              </a:tr>
              <a:tr h="590550">
                <a:tc>
                  <a:txBody>
                    <a:bodyPr/>
                    <a:lstStyle/>
                    <a:p>
                      <a:r>
                        <a:rPr sz="1800" b="1">
                          <a:solidFill>
                            <a:srgbClr val="19392E"/>
                          </a:solidFill>
                          <a:latin typeface="Arial" panose="020B0604020202020204"/>
                          <a:ea typeface="Arial" panose="020B0604020202020204"/>
                          <a:cs typeface="Arial" panose="020B0604020202020204"/>
                        </a:rPr>
                        <a:t>Output options</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E6E9DE"/>
                    </a:solidFill>
                  </a:tcPr>
                </a:tc>
                <a:tc>
                  <a:txBody>
                    <a:bodyPr/>
                    <a:lstStyle/>
                    <a:p>
                      <a:r>
                        <a:rPr sz="1800" b="0">
                          <a:solidFill>
                            <a:srgbClr val="19392E"/>
                          </a:solidFill>
                          <a:latin typeface="Arial" panose="020B0604020202020204"/>
                          <a:ea typeface="Arial" panose="020B0604020202020204"/>
                          <a:cs typeface="Arial" panose="020B0604020202020204"/>
                        </a:rPr>
                        <a:t>Fan or paddle</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Ventilation turbine only</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6E9DE"/>
                    </a:solidFill>
                  </a:tcPr>
                </a:tc>
              </a:tr>
              <a:tr h="590550">
                <a:tc>
                  <a:txBody>
                    <a:bodyPr/>
                    <a:lstStyle/>
                    <a:p>
                      <a:r>
                        <a:rPr sz="1800" b="1">
                          <a:solidFill>
                            <a:srgbClr val="19392E"/>
                          </a:solidFill>
                          <a:latin typeface="Arial" panose="020B0604020202020204"/>
                          <a:ea typeface="Arial" panose="020B0604020202020204"/>
                          <a:cs typeface="Arial" panose="020B0604020202020204"/>
                        </a:rPr>
                        <a:t>Customization</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F0F0E7"/>
                    </a:solidFill>
                  </a:tcPr>
                </a:tc>
                <a:tc>
                  <a:txBody>
                    <a:bodyPr/>
                    <a:lstStyle/>
                    <a:p>
                      <a:r>
                        <a:rPr sz="1800" b="0">
                          <a:solidFill>
                            <a:srgbClr val="19392E"/>
                          </a:solidFill>
                          <a:latin typeface="Arial" panose="020B0604020202020204"/>
                          <a:ea typeface="Arial" panose="020B0604020202020204"/>
                          <a:cs typeface="Arial" panose="020B0604020202020204"/>
                        </a:rPr>
                        <a:t>Separate, adaptable components</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Integrated design</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F0F0E7"/>
                    </a:solidFill>
                  </a:tcPr>
                </a:tc>
              </a:tr>
              <a:tr h="590550">
                <a:tc>
                  <a:txBody>
                    <a:bodyPr/>
                    <a:lstStyle/>
                    <a:p>
                      <a:r>
                        <a:rPr sz="1800" b="1">
                          <a:solidFill>
                            <a:srgbClr val="19392E"/>
                          </a:solidFill>
                          <a:latin typeface="Arial" panose="020B0604020202020204"/>
                          <a:ea typeface="Arial" panose="020B0604020202020204"/>
                          <a:cs typeface="Arial" panose="020B0604020202020204"/>
                        </a:rPr>
                        <a:t>Future upgrades</a:t>
                      </a:r>
                      <a:endParaRPr sz="1800" b="1">
                        <a:solidFill>
                          <a:srgbClr val="19392E"/>
                        </a:solidFill>
                        <a:latin typeface="Arial" panose="020B0604020202020204"/>
                        <a:ea typeface="Arial" panose="020B0604020202020204"/>
                        <a:cs typeface="Arial" panose="020B0604020202020204"/>
                      </a:endParaRPr>
                    </a:p>
                  </a:txBody>
                  <a:tcPr marL="114300" marR="114300" marT="114300" marB="114300" anchor="ctr">
                    <a:lnL w="13335">
                      <a:solidFill>
                        <a:srgbClr val="F6F5EE"/>
                      </a:solidFill>
                      <a:prstDash val="solid"/>
                    </a:lnL>
                    <a:lnR w="13335">
                      <a:solidFill>
                        <a:srgbClr val="F6F5EE"/>
                      </a:solidFill>
                      <a:prstDash val="solid"/>
                    </a:lnR>
                    <a:lnB w="13335">
                      <a:solidFill>
                        <a:srgbClr val="F6F5EE"/>
                      </a:solidFill>
                      <a:prstDash val="solid"/>
                    </a:lnB>
                    <a:solidFill>
                      <a:srgbClr val="E6E9DE"/>
                    </a:solidFill>
                  </a:tcPr>
                </a:tc>
                <a:tc>
                  <a:txBody>
                    <a:bodyPr/>
                    <a:lstStyle/>
                    <a:p>
                      <a:r>
                        <a:rPr sz="1800" b="0">
                          <a:solidFill>
                            <a:srgbClr val="19392E"/>
                          </a:solidFill>
                          <a:latin typeface="Arial" panose="020B0604020202020204"/>
                          <a:ea typeface="Arial" panose="020B0604020202020204"/>
                          <a:cs typeface="Arial" panose="020B0604020202020204"/>
                        </a:rPr>
                        <a:t>Solar and battery support planned</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0EBD9"/>
                    </a:solidFill>
                  </a:tcPr>
                </a:tc>
                <a:tc>
                  <a:txBody>
                    <a:bodyPr/>
                    <a:lstStyle/>
                    <a:p>
                      <a:r>
                        <a:rPr sz="1800" b="0">
                          <a:solidFill>
                            <a:srgbClr val="19392E"/>
                          </a:solidFill>
                          <a:latin typeface="Arial" panose="020B0604020202020204"/>
                          <a:ea typeface="Arial" panose="020B0604020202020204"/>
                          <a:cs typeface="Arial" panose="020B0604020202020204"/>
                        </a:rPr>
                        <a:t>Wind-only operation</a:t>
                      </a:r>
                      <a:endParaRPr sz="1800" b="0">
                        <a:solidFill>
                          <a:srgbClr val="19392E"/>
                        </a:solidFill>
                        <a:latin typeface="Arial" panose="020B0604020202020204"/>
                        <a:ea typeface="Arial" panose="020B0604020202020204"/>
                        <a:cs typeface="Arial" panose="020B0604020202020204"/>
                      </a:endParaRPr>
                    </a:p>
                  </a:txBody>
                  <a:tcPr marL="114300" marR="114300" marT="114300" marB="114300" anchor="ctr">
                    <a:lnR w="13335">
                      <a:solidFill>
                        <a:srgbClr val="F6F5EE"/>
                      </a:solidFill>
                      <a:prstDash val="solid"/>
                    </a:lnR>
                    <a:lnB w="13335">
                      <a:solidFill>
                        <a:srgbClr val="F6F5EE"/>
                      </a:solidFill>
                      <a:prstDash val="solid"/>
                    </a:lnB>
                    <a:solidFill>
                      <a:srgbClr val="E6E9DE"/>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buy this when natural ventilation and exhaust fans already exist?"/>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102F24"/>
                </a:solidFill>
                <a:latin typeface="Arial" panose="020B0604020202020204"/>
                <a:ea typeface="Arial" panose="020B0604020202020204"/>
                <a:cs typeface="Arial" panose="020B0604020202020204"/>
              </a:defRPr>
            </a:defPPr>
            <a:lvl1pPr>
              <a:buNone/>
              <a:defRPr sz="3225" b="1">
                <a:solidFill>
                  <a:srgbClr val="102F24"/>
                </a:solidFill>
                <a:latin typeface="Arial" panose="020B0604020202020204"/>
                <a:ea typeface="Arial" panose="020B0604020202020204"/>
                <a:cs typeface="Arial" panose="020B0604020202020204"/>
              </a:defRPr>
            </a:lvl1pPr>
            <a:lvl2pPr>
              <a:buNone/>
              <a:defRPr sz="3225" b="1">
                <a:solidFill>
                  <a:srgbClr val="102F24"/>
                </a:solidFill>
                <a:latin typeface="Arial" panose="020B0604020202020204"/>
                <a:ea typeface="Arial" panose="020B0604020202020204"/>
                <a:cs typeface="Arial" panose="020B0604020202020204"/>
              </a:defRPr>
            </a:lvl2pPr>
            <a:lvl3pPr>
              <a:buNone/>
              <a:defRPr sz="3225" b="1">
                <a:solidFill>
                  <a:srgbClr val="102F24"/>
                </a:solidFill>
                <a:latin typeface="Arial" panose="020B0604020202020204"/>
                <a:ea typeface="Arial" panose="020B0604020202020204"/>
                <a:cs typeface="Arial" panose="020B0604020202020204"/>
              </a:defRPr>
            </a:lvl3pPr>
            <a:lvl4pPr>
              <a:buNone/>
              <a:defRPr sz="3225" b="1">
                <a:solidFill>
                  <a:srgbClr val="102F24"/>
                </a:solidFill>
                <a:latin typeface="Arial" panose="020B0604020202020204"/>
                <a:ea typeface="Arial" panose="020B0604020202020204"/>
                <a:cs typeface="Arial" panose="020B0604020202020204"/>
              </a:defRPr>
            </a:lvl4pPr>
            <a:lvl5pPr>
              <a:buNone/>
              <a:defRPr sz="3225" b="1">
                <a:solidFill>
                  <a:srgbClr val="102F24"/>
                </a:solidFill>
                <a:latin typeface="Arial" panose="020B0604020202020204"/>
                <a:ea typeface="Arial" panose="020B0604020202020204"/>
                <a:cs typeface="Arial" panose="020B0604020202020204"/>
              </a:defRPr>
            </a:lvl5pPr>
            <a:lvl6pPr>
              <a:buNone/>
              <a:defRPr sz="3225" b="1">
                <a:solidFill>
                  <a:srgbClr val="102F24"/>
                </a:solidFill>
                <a:latin typeface="Arial" panose="020B0604020202020204"/>
                <a:ea typeface="Arial" panose="020B0604020202020204"/>
                <a:cs typeface="Arial" panose="020B0604020202020204"/>
              </a:defRPr>
            </a:lvl6pPr>
            <a:lvl7pPr>
              <a:buNone/>
              <a:defRPr sz="3225" b="1">
                <a:solidFill>
                  <a:srgbClr val="102F24"/>
                </a:solidFill>
                <a:latin typeface="Arial" panose="020B0604020202020204"/>
                <a:ea typeface="Arial" panose="020B0604020202020204"/>
                <a:cs typeface="Arial" panose="020B0604020202020204"/>
              </a:defRPr>
            </a:lvl7pPr>
            <a:lvl8pPr>
              <a:buNone/>
              <a:defRPr sz="3225" b="1">
                <a:solidFill>
                  <a:srgbClr val="102F24"/>
                </a:solidFill>
                <a:latin typeface="Arial" panose="020B0604020202020204"/>
                <a:ea typeface="Arial" panose="020B0604020202020204"/>
                <a:cs typeface="Arial" panose="020B0604020202020204"/>
              </a:defRPr>
            </a:lvl8pPr>
            <a:lvl9pPr>
              <a:buNone/>
              <a:defRPr sz="3225" b="1">
                <a:solidFill>
                  <a:srgbClr val="102F24"/>
                </a:solidFill>
                <a:latin typeface="Arial" panose="020B0604020202020204"/>
                <a:ea typeface="Arial" panose="020B0604020202020204"/>
                <a:cs typeface="Arial" panose="020B0604020202020204"/>
              </a:defRPr>
            </a:lvl9pPr>
          </a:lstStyle>
          <a:p>
            <a:pPr>
              <a:buNone/>
              <a:defRPr sz="3225" b="1">
                <a:solidFill>
                  <a:srgbClr val="102F24"/>
                </a:solidFill>
                <a:latin typeface="Arial" panose="020B0604020202020204"/>
                <a:ea typeface="Arial" panose="020B0604020202020204"/>
                <a:cs typeface="Arial" panose="020B0604020202020204"/>
              </a:defRPr>
            </a:pPr>
            <a:r>
              <a:rPr sz="3225" b="1">
                <a:solidFill>
                  <a:srgbClr val="102F24"/>
                </a:solidFill>
                <a:latin typeface="Arial" panose="020B0604020202020204"/>
                <a:ea typeface="Arial" panose="020B0604020202020204"/>
                <a:cs typeface="Arial" panose="020B0604020202020204"/>
              </a:rPr>
              <a:t>Why buy this when natural ventilation and exhaust fans already exist?</a:t>
            </a:r>
            <a:endParaRPr sz="3225" b="1">
              <a:solidFill>
                <a:srgbClr val="102F24"/>
              </a:solidFill>
              <a:latin typeface="Arial" panose="020B0604020202020204"/>
              <a:ea typeface="Arial" panose="020B0604020202020204"/>
              <a:cs typeface="Arial" panose="020B0604020202020204"/>
            </a:endParaRPr>
          </a:p>
        </p:txBody>
      </p:sp>
      <p:sp>
        <p:nvSpPr>
          <p:cNvPr id="4" name="09"/>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09</a:t>
            </a:r>
            <a:endParaRPr sz="1275" b="0">
              <a:solidFill>
                <a:srgbClr val="405B4E"/>
              </a:solidFill>
              <a:latin typeface="Arial" panose="020B0604020202020204"/>
              <a:ea typeface="Arial" panose="020B0604020202020204"/>
              <a:cs typeface="Arial" panose="020B0604020202020204"/>
            </a:endParaRPr>
          </a:p>
        </p:txBody>
      </p:sp>
      <p:sp>
        <p:nvSpPr>
          <p:cNvPr id="6" name="Natural ventilation works well when a building has suitable openings a"/>
          <p:cNvSpPr>
            <a:spLocks noGrp="1"/>
          </p:cNvSpPr>
          <p:nvPr/>
        </p:nvSpPr>
        <p:spPr>
          <a:xfrm>
            <a:off x="619125" y="2238375"/>
            <a:ext cx="10477500" cy="3257550"/>
          </a:xfrm>
          <a:prstGeom prst="rect">
            <a:avLst/>
          </a:prstGeom>
          <a:noFill/>
          <a:ln w="0">
            <a:noFill/>
          </a:ln>
        </p:spPr>
        <p:txBody>
          <a:bodyPr wrap="square" lIns="0" tIns="0" rIns="0" bIns="0" anchor="t">
            <a:noAutofit/>
          </a:bodyPr>
          <a:lstStyle>
            <a:defPPr>
              <a:defRPr sz="2475" b="0">
                <a:solidFill>
                  <a:srgbClr val="102F24"/>
                </a:solidFill>
                <a:latin typeface="Arial" panose="020B0604020202020204"/>
                <a:ea typeface="Arial" panose="020B0604020202020204"/>
                <a:cs typeface="Arial" panose="020B0604020202020204"/>
              </a:defRPr>
            </a:defPPr>
            <a:lvl1pPr>
              <a:buNone/>
              <a:defRPr sz="2475" b="0">
                <a:solidFill>
                  <a:srgbClr val="102F24"/>
                </a:solidFill>
                <a:latin typeface="Arial" panose="020B0604020202020204"/>
                <a:ea typeface="Arial" panose="020B0604020202020204"/>
                <a:cs typeface="Arial" panose="020B0604020202020204"/>
              </a:defRPr>
            </a:lvl1pPr>
            <a:lvl2pPr>
              <a:buNone/>
              <a:defRPr sz="2475" b="0">
                <a:solidFill>
                  <a:srgbClr val="102F24"/>
                </a:solidFill>
                <a:latin typeface="Arial" panose="020B0604020202020204"/>
                <a:ea typeface="Arial" panose="020B0604020202020204"/>
                <a:cs typeface="Arial" panose="020B0604020202020204"/>
              </a:defRPr>
            </a:lvl2pPr>
            <a:lvl3pPr>
              <a:buNone/>
              <a:defRPr sz="2475" b="0">
                <a:solidFill>
                  <a:srgbClr val="102F24"/>
                </a:solidFill>
                <a:latin typeface="Arial" panose="020B0604020202020204"/>
                <a:ea typeface="Arial" panose="020B0604020202020204"/>
                <a:cs typeface="Arial" panose="020B0604020202020204"/>
              </a:defRPr>
            </a:lvl3pPr>
            <a:lvl4pPr>
              <a:buNone/>
              <a:defRPr sz="2475" b="0">
                <a:solidFill>
                  <a:srgbClr val="102F24"/>
                </a:solidFill>
                <a:latin typeface="Arial" panose="020B0604020202020204"/>
                <a:ea typeface="Arial" panose="020B0604020202020204"/>
                <a:cs typeface="Arial" panose="020B0604020202020204"/>
              </a:defRPr>
            </a:lvl4pPr>
            <a:lvl5pPr>
              <a:buNone/>
              <a:defRPr sz="2475" b="0">
                <a:solidFill>
                  <a:srgbClr val="102F24"/>
                </a:solidFill>
                <a:latin typeface="Arial" panose="020B0604020202020204"/>
                <a:ea typeface="Arial" panose="020B0604020202020204"/>
                <a:cs typeface="Arial" panose="020B0604020202020204"/>
              </a:defRPr>
            </a:lvl5pPr>
            <a:lvl6pPr>
              <a:buNone/>
              <a:defRPr sz="2475" b="0">
                <a:solidFill>
                  <a:srgbClr val="102F24"/>
                </a:solidFill>
                <a:latin typeface="Arial" panose="020B0604020202020204"/>
                <a:ea typeface="Arial" panose="020B0604020202020204"/>
                <a:cs typeface="Arial" panose="020B0604020202020204"/>
              </a:defRPr>
            </a:lvl6pPr>
            <a:lvl7pPr>
              <a:buNone/>
              <a:defRPr sz="2475" b="0">
                <a:solidFill>
                  <a:srgbClr val="102F24"/>
                </a:solidFill>
                <a:latin typeface="Arial" panose="020B0604020202020204"/>
                <a:ea typeface="Arial" panose="020B0604020202020204"/>
                <a:cs typeface="Arial" panose="020B0604020202020204"/>
              </a:defRPr>
            </a:lvl7pPr>
            <a:lvl8pPr>
              <a:buNone/>
              <a:defRPr sz="2475" b="0">
                <a:solidFill>
                  <a:srgbClr val="102F24"/>
                </a:solidFill>
                <a:latin typeface="Arial" panose="020B0604020202020204"/>
                <a:ea typeface="Arial" panose="020B0604020202020204"/>
                <a:cs typeface="Arial" panose="020B0604020202020204"/>
              </a:defRPr>
            </a:lvl8pPr>
            <a:lvl9pPr>
              <a:buNone/>
              <a:defRPr sz="2475" b="0">
                <a:solidFill>
                  <a:srgbClr val="102F24"/>
                </a:solidFill>
                <a:latin typeface="Arial" panose="020B0604020202020204"/>
                <a:ea typeface="Arial" panose="020B0604020202020204"/>
                <a:cs typeface="Arial" panose="020B0604020202020204"/>
              </a:defRPr>
            </a:lvl9pPr>
          </a:lstStyle>
          <a:p>
            <a:pPr>
              <a:buNone/>
              <a:defRPr sz="2475" b="0">
                <a:solidFill>
                  <a:srgbClr val="102F24"/>
                </a:solidFill>
                <a:latin typeface="Arial" panose="020B0604020202020204"/>
                <a:ea typeface="Arial" panose="020B0604020202020204"/>
                <a:cs typeface="Arial" panose="020B0604020202020204"/>
              </a:defRPr>
            </a:pPr>
            <a:r>
              <a:rPr sz="2475" b="0">
                <a:solidFill>
                  <a:srgbClr val="102F24"/>
                </a:solidFill>
                <a:latin typeface="Arial" panose="020B0604020202020204"/>
                <a:ea typeface="Arial" panose="020B0604020202020204"/>
                <a:cs typeface="Arial" panose="020B0604020202020204"/>
              </a:rPr>
              <a:t>Natural ventilation works well when a building has suitable openings and enough wind. Our product targets buildings with poor airflow but an exposed, windy roof. It uses wind to help extract stale air, reducing powered-fan operation. Advanced mode adds solar assistance and battery backup. Our best customers are buildings needing ventilation for long hours , not buildings where opening a window already solves the problem.</a:t>
            </a:r>
            <a:endParaRPr sz="2475" b="0">
              <a:solidFill>
                <a:srgbClr val="102F24"/>
              </a:solidFill>
              <a:latin typeface="Arial" panose="020B0604020202020204"/>
              <a:ea typeface="Arial" panose="020B0604020202020204"/>
              <a:cs typeface="Arial" panose="020B0604020202020204"/>
            </a:endParaRPr>
          </a:p>
        </p:txBody>
      </p:sp>
      <p:sp>
        <p:nvSpPr>
          <p:cNvPr id="7" name="Performance depends on wind, the intake path and installation conditio"/>
          <p:cNvSpPr>
            <a:spLocks noGrp="1"/>
          </p:cNvSpPr>
          <p:nvPr/>
        </p:nvSpPr>
        <p:spPr>
          <a:xfrm>
            <a:off x="619125" y="5810250"/>
            <a:ext cx="10239375" cy="285750"/>
          </a:xfrm>
          <a:prstGeom prst="rect">
            <a:avLst/>
          </a:prstGeom>
          <a:noFill/>
          <a:ln w="0">
            <a:noFill/>
          </a:ln>
        </p:spPr>
        <p:txBody>
          <a:bodyPr wrap="square" lIns="0" tIns="0" rIns="0" bIns="0" anchor="t">
            <a:noAutofit/>
          </a:bodyPr>
          <a:lstStyle>
            <a:defPPr>
              <a:defRPr sz="1425" b="0">
                <a:solidFill>
                  <a:srgbClr val="405B4E"/>
                </a:solidFill>
                <a:latin typeface="Arial" panose="020B0604020202020204"/>
                <a:ea typeface="Arial" panose="020B0604020202020204"/>
                <a:cs typeface="Arial" panose="020B0604020202020204"/>
              </a:defRPr>
            </a:defPPr>
            <a:lvl1pPr>
              <a:buNone/>
              <a:defRPr sz="1425" b="0">
                <a:solidFill>
                  <a:srgbClr val="405B4E"/>
                </a:solidFill>
                <a:latin typeface="Arial" panose="020B0604020202020204"/>
                <a:ea typeface="Arial" panose="020B0604020202020204"/>
                <a:cs typeface="Arial" panose="020B0604020202020204"/>
              </a:defRPr>
            </a:lvl1pPr>
            <a:lvl2pPr>
              <a:buNone/>
              <a:defRPr sz="1425" b="0">
                <a:solidFill>
                  <a:srgbClr val="405B4E"/>
                </a:solidFill>
                <a:latin typeface="Arial" panose="020B0604020202020204"/>
                <a:ea typeface="Arial" panose="020B0604020202020204"/>
                <a:cs typeface="Arial" panose="020B0604020202020204"/>
              </a:defRPr>
            </a:lvl2pPr>
            <a:lvl3pPr>
              <a:buNone/>
              <a:defRPr sz="1425" b="0">
                <a:solidFill>
                  <a:srgbClr val="405B4E"/>
                </a:solidFill>
                <a:latin typeface="Arial" panose="020B0604020202020204"/>
                <a:ea typeface="Arial" panose="020B0604020202020204"/>
                <a:cs typeface="Arial" panose="020B0604020202020204"/>
              </a:defRPr>
            </a:lvl3pPr>
            <a:lvl4pPr>
              <a:buNone/>
              <a:defRPr sz="1425" b="0">
                <a:solidFill>
                  <a:srgbClr val="405B4E"/>
                </a:solidFill>
                <a:latin typeface="Arial" panose="020B0604020202020204"/>
                <a:ea typeface="Arial" panose="020B0604020202020204"/>
                <a:cs typeface="Arial" panose="020B0604020202020204"/>
              </a:defRPr>
            </a:lvl4pPr>
            <a:lvl5pPr>
              <a:buNone/>
              <a:defRPr sz="1425" b="0">
                <a:solidFill>
                  <a:srgbClr val="405B4E"/>
                </a:solidFill>
                <a:latin typeface="Arial" panose="020B0604020202020204"/>
                <a:ea typeface="Arial" panose="020B0604020202020204"/>
                <a:cs typeface="Arial" panose="020B0604020202020204"/>
              </a:defRPr>
            </a:lvl5pPr>
            <a:lvl6pPr>
              <a:buNone/>
              <a:defRPr sz="1425" b="0">
                <a:solidFill>
                  <a:srgbClr val="405B4E"/>
                </a:solidFill>
                <a:latin typeface="Arial" panose="020B0604020202020204"/>
                <a:ea typeface="Arial" panose="020B0604020202020204"/>
                <a:cs typeface="Arial" panose="020B0604020202020204"/>
              </a:defRPr>
            </a:lvl6pPr>
            <a:lvl7pPr>
              <a:buNone/>
              <a:defRPr sz="1425" b="0">
                <a:solidFill>
                  <a:srgbClr val="405B4E"/>
                </a:solidFill>
                <a:latin typeface="Arial" panose="020B0604020202020204"/>
                <a:ea typeface="Arial" panose="020B0604020202020204"/>
                <a:cs typeface="Arial" panose="020B0604020202020204"/>
              </a:defRPr>
            </a:lvl7pPr>
            <a:lvl8pPr>
              <a:buNone/>
              <a:defRPr sz="1425" b="0">
                <a:solidFill>
                  <a:srgbClr val="405B4E"/>
                </a:solidFill>
                <a:latin typeface="Arial" panose="020B0604020202020204"/>
                <a:ea typeface="Arial" panose="020B0604020202020204"/>
                <a:cs typeface="Arial" panose="020B0604020202020204"/>
              </a:defRPr>
            </a:lvl8pPr>
            <a:lvl9pPr>
              <a:buNone/>
              <a:defRPr sz="1425" b="0">
                <a:solidFill>
                  <a:srgbClr val="405B4E"/>
                </a:solidFill>
                <a:latin typeface="Arial" panose="020B0604020202020204"/>
                <a:ea typeface="Arial" panose="020B0604020202020204"/>
                <a:cs typeface="Arial" panose="020B0604020202020204"/>
              </a:defRPr>
            </a:lvl9pPr>
          </a:lstStyle>
          <a:p>
            <a:pPr>
              <a:buNone/>
              <a:defRPr sz="1425" b="0">
                <a:solidFill>
                  <a:srgbClr val="405B4E"/>
                </a:solidFill>
                <a:latin typeface="Arial" panose="020B0604020202020204"/>
                <a:ea typeface="Arial" panose="020B0604020202020204"/>
                <a:cs typeface="Arial" panose="020B0604020202020204"/>
              </a:defRPr>
            </a:pPr>
            <a:endParaRPr sz="1425" b="0">
              <a:solidFill>
                <a:srgbClr val="405B4E"/>
              </a:solidFill>
              <a:latin typeface="Arial" panose="020B0604020202020204"/>
              <a:ea typeface="Arial" panose="020B0604020202020204"/>
              <a:cs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buy ours instead of a ৳1,500 exhaust fa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Nirmala UI" panose="020B0502040204020203"/>
                <a:ea typeface="Nirmala UI" panose="020B0502040204020203"/>
                <a:cs typeface="Nirmala UI" panose="020B0502040204020203"/>
              </a:defRPr>
            </a:defPPr>
            <a:lvl1pPr>
              <a:buNone/>
              <a:defRPr sz="3225" b="1">
                <a:solidFill>
                  <a:srgbClr val="F4F3EB"/>
                </a:solidFill>
                <a:latin typeface="Nirmala UI" panose="020B0502040204020203"/>
                <a:ea typeface="Nirmala UI" panose="020B0502040204020203"/>
                <a:cs typeface="Nirmala UI" panose="020B0502040204020203"/>
              </a:defRPr>
            </a:lvl1pPr>
            <a:lvl2pPr>
              <a:buNone/>
              <a:defRPr sz="3225" b="1">
                <a:solidFill>
                  <a:srgbClr val="F4F3EB"/>
                </a:solidFill>
                <a:latin typeface="Nirmala UI" panose="020B0502040204020203"/>
                <a:ea typeface="Nirmala UI" panose="020B0502040204020203"/>
                <a:cs typeface="Nirmala UI" panose="020B0502040204020203"/>
              </a:defRPr>
            </a:lvl2pPr>
            <a:lvl3pPr>
              <a:buNone/>
              <a:defRPr sz="3225" b="1">
                <a:solidFill>
                  <a:srgbClr val="F4F3EB"/>
                </a:solidFill>
                <a:latin typeface="Nirmala UI" panose="020B0502040204020203"/>
                <a:ea typeface="Nirmala UI" panose="020B0502040204020203"/>
                <a:cs typeface="Nirmala UI" panose="020B0502040204020203"/>
              </a:defRPr>
            </a:lvl3pPr>
            <a:lvl4pPr>
              <a:buNone/>
              <a:defRPr sz="3225" b="1">
                <a:solidFill>
                  <a:srgbClr val="F4F3EB"/>
                </a:solidFill>
                <a:latin typeface="Nirmala UI" panose="020B0502040204020203"/>
                <a:ea typeface="Nirmala UI" panose="020B0502040204020203"/>
                <a:cs typeface="Nirmala UI" panose="020B0502040204020203"/>
              </a:defRPr>
            </a:lvl4pPr>
            <a:lvl5pPr>
              <a:buNone/>
              <a:defRPr sz="3225" b="1">
                <a:solidFill>
                  <a:srgbClr val="F4F3EB"/>
                </a:solidFill>
                <a:latin typeface="Nirmala UI" panose="020B0502040204020203"/>
                <a:ea typeface="Nirmala UI" panose="020B0502040204020203"/>
                <a:cs typeface="Nirmala UI" panose="020B0502040204020203"/>
              </a:defRPr>
            </a:lvl5pPr>
            <a:lvl6pPr>
              <a:buNone/>
              <a:defRPr sz="3225" b="1">
                <a:solidFill>
                  <a:srgbClr val="F4F3EB"/>
                </a:solidFill>
                <a:latin typeface="Nirmala UI" panose="020B0502040204020203"/>
                <a:ea typeface="Nirmala UI" panose="020B0502040204020203"/>
                <a:cs typeface="Nirmala UI" panose="020B0502040204020203"/>
              </a:defRPr>
            </a:lvl6pPr>
            <a:lvl7pPr>
              <a:buNone/>
              <a:defRPr sz="3225" b="1">
                <a:solidFill>
                  <a:srgbClr val="F4F3EB"/>
                </a:solidFill>
                <a:latin typeface="Nirmala UI" panose="020B0502040204020203"/>
                <a:ea typeface="Nirmala UI" panose="020B0502040204020203"/>
                <a:cs typeface="Nirmala UI" panose="020B0502040204020203"/>
              </a:defRPr>
            </a:lvl7pPr>
            <a:lvl8pPr>
              <a:buNone/>
              <a:defRPr sz="3225" b="1">
                <a:solidFill>
                  <a:srgbClr val="F4F3EB"/>
                </a:solidFill>
                <a:latin typeface="Nirmala UI" panose="020B0502040204020203"/>
                <a:ea typeface="Nirmala UI" panose="020B0502040204020203"/>
                <a:cs typeface="Nirmala UI" panose="020B0502040204020203"/>
              </a:defRPr>
            </a:lvl8pPr>
            <a:lvl9pPr>
              <a:buNone/>
              <a:defRPr sz="3225" b="1">
                <a:solidFill>
                  <a:srgbClr val="F4F3EB"/>
                </a:solidFill>
                <a:latin typeface="Nirmala UI" panose="020B0502040204020203"/>
                <a:ea typeface="Nirmala UI" panose="020B0502040204020203"/>
                <a:cs typeface="Nirmala UI" panose="020B0502040204020203"/>
              </a:defRPr>
            </a:lvl9pPr>
          </a:lstStyle>
          <a:p>
            <a:pPr>
              <a:buNone/>
              <a:defRPr sz="3225" b="1">
                <a:solidFill>
                  <a:srgbClr val="F4F3EB"/>
                </a:solidFill>
                <a:latin typeface="Nirmala UI" panose="020B0502040204020203"/>
                <a:ea typeface="Nirmala UI" panose="020B0502040204020203"/>
                <a:cs typeface="Nirmala UI" panose="020B0502040204020203"/>
              </a:defRPr>
            </a:pPr>
            <a:r>
              <a:rPr sz="3225" b="1">
                <a:solidFill>
                  <a:srgbClr val="F4F3EB"/>
                </a:solidFill>
                <a:latin typeface="Nirmala UI" panose="020B0502040204020203"/>
                <a:ea typeface="Nirmala UI" panose="020B0502040204020203"/>
                <a:cs typeface="Nirmala UI" panose="020B0502040204020203"/>
              </a:rPr>
              <a:t>Why buy ours instead of a ৳1,500 exhaust fan?</a:t>
            </a:r>
            <a:endParaRPr sz="3225" b="1">
              <a:solidFill>
                <a:srgbClr val="F4F3EB"/>
              </a:solidFill>
              <a:latin typeface="Nirmala UI" panose="020B0502040204020203"/>
              <a:ea typeface="Nirmala UI" panose="020B0502040204020203"/>
              <a:cs typeface="Nirmala UI" panose="020B0502040204020203"/>
            </a:endParaRPr>
          </a:p>
        </p:txBody>
      </p:sp>
      <p:sp>
        <p:nvSpPr>
          <p:cNvPr id="4" name="10"/>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10</a:t>
            </a:r>
            <a:endParaRPr sz="1275" b="0">
              <a:solidFill>
                <a:srgbClr val="D3E0D5"/>
              </a:solidFill>
              <a:latin typeface="Arial" panose="020B0604020202020204"/>
              <a:ea typeface="Arial" panose="020B0604020202020204"/>
              <a:cs typeface="Arial" panose="020B0604020202020204"/>
            </a:endParaRPr>
          </a:p>
        </p:txBody>
      </p:sp>
      <p:sp>
        <p:nvSpPr>
          <p:cNvPr id="6" name="Yeah, looking from the surface it is 1500tk but if we wanna calculate "/>
          <p:cNvSpPr>
            <a:spLocks noGrp="1"/>
          </p:cNvSpPr>
          <p:nvPr/>
        </p:nvSpPr>
        <p:spPr>
          <a:xfrm>
            <a:off x="619125" y="2276475"/>
            <a:ext cx="10477500" cy="3190875"/>
          </a:xfrm>
          <a:prstGeom prst="rect">
            <a:avLst/>
          </a:prstGeom>
          <a:noFill/>
          <a:ln w="0">
            <a:noFill/>
          </a:ln>
        </p:spPr>
        <p:txBody>
          <a:bodyPr wrap="square" lIns="0" tIns="0" rIns="0" bIns="0" anchor="t">
            <a:noAutofit/>
          </a:bodyPr>
          <a:lstStyle>
            <a:defPPr>
              <a:defRPr sz="2550" b="0">
                <a:solidFill>
                  <a:srgbClr val="F4F3EB"/>
                </a:solidFill>
                <a:latin typeface="Nirmala UI" panose="020B0502040204020203"/>
                <a:ea typeface="Nirmala UI" panose="020B0502040204020203"/>
                <a:cs typeface="Nirmala UI" panose="020B0502040204020203"/>
              </a:defRPr>
            </a:defPPr>
            <a:lvl1pPr>
              <a:buNone/>
              <a:defRPr sz="2550" b="0">
                <a:solidFill>
                  <a:srgbClr val="F4F3EB"/>
                </a:solidFill>
                <a:latin typeface="Nirmala UI" panose="020B0502040204020203"/>
                <a:ea typeface="Nirmala UI" panose="020B0502040204020203"/>
                <a:cs typeface="Nirmala UI" panose="020B0502040204020203"/>
              </a:defRPr>
            </a:lvl1pPr>
            <a:lvl2pPr>
              <a:buNone/>
              <a:defRPr sz="2550" b="0">
                <a:solidFill>
                  <a:srgbClr val="F4F3EB"/>
                </a:solidFill>
                <a:latin typeface="Nirmala UI" panose="020B0502040204020203"/>
                <a:ea typeface="Nirmala UI" panose="020B0502040204020203"/>
                <a:cs typeface="Nirmala UI" panose="020B0502040204020203"/>
              </a:defRPr>
            </a:lvl2pPr>
            <a:lvl3pPr>
              <a:buNone/>
              <a:defRPr sz="2550" b="0">
                <a:solidFill>
                  <a:srgbClr val="F4F3EB"/>
                </a:solidFill>
                <a:latin typeface="Nirmala UI" panose="020B0502040204020203"/>
                <a:ea typeface="Nirmala UI" panose="020B0502040204020203"/>
                <a:cs typeface="Nirmala UI" panose="020B0502040204020203"/>
              </a:defRPr>
            </a:lvl3pPr>
            <a:lvl4pPr>
              <a:buNone/>
              <a:defRPr sz="2550" b="0">
                <a:solidFill>
                  <a:srgbClr val="F4F3EB"/>
                </a:solidFill>
                <a:latin typeface="Nirmala UI" panose="020B0502040204020203"/>
                <a:ea typeface="Nirmala UI" panose="020B0502040204020203"/>
                <a:cs typeface="Nirmala UI" panose="020B0502040204020203"/>
              </a:defRPr>
            </a:lvl4pPr>
            <a:lvl5pPr>
              <a:buNone/>
              <a:defRPr sz="2550" b="0">
                <a:solidFill>
                  <a:srgbClr val="F4F3EB"/>
                </a:solidFill>
                <a:latin typeface="Nirmala UI" panose="020B0502040204020203"/>
                <a:ea typeface="Nirmala UI" panose="020B0502040204020203"/>
                <a:cs typeface="Nirmala UI" panose="020B0502040204020203"/>
              </a:defRPr>
            </a:lvl5pPr>
            <a:lvl6pPr>
              <a:buNone/>
              <a:defRPr sz="2550" b="0">
                <a:solidFill>
                  <a:srgbClr val="F4F3EB"/>
                </a:solidFill>
                <a:latin typeface="Nirmala UI" panose="020B0502040204020203"/>
                <a:ea typeface="Nirmala UI" panose="020B0502040204020203"/>
                <a:cs typeface="Nirmala UI" panose="020B0502040204020203"/>
              </a:defRPr>
            </a:lvl6pPr>
            <a:lvl7pPr>
              <a:buNone/>
              <a:defRPr sz="2550" b="0">
                <a:solidFill>
                  <a:srgbClr val="F4F3EB"/>
                </a:solidFill>
                <a:latin typeface="Nirmala UI" panose="020B0502040204020203"/>
                <a:ea typeface="Nirmala UI" panose="020B0502040204020203"/>
                <a:cs typeface="Nirmala UI" panose="020B0502040204020203"/>
              </a:defRPr>
            </a:lvl7pPr>
            <a:lvl8pPr>
              <a:buNone/>
              <a:defRPr sz="2550" b="0">
                <a:solidFill>
                  <a:srgbClr val="F4F3EB"/>
                </a:solidFill>
                <a:latin typeface="Nirmala UI" panose="020B0502040204020203"/>
                <a:ea typeface="Nirmala UI" panose="020B0502040204020203"/>
                <a:cs typeface="Nirmala UI" panose="020B0502040204020203"/>
              </a:defRPr>
            </a:lvl8pPr>
            <a:lvl9pPr>
              <a:buNone/>
              <a:defRPr sz="2550" b="0">
                <a:solidFill>
                  <a:srgbClr val="F4F3EB"/>
                </a:solidFill>
                <a:latin typeface="Nirmala UI" panose="020B0502040204020203"/>
                <a:ea typeface="Nirmala UI" panose="020B0502040204020203"/>
                <a:cs typeface="Nirmala UI" panose="020B0502040204020203"/>
              </a:defRPr>
            </a:lvl9pPr>
          </a:lstStyle>
          <a:p>
            <a:pPr>
              <a:buNone/>
              <a:defRPr sz="2550" b="0">
                <a:solidFill>
                  <a:srgbClr val="F4F3EB"/>
                </a:solidFill>
                <a:latin typeface="Nirmala UI" panose="020B0502040204020203"/>
                <a:ea typeface="Nirmala UI" panose="020B0502040204020203"/>
                <a:cs typeface="Nirmala UI" panose="020B0502040204020203"/>
              </a:defRPr>
            </a:pPr>
            <a:r>
              <a:rPr sz="2550" b="0">
                <a:solidFill>
                  <a:srgbClr val="F4F3EB"/>
                </a:solidFill>
                <a:latin typeface="Nirmala UI" panose="020B0502040204020203"/>
                <a:ea typeface="Nirmala UI" panose="020B0502040204020203"/>
                <a:cs typeface="Nirmala UI" panose="020B0502040204020203"/>
              </a:rPr>
              <a:t>Yeah, looking from the surface it is 1500tk but if we wanna calculate the electricity bill it may draws about 2400tk yearly(considering 55W fan running 12hours daily) and electricity bill is increasing rapidly. Whereas our system may have higher initial cost but it can reduce the electricity bill and it has a payback period of only 2.5 years.</a:t>
            </a:r>
            <a:endParaRPr sz="2550" b="0">
              <a:solidFill>
                <a:srgbClr val="F4F3EB"/>
              </a:solidFill>
              <a:latin typeface="Nirmala UI" panose="020B0502040204020203"/>
              <a:ea typeface="Nirmala UI" panose="020B0502040204020203"/>
              <a:cs typeface="Nirmala UI" panose="020B0502040204020203"/>
            </a:endParaRPr>
          </a:p>
        </p:txBody>
      </p:sp>
      <p:sp>
        <p:nvSpPr>
          <p:cNvPr id="7" name="Team estimate. The stated payback is illustrative and has not been fie"/>
          <p:cNvSpPr>
            <a:spLocks noGrp="1"/>
          </p:cNvSpPr>
          <p:nvPr/>
        </p:nvSpPr>
        <p:spPr>
          <a:xfrm>
            <a:off x="619125" y="5810250"/>
            <a:ext cx="10239375" cy="381000"/>
          </a:xfrm>
          <a:prstGeom prst="rect">
            <a:avLst/>
          </a:prstGeom>
          <a:noFill/>
          <a:ln w="0">
            <a:noFill/>
          </a:ln>
        </p:spPr>
        <p:txBody>
          <a:bodyPr wrap="square" lIns="0" tIns="0" rIns="0" bIns="0" anchor="t">
            <a:noAutofit/>
          </a:bodyPr>
          <a:lstStyle>
            <a:defPPr>
              <a:defRPr sz="1425" b="0">
                <a:solidFill>
                  <a:srgbClr val="D3E0D5"/>
                </a:solidFill>
                <a:latin typeface="Arial" panose="020B0604020202020204"/>
                <a:ea typeface="Arial" panose="020B0604020202020204"/>
                <a:cs typeface="Arial" panose="020B0604020202020204"/>
              </a:defRPr>
            </a:defPPr>
            <a:lvl1pPr>
              <a:buNone/>
              <a:defRPr sz="1425" b="0">
                <a:solidFill>
                  <a:srgbClr val="D3E0D5"/>
                </a:solidFill>
                <a:latin typeface="Arial" panose="020B0604020202020204"/>
                <a:ea typeface="Arial" panose="020B0604020202020204"/>
                <a:cs typeface="Arial" panose="020B0604020202020204"/>
              </a:defRPr>
            </a:lvl1pPr>
            <a:lvl2pPr>
              <a:buNone/>
              <a:defRPr sz="1425" b="0">
                <a:solidFill>
                  <a:srgbClr val="D3E0D5"/>
                </a:solidFill>
                <a:latin typeface="Arial" panose="020B0604020202020204"/>
                <a:ea typeface="Arial" panose="020B0604020202020204"/>
                <a:cs typeface="Arial" panose="020B0604020202020204"/>
              </a:defRPr>
            </a:lvl2pPr>
            <a:lvl3pPr>
              <a:buNone/>
              <a:defRPr sz="1425" b="0">
                <a:solidFill>
                  <a:srgbClr val="D3E0D5"/>
                </a:solidFill>
                <a:latin typeface="Arial" panose="020B0604020202020204"/>
                <a:ea typeface="Arial" panose="020B0604020202020204"/>
                <a:cs typeface="Arial" panose="020B0604020202020204"/>
              </a:defRPr>
            </a:lvl3pPr>
            <a:lvl4pPr>
              <a:buNone/>
              <a:defRPr sz="1425" b="0">
                <a:solidFill>
                  <a:srgbClr val="D3E0D5"/>
                </a:solidFill>
                <a:latin typeface="Arial" panose="020B0604020202020204"/>
                <a:ea typeface="Arial" panose="020B0604020202020204"/>
                <a:cs typeface="Arial" panose="020B0604020202020204"/>
              </a:defRPr>
            </a:lvl4pPr>
            <a:lvl5pPr>
              <a:buNone/>
              <a:defRPr sz="1425" b="0">
                <a:solidFill>
                  <a:srgbClr val="D3E0D5"/>
                </a:solidFill>
                <a:latin typeface="Arial" panose="020B0604020202020204"/>
                <a:ea typeface="Arial" panose="020B0604020202020204"/>
                <a:cs typeface="Arial" panose="020B0604020202020204"/>
              </a:defRPr>
            </a:lvl5pPr>
            <a:lvl6pPr>
              <a:buNone/>
              <a:defRPr sz="1425" b="0">
                <a:solidFill>
                  <a:srgbClr val="D3E0D5"/>
                </a:solidFill>
                <a:latin typeface="Arial" panose="020B0604020202020204"/>
                <a:ea typeface="Arial" panose="020B0604020202020204"/>
                <a:cs typeface="Arial" panose="020B0604020202020204"/>
              </a:defRPr>
            </a:lvl6pPr>
            <a:lvl7pPr>
              <a:buNone/>
              <a:defRPr sz="1425" b="0">
                <a:solidFill>
                  <a:srgbClr val="D3E0D5"/>
                </a:solidFill>
                <a:latin typeface="Arial" panose="020B0604020202020204"/>
                <a:ea typeface="Arial" panose="020B0604020202020204"/>
                <a:cs typeface="Arial" panose="020B0604020202020204"/>
              </a:defRPr>
            </a:lvl7pPr>
            <a:lvl8pPr>
              <a:buNone/>
              <a:defRPr sz="1425" b="0">
                <a:solidFill>
                  <a:srgbClr val="D3E0D5"/>
                </a:solidFill>
                <a:latin typeface="Arial" panose="020B0604020202020204"/>
                <a:ea typeface="Arial" panose="020B0604020202020204"/>
                <a:cs typeface="Arial" panose="020B0604020202020204"/>
              </a:defRPr>
            </a:lvl8pPr>
            <a:lvl9pPr>
              <a:buNone/>
              <a:defRPr sz="1425" b="0">
                <a:solidFill>
                  <a:srgbClr val="D3E0D5"/>
                </a:solidFill>
                <a:latin typeface="Arial" panose="020B0604020202020204"/>
                <a:ea typeface="Arial" panose="020B0604020202020204"/>
                <a:cs typeface="Arial" panose="020B0604020202020204"/>
              </a:defRPr>
            </a:lvl9pPr>
          </a:lstStyle>
          <a:p>
            <a:pPr>
              <a:buNone/>
              <a:defRPr sz="1425" b="0">
                <a:solidFill>
                  <a:srgbClr val="D3E0D5"/>
                </a:solidFill>
                <a:latin typeface="Arial" panose="020B0604020202020204"/>
                <a:ea typeface="Arial" panose="020B0604020202020204"/>
                <a:cs typeface="Arial" panose="020B0604020202020204"/>
              </a:defRPr>
            </a:pPr>
            <a:endParaRPr sz="1425" b="0">
              <a:solidFill>
                <a:srgbClr val="D3E0D5"/>
              </a:solidFill>
              <a:latin typeface="Arial" panose="020B0604020202020204"/>
              <a:ea typeface="Arial" panose="020B0604020202020204"/>
              <a:cs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F3EB"/>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hy would a fish farmer buy the pond-aeration version?"/>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102F24"/>
                </a:solidFill>
                <a:latin typeface="Arial" panose="020B0604020202020204"/>
                <a:ea typeface="Arial" panose="020B0604020202020204"/>
                <a:cs typeface="Arial" panose="020B0604020202020204"/>
              </a:defRPr>
            </a:defPPr>
            <a:lvl1pPr>
              <a:buNone/>
              <a:defRPr sz="3225" b="1">
                <a:solidFill>
                  <a:srgbClr val="102F24"/>
                </a:solidFill>
                <a:latin typeface="Arial" panose="020B0604020202020204"/>
                <a:ea typeface="Arial" panose="020B0604020202020204"/>
                <a:cs typeface="Arial" panose="020B0604020202020204"/>
              </a:defRPr>
            </a:lvl1pPr>
            <a:lvl2pPr>
              <a:buNone/>
              <a:defRPr sz="3225" b="1">
                <a:solidFill>
                  <a:srgbClr val="102F24"/>
                </a:solidFill>
                <a:latin typeface="Arial" panose="020B0604020202020204"/>
                <a:ea typeface="Arial" panose="020B0604020202020204"/>
                <a:cs typeface="Arial" panose="020B0604020202020204"/>
              </a:defRPr>
            </a:lvl2pPr>
            <a:lvl3pPr>
              <a:buNone/>
              <a:defRPr sz="3225" b="1">
                <a:solidFill>
                  <a:srgbClr val="102F24"/>
                </a:solidFill>
                <a:latin typeface="Arial" panose="020B0604020202020204"/>
                <a:ea typeface="Arial" panose="020B0604020202020204"/>
                <a:cs typeface="Arial" panose="020B0604020202020204"/>
              </a:defRPr>
            </a:lvl3pPr>
            <a:lvl4pPr>
              <a:buNone/>
              <a:defRPr sz="3225" b="1">
                <a:solidFill>
                  <a:srgbClr val="102F24"/>
                </a:solidFill>
                <a:latin typeface="Arial" panose="020B0604020202020204"/>
                <a:ea typeface="Arial" panose="020B0604020202020204"/>
                <a:cs typeface="Arial" panose="020B0604020202020204"/>
              </a:defRPr>
            </a:lvl4pPr>
            <a:lvl5pPr>
              <a:buNone/>
              <a:defRPr sz="3225" b="1">
                <a:solidFill>
                  <a:srgbClr val="102F24"/>
                </a:solidFill>
                <a:latin typeface="Arial" panose="020B0604020202020204"/>
                <a:ea typeface="Arial" panose="020B0604020202020204"/>
                <a:cs typeface="Arial" panose="020B0604020202020204"/>
              </a:defRPr>
            </a:lvl5pPr>
            <a:lvl6pPr>
              <a:buNone/>
              <a:defRPr sz="3225" b="1">
                <a:solidFill>
                  <a:srgbClr val="102F24"/>
                </a:solidFill>
                <a:latin typeface="Arial" panose="020B0604020202020204"/>
                <a:ea typeface="Arial" panose="020B0604020202020204"/>
                <a:cs typeface="Arial" panose="020B0604020202020204"/>
              </a:defRPr>
            </a:lvl6pPr>
            <a:lvl7pPr>
              <a:buNone/>
              <a:defRPr sz="3225" b="1">
                <a:solidFill>
                  <a:srgbClr val="102F24"/>
                </a:solidFill>
                <a:latin typeface="Arial" panose="020B0604020202020204"/>
                <a:ea typeface="Arial" panose="020B0604020202020204"/>
                <a:cs typeface="Arial" panose="020B0604020202020204"/>
              </a:defRPr>
            </a:lvl7pPr>
            <a:lvl8pPr>
              <a:buNone/>
              <a:defRPr sz="3225" b="1">
                <a:solidFill>
                  <a:srgbClr val="102F24"/>
                </a:solidFill>
                <a:latin typeface="Arial" panose="020B0604020202020204"/>
                <a:ea typeface="Arial" panose="020B0604020202020204"/>
                <a:cs typeface="Arial" panose="020B0604020202020204"/>
              </a:defRPr>
            </a:lvl8pPr>
            <a:lvl9pPr>
              <a:buNone/>
              <a:defRPr sz="3225" b="1">
                <a:solidFill>
                  <a:srgbClr val="102F24"/>
                </a:solidFill>
                <a:latin typeface="Arial" panose="020B0604020202020204"/>
                <a:ea typeface="Arial" panose="020B0604020202020204"/>
                <a:cs typeface="Arial" panose="020B0604020202020204"/>
              </a:defRPr>
            </a:lvl9pPr>
          </a:lstStyle>
          <a:p>
            <a:pPr>
              <a:buNone/>
              <a:defRPr sz="3225" b="1">
                <a:solidFill>
                  <a:srgbClr val="102F24"/>
                </a:solidFill>
                <a:latin typeface="Arial" panose="020B0604020202020204"/>
                <a:ea typeface="Arial" panose="020B0604020202020204"/>
                <a:cs typeface="Arial" panose="020B0604020202020204"/>
              </a:defRPr>
            </a:pPr>
            <a:r>
              <a:rPr sz="3225" b="1">
                <a:solidFill>
                  <a:srgbClr val="102F24"/>
                </a:solidFill>
                <a:latin typeface="Arial" panose="020B0604020202020204"/>
                <a:ea typeface="Arial" panose="020B0604020202020204"/>
                <a:cs typeface="Arial" panose="020B0604020202020204"/>
              </a:rPr>
              <a:t>Why would a fish farmer buy the pond-aeration version?</a:t>
            </a:r>
            <a:endParaRPr sz="3225" b="1">
              <a:solidFill>
                <a:srgbClr val="102F24"/>
              </a:solidFill>
              <a:latin typeface="Arial" panose="020B0604020202020204"/>
              <a:ea typeface="Arial" panose="020B0604020202020204"/>
              <a:cs typeface="Arial" panose="020B0604020202020204"/>
            </a:endParaRPr>
          </a:p>
        </p:txBody>
      </p:sp>
      <p:sp>
        <p:nvSpPr>
          <p:cNvPr id="4" name="11"/>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405B4E"/>
                </a:solidFill>
                <a:latin typeface="Arial" panose="020B0604020202020204"/>
                <a:ea typeface="Arial" panose="020B0604020202020204"/>
                <a:cs typeface="Arial" panose="020B0604020202020204"/>
              </a:defRPr>
            </a:defPPr>
            <a:lvl1pPr>
              <a:buNone/>
              <a:defRPr sz="1275" b="0">
                <a:solidFill>
                  <a:srgbClr val="405B4E"/>
                </a:solidFill>
                <a:latin typeface="Arial" panose="020B0604020202020204"/>
                <a:ea typeface="Arial" panose="020B0604020202020204"/>
                <a:cs typeface="Arial" panose="020B0604020202020204"/>
              </a:defRPr>
            </a:lvl1pPr>
            <a:lvl2pPr>
              <a:buNone/>
              <a:defRPr sz="1275" b="0">
                <a:solidFill>
                  <a:srgbClr val="405B4E"/>
                </a:solidFill>
                <a:latin typeface="Arial" panose="020B0604020202020204"/>
                <a:ea typeface="Arial" panose="020B0604020202020204"/>
                <a:cs typeface="Arial" panose="020B0604020202020204"/>
              </a:defRPr>
            </a:lvl2pPr>
            <a:lvl3pPr>
              <a:buNone/>
              <a:defRPr sz="1275" b="0">
                <a:solidFill>
                  <a:srgbClr val="405B4E"/>
                </a:solidFill>
                <a:latin typeface="Arial" panose="020B0604020202020204"/>
                <a:ea typeface="Arial" panose="020B0604020202020204"/>
                <a:cs typeface="Arial" panose="020B0604020202020204"/>
              </a:defRPr>
            </a:lvl3pPr>
            <a:lvl4pPr>
              <a:buNone/>
              <a:defRPr sz="1275" b="0">
                <a:solidFill>
                  <a:srgbClr val="405B4E"/>
                </a:solidFill>
                <a:latin typeface="Arial" panose="020B0604020202020204"/>
                <a:ea typeface="Arial" panose="020B0604020202020204"/>
                <a:cs typeface="Arial" panose="020B0604020202020204"/>
              </a:defRPr>
            </a:lvl4pPr>
            <a:lvl5pPr>
              <a:buNone/>
              <a:defRPr sz="1275" b="0">
                <a:solidFill>
                  <a:srgbClr val="405B4E"/>
                </a:solidFill>
                <a:latin typeface="Arial" panose="020B0604020202020204"/>
                <a:ea typeface="Arial" panose="020B0604020202020204"/>
                <a:cs typeface="Arial" panose="020B0604020202020204"/>
              </a:defRPr>
            </a:lvl5pPr>
            <a:lvl6pPr>
              <a:buNone/>
              <a:defRPr sz="1275" b="0">
                <a:solidFill>
                  <a:srgbClr val="405B4E"/>
                </a:solidFill>
                <a:latin typeface="Arial" panose="020B0604020202020204"/>
                <a:ea typeface="Arial" panose="020B0604020202020204"/>
                <a:cs typeface="Arial" panose="020B0604020202020204"/>
              </a:defRPr>
            </a:lvl6pPr>
            <a:lvl7pPr>
              <a:buNone/>
              <a:defRPr sz="1275" b="0">
                <a:solidFill>
                  <a:srgbClr val="405B4E"/>
                </a:solidFill>
                <a:latin typeface="Arial" panose="020B0604020202020204"/>
                <a:ea typeface="Arial" panose="020B0604020202020204"/>
                <a:cs typeface="Arial" panose="020B0604020202020204"/>
              </a:defRPr>
            </a:lvl7pPr>
            <a:lvl8pPr>
              <a:buNone/>
              <a:defRPr sz="1275" b="0">
                <a:solidFill>
                  <a:srgbClr val="405B4E"/>
                </a:solidFill>
                <a:latin typeface="Arial" panose="020B0604020202020204"/>
                <a:ea typeface="Arial" panose="020B0604020202020204"/>
                <a:cs typeface="Arial" panose="020B0604020202020204"/>
              </a:defRPr>
            </a:lvl8pPr>
            <a:lvl9pPr>
              <a:buNone/>
              <a:defRPr sz="1275" b="0">
                <a:solidFill>
                  <a:srgbClr val="405B4E"/>
                </a:solidFill>
                <a:latin typeface="Arial" panose="020B0604020202020204"/>
                <a:ea typeface="Arial" panose="020B0604020202020204"/>
                <a:cs typeface="Arial" panose="020B0604020202020204"/>
              </a:defRPr>
            </a:lvl9pPr>
          </a:lstStyle>
          <a:p>
            <a:pPr>
              <a:buNone/>
              <a:defRPr sz="1275" b="0">
                <a:solidFill>
                  <a:srgbClr val="405B4E"/>
                </a:solidFill>
                <a:latin typeface="Arial" panose="020B0604020202020204"/>
                <a:ea typeface="Arial" panose="020B0604020202020204"/>
                <a:cs typeface="Arial" panose="020B0604020202020204"/>
              </a:defRPr>
            </a:pPr>
            <a:r>
              <a:rPr sz="1275" b="0">
                <a:solidFill>
                  <a:srgbClr val="405B4E"/>
                </a:solidFill>
                <a:latin typeface="Arial" panose="020B0604020202020204"/>
                <a:ea typeface="Arial" panose="020B0604020202020204"/>
                <a:cs typeface="Arial" panose="020B0604020202020204"/>
              </a:rPr>
              <a:t>11</a:t>
            </a:r>
            <a:endParaRPr sz="1275" b="0">
              <a:solidFill>
                <a:srgbClr val="405B4E"/>
              </a:solidFill>
              <a:latin typeface="Arial" panose="020B0604020202020204"/>
              <a:ea typeface="Arial" panose="020B0604020202020204"/>
              <a:cs typeface="Arial" panose="020B0604020202020204"/>
            </a:endParaRPr>
          </a:p>
        </p:txBody>
      </p:sp>
      <p:sp>
        <p:nvSpPr>
          <p:cNvPr id="5" name="FAQ"/>
          <p:cNvSpPr>
            <a:spLocks noGrp="1"/>
          </p:cNvSpPr>
          <p:nvPr/>
        </p:nvSpPr>
        <p:spPr>
          <a:xfrm>
            <a:off x="619125" y="1571625"/>
            <a:ext cx="1905000" cy="333375"/>
          </a:xfrm>
          <a:prstGeom prst="rect">
            <a:avLst/>
          </a:prstGeom>
          <a:noFill/>
          <a:ln w="0">
            <a:noFill/>
          </a:ln>
        </p:spPr>
        <p:txBody>
          <a:bodyPr wrap="square" lIns="0" tIns="0" rIns="0" bIns="0" anchor="t">
            <a:noAutofit/>
          </a:bodyPr>
          <a:lstStyle>
            <a:defPPr>
              <a:defRPr sz="1875" b="1">
                <a:solidFill>
                  <a:srgbClr val="405B4E"/>
                </a:solidFill>
                <a:latin typeface="Arial" panose="020B0604020202020204"/>
                <a:ea typeface="Arial" panose="020B0604020202020204"/>
                <a:cs typeface="Arial" panose="020B0604020202020204"/>
              </a:defRPr>
            </a:defPPr>
            <a:lvl1pPr>
              <a:buNone/>
              <a:defRPr sz="1875" b="1">
                <a:solidFill>
                  <a:srgbClr val="405B4E"/>
                </a:solidFill>
                <a:latin typeface="Arial" panose="020B0604020202020204"/>
                <a:ea typeface="Arial" panose="020B0604020202020204"/>
                <a:cs typeface="Arial" panose="020B0604020202020204"/>
              </a:defRPr>
            </a:lvl1pPr>
            <a:lvl2pPr>
              <a:buNone/>
              <a:defRPr sz="1875" b="1">
                <a:solidFill>
                  <a:srgbClr val="405B4E"/>
                </a:solidFill>
                <a:latin typeface="Arial" panose="020B0604020202020204"/>
                <a:ea typeface="Arial" panose="020B0604020202020204"/>
                <a:cs typeface="Arial" panose="020B0604020202020204"/>
              </a:defRPr>
            </a:lvl2pPr>
            <a:lvl3pPr>
              <a:buNone/>
              <a:defRPr sz="1875" b="1">
                <a:solidFill>
                  <a:srgbClr val="405B4E"/>
                </a:solidFill>
                <a:latin typeface="Arial" panose="020B0604020202020204"/>
                <a:ea typeface="Arial" panose="020B0604020202020204"/>
                <a:cs typeface="Arial" panose="020B0604020202020204"/>
              </a:defRPr>
            </a:lvl3pPr>
            <a:lvl4pPr>
              <a:buNone/>
              <a:defRPr sz="1875" b="1">
                <a:solidFill>
                  <a:srgbClr val="405B4E"/>
                </a:solidFill>
                <a:latin typeface="Arial" panose="020B0604020202020204"/>
                <a:ea typeface="Arial" panose="020B0604020202020204"/>
                <a:cs typeface="Arial" panose="020B0604020202020204"/>
              </a:defRPr>
            </a:lvl4pPr>
            <a:lvl5pPr>
              <a:buNone/>
              <a:defRPr sz="1875" b="1">
                <a:solidFill>
                  <a:srgbClr val="405B4E"/>
                </a:solidFill>
                <a:latin typeface="Arial" panose="020B0604020202020204"/>
                <a:ea typeface="Arial" panose="020B0604020202020204"/>
                <a:cs typeface="Arial" panose="020B0604020202020204"/>
              </a:defRPr>
            </a:lvl5pPr>
            <a:lvl6pPr>
              <a:buNone/>
              <a:defRPr sz="1875" b="1">
                <a:solidFill>
                  <a:srgbClr val="405B4E"/>
                </a:solidFill>
                <a:latin typeface="Arial" panose="020B0604020202020204"/>
                <a:ea typeface="Arial" panose="020B0604020202020204"/>
                <a:cs typeface="Arial" panose="020B0604020202020204"/>
              </a:defRPr>
            </a:lvl6pPr>
            <a:lvl7pPr>
              <a:buNone/>
              <a:defRPr sz="1875" b="1">
                <a:solidFill>
                  <a:srgbClr val="405B4E"/>
                </a:solidFill>
                <a:latin typeface="Arial" panose="020B0604020202020204"/>
                <a:ea typeface="Arial" panose="020B0604020202020204"/>
                <a:cs typeface="Arial" panose="020B0604020202020204"/>
              </a:defRPr>
            </a:lvl7pPr>
            <a:lvl8pPr>
              <a:buNone/>
              <a:defRPr sz="1875" b="1">
                <a:solidFill>
                  <a:srgbClr val="405B4E"/>
                </a:solidFill>
                <a:latin typeface="Arial" panose="020B0604020202020204"/>
                <a:ea typeface="Arial" panose="020B0604020202020204"/>
                <a:cs typeface="Arial" panose="020B0604020202020204"/>
              </a:defRPr>
            </a:lvl8pPr>
            <a:lvl9pPr>
              <a:buNone/>
              <a:defRPr sz="1875" b="1">
                <a:solidFill>
                  <a:srgbClr val="405B4E"/>
                </a:solidFill>
                <a:latin typeface="Arial" panose="020B0604020202020204"/>
                <a:ea typeface="Arial" panose="020B0604020202020204"/>
                <a:cs typeface="Arial" panose="020B0604020202020204"/>
              </a:defRPr>
            </a:lvl9pPr>
          </a:lstStyle>
          <a:p>
            <a:pPr>
              <a:buNone/>
              <a:defRPr sz="1875" b="1">
                <a:solidFill>
                  <a:srgbClr val="405B4E"/>
                </a:solidFill>
                <a:latin typeface="Arial" panose="020B0604020202020204"/>
                <a:ea typeface="Arial" panose="020B0604020202020204"/>
                <a:cs typeface="Arial" panose="020B0604020202020204"/>
              </a:defRPr>
            </a:pPr>
            <a:endParaRPr sz="1875" b="1">
              <a:solidFill>
                <a:srgbClr val="405B4E"/>
              </a:solidFill>
              <a:latin typeface="Arial" panose="020B0604020202020204"/>
              <a:ea typeface="Arial" panose="020B0604020202020204"/>
              <a:cs typeface="Arial" panose="020B0604020202020204"/>
            </a:endParaRPr>
          </a:p>
        </p:txBody>
      </p:sp>
      <p:sp>
        <p:nvSpPr>
          <p:cNvPr id="6" name="Our initial aim is supplementary aeration that reduces some powered op"/>
          <p:cNvSpPr>
            <a:spLocks noGrp="1"/>
          </p:cNvSpPr>
          <p:nvPr/>
        </p:nvSpPr>
        <p:spPr>
          <a:xfrm>
            <a:off x="619125" y="2085975"/>
            <a:ext cx="10620375" cy="3790950"/>
          </a:xfrm>
          <a:prstGeom prst="rect">
            <a:avLst/>
          </a:prstGeom>
          <a:noFill/>
          <a:ln w="0">
            <a:noFill/>
          </a:ln>
        </p:spPr>
        <p:txBody>
          <a:bodyPr wrap="square" lIns="0" tIns="0" rIns="0" bIns="0" anchor="t">
            <a:noAutofit/>
          </a:bodyPr>
          <a:lstStyle>
            <a:defPPr>
              <a:defRPr sz="1950" b="0">
                <a:solidFill>
                  <a:srgbClr val="102F24"/>
                </a:solidFill>
                <a:latin typeface="Nirmala UI" panose="020B0502040204020203"/>
                <a:ea typeface="Nirmala UI" panose="020B0502040204020203"/>
                <a:cs typeface="Nirmala UI" panose="020B0502040204020203"/>
              </a:defRPr>
            </a:defPPr>
            <a:lvl1pPr>
              <a:buNone/>
              <a:defRPr sz="1950" b="0">
                <a:solidFill>
                  <a:srgbClr val="102F24"/>
                </a:solidFill>
                <a:latin typeface="Nirmala UI" panose="020B0502040204020203"/>
                <a:ea typeface="Nirmala UI" panose="020B0502040204020203"/>
                <a:cs typeface="Nirmala UI" panose="020B0502040204020203"/>
              </a:defRPr>
            </a:lvl1pPr>
            <a:lvl2pPr>
              <a:buNone/>
              <a:defRPr sz="1950" b="0">
                <a:solidFill>
                  <a:srgbClr val="102F24"/>
                </a:solidFill>
                <a:latin typeface="Nirmala UI" panose="020B0502040204020203"/>
                <a:ea typeface="Nirmala UI" panose="020B0502040204020203"/>
                <a:cs typeface="Nirmala UI" panose="020B0502040204020203"/>
              </a:defRPr>
            </a:lvl2pPr>
            <a:lvl3pPr>
              <a:buNone/>
              <a:defRPr sz="1950" b="0">
                <a:solidFill>
                  <a:srgbClr val="102F24"/>
                </a:solidFill>
                <a:latin typeface="Nirmala UI" panose="020B0502040204020203"/>
                <a:ea typeface="Nirmala UI" panose="020B0502040204020203"/>
                <a:cs typeface="Nirmala UI" panose="020B0502040204020203"/>
              </a:defRPr>
            </a:lvl3pPr>
            <a:lvl4pPr>
              <a:buNone/>
              <a:defRPr sz="1950" b="0">
                <a:solidFill>
                  <a:srgbClr val="102F24"/>
                </a:solidFill>
                <a:latin typeface="Nirmala UI" panose="020B0502040204020203"/>
                <a:ea typeface="Nirmala UI" panose="020B0502040204020203"/>
                <a:cs typeface="Nirmala UI" panose="020B0502040204020203"/>
              </a:defRPr>
            </a:lvl4pPr>
            <a:lvl5pPr>
              <a:buNone/>
              <a:defRPr sz="1950" b="0">
                <a:solidFill>
                  <a:srgbClr val="102F24"/>
                </a:solidFill>
                <a:latin typeface="Nirmala UI" panose="020B0502040204020203"/>
                <a:ea typeface="Nirmala UI" panose="020B0502040204020203"/>
                <a:cs typeface="Nirmala UI" panose="020B0502040204020203"/>
              </a:defRPr>
            </a:lvl5pPr>
            <a:lvl6pPr>
              <a:buNone/>
              <a:defRPr sz="1950" b="0">
                <a:solidFill>
                  <a:srgbClr val="102F24"/>
                </a:solidFill>
                <a:latin typeface="Nirmala UI" panose="020B0502040204020203"/>
                <a:ea typeface="Nirmala UI" panose="020B0502040204020203"/>
                <a:cs typeface="Nirmala UI" panose="020B0502040204020203"/>
              </a:defRPr>
            </a:lvl6pPr>
            <a:lvl7pPr>
              <a:buNone/>
              <a:defRPr sz="1950" b="0">
                <a:solidFill>
                  <a:srgbClr val="102F24"/>
                </a:solidFill>
                <a:latin typeface="Nirmala UI" panose="020B0502040204020203"/>
                <a:ea typeface="Nirmala UI" panose="020B0502040204020203"/>
                <a:cs typeface="Nirmala UI" panose="020B0502040204020203"/>
              </a:defRPr>
            </a:lvl7pPr>
            <a:lvl8pPr>
              <a:buNone/>
              <a:defRPr sz="1950" b="0">
                <a:solidFill>
                  <a:srgbClr val="102F24"/>
                </a:solidFill>
                <a:latin typeface="Nirmala UI" panose="020B0502040204020203"/>
                <a:ea typeface="Nirmala UI" panose="020B0502040204020203"/>
                <a:cs typeface="Nirmala UI" panose="020B0502040204020203"/>
              </a:defRPr>
            </a:lvl8pPr>
            <a:lvl9pPr>
              <a:buNone/>
              <a:defRPr sz="1950" b="0">
                <a:solidFill>
                  <a:srgbClr val="102F24"/>
                </a:solidFill>
                <a:latin typeface="Nirmala UI" panose="020B0502040204020203"/>
                <a:ea typeface="Nirmala UI" panose="020B0502040204020203"/>
                <a:cs typeface="Nirmala UI" panose="020B0502040204020203"/>
              </a:defRPr>
            </a:lvl9pPr>
          </a:lstStyle>
          <a:p>
            <a:pPr>
              <a:buNone/>
              <a:defRPr sz="1950" b="0">
                <a:solidFill>
                  <a:srgbClr val="102F24"/>
                </a:solidFill>
                <a:latin typeface="Nirmala UI" panose="020B0502040204020203"/>
                <a:ea typeface="Nirmala UI" panose="020B0502040204020203"/>
                <a:cs typeface="Nirmala UI" panose="020B0502040204020203"/>
              </a:defRPr>
            </a:pPr>
            <a:r>
              <a:rPr sz="1950" b="0">
                <a:solidFill>
                  <a:srgbClr val="102F24"/>
                </a:solidFill>
                <a:latin typeface="Nirmala UI" panose="020B0502040204020203"/>
                <a:ea typeface="Nirmala UI" panose="020B0502040204020203"/>
                <a:cs typeface="Nirmala UI" panose="020B0502040204020203"/>
              </a:rPr>
              <a:t>Our initial aim is supplementary aeration that reduces some powered operation. For example, an aerator drawing 1.5 kW for eight hours daily , at ৳10 per unit , costs roughly ৳3,600 monthly or ৳43,200 annually . If a ৳10,000 installed wind add-on demonstrably reduces that electricity by 20% while maintaining pond oxygen , it saves ৳8,640 annually , giving about 1.2 years’ simple payback before maintenance . But if it can meetup the demand, it is so much budget friendly . From this website, </a:t>
            </a:r>
            <a:r>
              <a:rPr sz="1950" b="0">
                <a:solidFill>
                  <a:srgbClr val="102F24"/>
                </a:solidFill>
                <a:latin typeface="Nirmala UI" panose="020B0502040204020203"/>
                <a:ea typeface="Nirmala UI" panose="020B0502040204020203"/>
                <a:cs typeface="Nirmala UI" panose="020B0502040204020203"/>
                <a:hlinkClick r:id="rId2" action="ppaction://hlinkfile"/>
              </a:rPr>
              <a:t>https://nscbd.com/4-paddle-wheel-aerator-2hp-price-in-bangladesh/ </a:t>
            </a:r>
            <a:r>
              <a:rPr sz="1950" b="0">
                <a:solidFill>
                  <a:srgbClr val="102F24"/>
                </a:solidFill>
                <a:latin typeface="Nirmala UI" panose="020B0502040204020203"/>
                <a:ea typeface="Nirmala UI" panose="020B0502040204020203"/>
                <a:cs typeface="Nirmala UI" panose="020B0502040204020203"/>
              </a:rPr>
              <a:t>we found that Paddle wheel aerator price is 41k, while our zero watt wind is only 6.5k and it don’t draw any electricity either. So, if one of them isn’t enough to meet the demand, fish farmer can buy multiple of them. Our system is not a replacement of the natural ventilation, it’s a complementary solution which can increase the flow rapidly at a very low cost and sustain energy as well.</a:t>
            </a:r>
            <a:endParaRPr sz="1950" b="0">
              <a:solidFill>
                <a:srgbClr val="102F24"/>
              </a:solidFill>
              <a:latin typeface="Nirmala UI" panose="020B0502040204020203"/>
              <a:ea typeface="Nirmala UI" panose="020B0502040204020203"/>
              <a:cs typeface="Nirmala UI" panose="020B0502040204020203"/>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C23"/>
        </a:solidFill>
        <a:effectLst/>
      </p:bgPr>
    </p:bg>
    <p:spTree>
      <p:nvGrpSpPr>
        <p:cNvPr id="1" name=""/>
        <p:cNvGrpSpPr/>
        <p:nvPr/>
      </p:nvGrpSpPr>
      <p:grpSpPr/>
      <p:pic>
        <p:nvPicPr>
          <p:cNvPr id="2" name="Picture 1"/>
          <p:cNvPicPr>
            <a:picLocks noChangeAspect="1"/>
          </p:cNvPicPr>
          <p:nvPr/>
        </p:nvPicPr>
        <p:blipFill>
          <a:blip r:embed="rId1"/>
          <a:srcRect/>
          <a:stretch>
            <a:fillRect/>
          </a:stretch>
        </p:blipFill>
        <p:spPr>
          <a:xfrm>
            <a:off x="0" y="0"/>
            <a:ext cx="12192000" cy="6858000"/>
          </a:xfrm>
          <a:prstGeom prst="rect">
            <a:avLst/>
          </a:prstGeom>
        </p:spPr>
      </p:pic>
      <p:sp>
        <p:nvSpPr>
          <p:cNvPr id="3" name="We are Team ZeroWatt Wind"/>
          <p:cNvSpPr>
            <a:spLocks noGrp="1"/>
          </p:cNvSpPr>
          <p:nvPr/>
        </p:nvSpPr>
        <p:spPr>
          <a:xfrm>
            <a:off x="609600" y="428625"/>
            <a:ext cx="10668000" cy="1047750"/>
          </a:xfrm>
          <a:prstGeom prst="rect">
            <a:avLst/>
          </a:prstGeom>
          <a:noFill/>
          <a:ln w="0">
            <a:noFill/>
          </a:ln>
        </p:spPr>
        <p:txBody>
          <a:bodyPr wrap="square" lIns="0" tIns="0" rIns="0" bIns="0" anchor="t">
            <a:noAutofit/>
          </a:bodyPr>
          <a:lstStyle>
            <a:defPPr>
              <a:defRPr sz="3225" b="1">
                <a:solidFill>
                  <a:srgbClr val="F4F3EB"/>
                </a:solidFill>
                <a:latin typeface="Arial" panose="020B0604020202020204"/>
                <a:ea typeface="Arial" panose="020B0604020202020204"/>
                <a:cs typeface="Arial" panose="020B0604020202020204"/>
              </a:defRPr>
            </a:defPPr>
            <a:lvl1pPr>
              <a:buNone/>
              <a:defRPr sz="3225" b="1">
                <a:solidFill>
                  <a:srgbClr val="F4F3EB"/>
                </a:solidFill>
                <a:latin typeface="Arial" panose="020B0604020202020204"/>
                <a:ea typeface="Arial" panose="020B0604020202020204"/>
                <a:cs typeface="Arial" panose="020B0604020202020204"/>
              </a:defRPr>
            </a:lvl1pPr>
            <a:lvl2pPr>
              <a:buNone/>
              <a:defRPr sz="3225" b="1">
                <a:solidFill>
                  <a:srgbClr val="F4F3EB"/>
                </a:solidFill>
                <a:latin typeface="Arial" panose="020B0604020202020204"/>
                <a:ea typeface="Arial" panose="020B0604020202020204"/>
                <a:cs typeface="Arial" panose="020B0604020202020204"/>
              </a:defRPr>
            </a:lvl2pPr>
            <a:lvl3pPr>
              <a:buNone/>
              <a:defRPr sz="3225" b="1">
                <a:solidFill>
                  <a:srgbClr val="F4F3EB"/>
                </a:solidFill>
                <a:latin typeface="Arial" panose="020B0604020202020204"/>
                <a:ea typeface="Arial" panose="020B0604020202020204"/>
                <a:cs typeface="Arial" panose="020B0604020202020204"/>
              </a:defRPr>
            </a:lvl3pPr>
            <a:lvl4pPr>
              <a:buNone/>
              <a:defRPr sz="3225" b="1">
                <a:solidFill>
                  <a:srgbClr val="F4F3EB"/>
                </a:solidFill>
                <a:latin typeface="Arial" panose="020B0604020202020204"/>
                <a:ea typeface="Arial" panose="020B0604020202020204"/>
                <a:cs typeface="Arial" panose="020B0604020202020204"/>
              </a:defRPr>
            </a:lvl4pPr>
            <a:lvl5pPr>
              <a:buNone/>
              <a:defRPr sz="3225" b="1">
                <a:solidFill>
                  <a:srgbClr val="F4F3EB"/>
                </a:solidFill>
                <a:latin typeface="Arial" panose="020B0604020202020204"/>
                <a:ea typeface="Arial" panose="020B0604020202020204"/>
                <a:cs typeface="Arial" panose="020B0604020202020204"/>
              </a:defRPr>
            </a:lvl5pPr>
            <a:lvl6pPr>
              <a:buNone/>
              <a:defRPr sz="3225" b="1">
                <a:solidFill>
                  <a:srgbClr val="F4F3EB"/>
                </a:solidFill>
                <a:latin typeface="Arial" panose="020B0604020202020204"/>
                <a:ea typeface="Arial" panose="020B0604020202020204"/>
                <a:cs typeface="Arial" panose="020B0604020202020204"/>
              </a:defRPr>
            </a:lvl6pPr>
            <a:lvl7pPr>
              <a:buNone/>
              <a:defRPr sz="3225" b="1">
                <a:solidFill>
                  <a:srgbClr val="F4F3EB"/>
                </a:solidFill>
                <a:latin typeface="Arial" panose="020B0604020202020204"/>
                <a:ea typeface="Arial" panose="020B0604020202020204"/>
                <a:cs typeface="Arial" panose="020B0604020202020204"/>
              </a:defRPr>
            </a:lvl7pPr>
            <a:lvl8pPr>
              <a:buNone/>
              <a:defRPr sz="3225" b="1">
                <a:solidFill>
                  <a:srgbClr val="F4F3EB"/>
                </a:solidFill>
                <a:latin typeface="Arial" panose="020B0604020202020204"/>
                <a:ea typeface="Arial" panose="020B0604020202020204"/>
                <a:cs typeface="Arial" panose="020B0604020202020204"/>
              </a:defRPr>
            </a:lvl8pPr>
            <a:lvl9pPr>
              <a:buNone/>
              <a:defRPr sz="3225" b="1">
                <a:solidFill>
                  <a:srgbClr val="F4F3EB"/>
                </a:solidFill>
                <a:latin typeface="Arial" panose="020B0604020202020204"/>
                <a:ea typeface="Arial" panose="020B0604020202020204"/>
                <a:cs typeface="Arial" panose="020B0604020202020204"/>
              </a:defRPr>
            </a:lvl9pPr>
          </a:lstStyle>
          <a:p>
            <a:pPr>
              <a:buNone/>
              <a:defRPr sz="3225" b="1">
                <a:solidFill>
                  <a:srgbClr val="F4F3EB"/>
                </a:solidFill>
                <a:latin typeface="Arial" panose="020B0604020202020204"/>
                <a:ea typeface="Arial" panose="020B0604020202020204"/>
                <a:cs typeface="Arial" panose="020B0604020202020204"/>
              </a:defRPr>
            </a:pPr>
            <a:r>
              <a:rPr sz="3225" b="1">
                <a:solidFill>
                  <a:srgbClr val="F4F3EB"/>
                </a:solidFill>
                <a:latin typeface="Arial" panose="020B0604020202020204"/>
                <a:ea typeface="Arial" panose="020B0604020202020204"/>
                <a:cs typeface="Arial" panose="020B0604020202020204"/>
              </a:rPr>
              <a:t>We are Team ZeroWatt Wind</a:t>
            </a:r>
            <a:endParaRPr sz="3225" b="1">
              <a:solidFill>
                <a:srgbClr val="F4F3EB"/>
              </a:solidFill>
              <a:latin typeface="Arial" panose="020B0604020202020204"/>
              <a:ea typeface="Arial" panose="020B0604020202020204"/>
              <a:cs typeface="Arial" panose="020B0604020202020204"/>
            </a:endParaRPr>
          </a:p>
        </p:txBody>
      </p:sp>
      <p:sp>
        <p:nvSpPr>
          <p:cNvPr id="4" name="12"/>
          <p:cNvSpPr>
            <a:spLocks noGrp="1"/>
          </p:cNvSpPr>
          <p:nvPr/>
        </p:nvSpPr>
        <p:spPr>
          <a:xfrm>
            <a:off x="11106150" y="6019800"/>
            <a:ext cx="476250" cy="238125"/>
          </a:xfrm>
          <a:prstGeom prst="rect">
            <a:avLst/>
          </a:prstGeom>
          <a:noFill/>
          <a:ln w="0">
            <a:noFill/>
          </a:ln>
        </p:spPr>
        <p:txBody>
          <a:bodyPr wrap="square" lIns="0" tIns="0" rIns="0" bIns="0" anchor="t">
            <a:noAutofit/>
          </a:bodyPr>
          <a:lstStyle>
            <a:defPPr>
              <a:defRPr sz="1275" b="0">
                <a:solidFill>
                  <a:srgbClr val="D3E0D5"/>
                </a:solidFill>
                <a:latin typeface="Arial" panose="020B0604020202020204"/>
                <a:ea typeface="Arial" panose="020B0604020202020204"/>
                <a:cs typeface="Arial" panose="020B0604020202020204"/>
              </a:defRPr>
            </a:defPPr>
            <a:lvl1pPr>
              <a:buNone/>
              <a:defRPr sz="1275" b="0">
                <a:solidFill>
                  <a:srgbClr val="D3E0D5"/>
                </a:solidFill>
                <a:latin typeface="Arial" panose="020B0604020202020204"/>
                <a:ea typeface="Arial" panose="020B0604020202020204"/>
                <a:cs typeface="Arial" panose="020B0604020202020204"/>
              </a:defRPr>
            </a:lvl1pPr>
            <a:lvl2pPr>
              <a:buNone/>
              <a:defRPr sz="1275" b="0">
                <a:solidFill>
                  <a:srgbClr val="D3E0D5"/>
                </a:solidFill>
                <a:latin typeface="Arial" panose="020B0604020202020204"/>
                <a:ea typeface="Arial" panose="020B0604020202020204"/>
                <a:cs typeface="Arial" panose="020B0604020202020204"/>
              </a:defRPr>
            </a:lvl2pPr>
            <a:lvl3pPr>
              <a:buNone/>
              <a:defRPr sz="1275" b="0">
                <a:solidFill>
                  <a:srgbClr val="D3E0D5"/>
                </a:solidFill>
                <a:latin typeface="Arial" panose="020B0604020202020204"/>
                <a:ea typeface="Arial" panose="020B0604020202020204"/>
                <a:cs typeface="Arial" panose="020B0604020202020204"/>
              </a:defRPr>
            </a:lvl3pPr>
            <a:lvl4pPr>
              <a:buNone/>
              <a:defRPr sz="1275" b="0">
                <a:solidFill>
                  <a:srgbClr val="D3E0D5"/>
                </a:solidFill>
                <a:latin typeface="Arial" panose="020B0604020202020204"/>
                <a:ea typeface="Arial" panose="020B0604020202020204"/>
                <a:cs typeface="Arial" panose="020B0604020202020204"/>
              </a:defRPr>
            </a:lvl4pPr>
            <a:lvl5pPr>
              <a:buNone/>
              <a:defRPr sz="1275" b="0">
                <a:solidFill>
                  <a:srgbClr val="D3E0D5"/>
                </a:solidFill>
                <a:latin typeface="Arial" panose="020B0604020202020204"/>
                <a:ea typeface="Arial" panose="020B0604020202020204"/>
                <a:cs typeface="Arial" panose="020B0604020202020204"/>
              </a:defRPr>
            </a:lvl5pPr>
            <a:lvl6pPr>
              <a:buNone/>
              <a:defRPr sz="1275" b="0">
                <a:solidFill>
                  <a:srgbClr val="D3E0D5"/>
                </a:solidFill>
                <a:latin typeface="Arial" panose="020B0604020202020204"/>
                <a:ea typeface="Arial" panose="020B0604020202020204"/>
                <a:cs typeface="Arial" panose="020B0604020202020204"/>
              </a:defRPr>
            </a:lvl6pPr>
            <a:lvl7pPr>
              <a:buNone/>
              <a:defRPr sz="1275" b="0">
                <a:solidFill>
                  <a:srgbClr val="D3E0D5"/>
                </a:solidFill>
                <a:latin typeface="Arial" panose="020B0604020202020204"/>
                <a:ea typeface="Arial" panose="020B0604020202020204"/>
                <a:cs typeface="Arial" panose="020B0604020202020204"/>
              </a:defRPr>
            </a:lvl7pPr>
            <a:lvl8pPr>
              <a:buNone/>
              <a:defRPr sz="1275" b="0">
                <a:solidFill>
                  <a:srgbClr val="D3E0D5"/>
                </a:solidFill>
                <a:latin typeface="Arial" panose="020B0604020202020204"/>
                <a:ea typeface="Arial" panose="020B0604020202020204"/>
                <a:cs typeface="Arial" panose="020B0604020202020204"/>
              </a:defRPr>
            </a:lvl8pPr>
            <a:lvl9pPr>
              <a:buNone/>
              <a:defRPr sz="1275" b="0">
                <a:solidFill>
                  <a:srgbClr val="D3E0D5"/>
                </a:solidFill>
                <a:latin typeface="Arial" panose="020B0604020202020204"/>
                <a:ea typeface="Arial" panose="020B0604020202020204"/>
                <a:cs typeface="Arial" panose="020B0604020202020204"/>
              </a:defRPr>
            </a:lvl9pPr>
          </a:lstStyle>
          <a:p>
            <a:pPr>
              <a:buNone/>
              <a:defRPr sz="1275" b="0">
                <a:solidFill>
                  <a:srgbClr val="D3E0D5"/>
                </a:solidFill>
                <a:latin typeface="Arial" panose="020B0604020202020204"/>
                <a:ea typeface="Arial" panose="020B0604020202020204"/>
                <a:cs typeface="Arial" panose="020B0604020202020204"/>
              </a:defRPr>
            </a:pPr>
            <a:r>
              <a:rPr sz="1275" b="0">
                <a:solidFill>
                  <a:srgbClr val="D3E0D5"/>
                </a:solidFill>
                <a:latin typeface="Arial" panose="020B0604020202020204"/>
                <a:ea typeface="Arial" panose="020B0604020202020204"/>
                <a:cs typeface="Arial" panose="020B0604020202020204"/>
              </a:rPr>
              <a:t>12</a:t>
            </a:r>
            <a:endParaRPr sz="1275" b="0">
              <a:solidFill>
                <a:srgbClr val="D3E0D5"/>
              </a:solidFill>
              <a:latin typeface="Arial" panose="020B0604020202020204"/>
              <a:ea typeface="Arial" panose="020B0604020202020204"/>
              <a:cs typeface="Arial" panose="020B0604020202020204"/>
            </a:endParaRPr>
          </a:p>
        </p:txBody>
      </p:sp>
      <p:sp>
        <p:nvSpPr>
          <p:cNvPr id="5" name="Islamic University of Technology"/>
          <p:cNvSpPr>
            <a:spLocks noGrp="1"/>
          </p:cNvSpPr>
          <p:nvPr/>
        </p:nvSpPr>
        <p:spPr>
          <a:xfrm>
            <a:off x="619125" y="1581150"/>
            <a:ext cx="10287000" cy="495300"/>
          </a:xfrm>
          <a:prstGeom prst="rect">
            <a:avLst/>
          </a:prstGeom>
          <a:noFill/>
          <a:ln w="0">
            <a:noFill/>
          </a:ln>
        </p:spPr>
        <p:txBody>
          <a:bodyPr wrap="square" lIns="0" tIns="0" rIns="0" bIns="0" anchor="t">
            <a:noAutofit/>
          </a:bodyPr>
          <a:lstStyle>
            <a:defPPr>
              <a:defRPr sz="2550" b="0">
                <a:solidFill>
                  <a:srgbClr val="D6F39B"/>
                </a:solidFill>
                <a:latin typeface="Arial" panose="020B0604020202020204"/>
                <a:ea typeface="Arial" panose="020B0604020202020204"/>
                <a:cs typeface="Arial" panose="020B0604020202020204"/>
              </a:defRPr>
            </a:defPPr>
            <a:lvl1pPr>
              <a:buNone/>
              <a:defRPr sz="2550" b="0">
                <a:solidFill>
                  <a:srgbClr val="D6F39B"/>
                </a:solidFill>
                <a:latin typeface="Arial" panose="020B0604020202020204"/>
                <a:ea typeface="Arial" panose="020B0604020202020204"/>
                <a:cs typeface="Arial" panose="020B0604020202020204"/>
              </a:defRPr>
            </a:lvl1pPr>
            <a:lvl2pPr>
              <a:buNone/>
              <a:defRPr sz="2550" b="0">
                <a:solidFill>
                  <a:srgbClr val="D6F39B"/>
                </a:solidFill>
                <a:latin typeface="Arial" panose="020B0604020202020204"/>
                <a:ea typeface="Arial" panose="020B0604020202020204"/>
                <a:cs typeface="Arial" panose="020B0604020202020204"/>
              </a:defRPr>
            </a:lvl2pPr>
            <a:lvl3pPr>
              <a:buNone/>
              <a:defRPr sz="2550" b="0">
                <a:solidFill>
                  <a:srgbClr val="D6F39B"/>
                </a:solidFill>
                <a:latin typeface="Arial" panose="020B0604020202020204"/>
                <a:ea typeface="Arial" panose="020B0604020202020204"/>
                <a:cs typeface="Arial" panose="020B0604020202020204"/>
              </a:defRPr>
            </a:lvl3pPr>
            <a:lvl4pPr>
              <a:buNone/>
              <a:defRPr sz="2550" b="0">
                <a:solidFill>
                  <a:srgbClr val="D6F39B"/>
                </a:solidFill>
                <a:latin typeface="Arial" panose="020B0604020202020204"/>
                <a:ea typeface="Arial" panose="020B0604020202020204"/>
                <a:cs typeface="Arial" panose="020B0604020202020204"/>
              </a:defRPr>
            </a:lvl4pPr>
            <a:lvl5pPr>
              <a:buNone/>
              <a:defRPr sz="2550" b="0">
                <a:solidFill>
                  <a:srgbClr val="D6F39B"/>
                </a:solidFill>
                <a:latin typeface="Arial" panose="020B0604020202020204"/>
                <a:ea typeface="Arial" panose="020B0604020202020204"/>
                <a:cs typeface="Arial" panose="020B0604020202020204"/>
              </a:defRPr>
            </a:lvl5pPr>
            <a:lvl6pPr>
              <a:buNone/>
              <a:defRPr sz="2550" b="0">
                <a:solidFill>
                  <a:srgbClr val="D6F39B"/>
                </a:solidFill>
                <a:latin typeface="Arial" panose="020B0604020202020204"/>
                <a:ea typeface="Arial" panose="020B0604020202020204"/>
                <a:cs typeface="Arial" panose="020B0604020202020204"/>
              </a:defRPr>
            </a:lvl6pPr>
            <a:lvl7pPr>
              <a:buNone/>
              <a:defRPr sz="2550" b="0">
                <a:solidFill>
                  <a:srgbClr val="D6F39B"/>
                </a:solidFill>
                <a:latin typeface="Arial" panose="020B0604020202020204"/>
                <a:ea typeface="Arial" panose="020B0604020202020204"/>
                <a:cs typeface="Arial" panose="020B0604020202020204"/>
              </a:defRPr>
            </a:lvl7pPr>
            <a:lvl8pPr>
              <a:buNone/>
              <a:defRPr sz="2550" b="0">
                <a:solidFill>
                  <a:srgbClr val="D6F39B"/>
                </a:solidFill>
                <a:latin typeface="Arial" panose="020B0604020202020204"/>
                <a:ea typeface="Arial" panose="020B0604020202020204"/>
                <a:cs typeface="Arial" panose="020B0604020202020204"/>
              </a:defRPr>
            </a:lvl8pPr>
            <a:lvl9pPr>
              <a:buNone/>
              <a:defRPr sz="2550" b="0">
                <a:solidFill>
                  <a:srgbClr val="D6F39B"/>
                </a:solidFill>
                <a:latin typeface="Arial" panose="020B0604020202020204"/>
                <a:ea typeface="Arial" panose="020B0604020202020204"/>
                <a:cs typeface="Arial" panose="020B0604020202020204"/>
              </a:defRPr>
            </a:lvl9pPr>
          </a:lstStyle>
          <a:p>
            <a:pPr>
              <a:buNone/>
              <a:defRPr sz="2550" b="0">
                <a:solidFill>
                  <a:srgbClr val="D6F39B"/>
                </a:solidFill>
                <a:latin typeface="Arial" panose="020B0604020202020204"/>
                <a:ea typeface="Arial" panose="020B0604020202020204"/>
                <a:cs typeface="Arial" panose="020B0604020202020204"/>
              </a:defRPr>
            </a:pPr>
            <a:r>
              <a:rPr sz="2550" b="0">
                <a:solidFill>
                  <a:srgbClr val="D6F39B"/>
                </a:solidFill>
                <a:latin typeface="Arial" panose="020B0604020202020204"/>
                <a:ea typeface="Arial" panose="020B0604020202020204"/>
                <a:cs typeface="Arial" panose="020B0604020202020204"/>
              </a:rPr>
              <a:t>Islamic University of Technology</a:t>
            </a:r>
            <a:endParaRPr sz="2550" b="0">
              <a:solidFill>
                <a:srgbClr val="D6F39B"/>
              </a:solidFill>
              <a:latin typeface="Arial" panose="020B0604020202020204"/>
              <a:ea typeface="Arial" panose="020B0604020202020204"/>
              <a:cs typeface="Arial" panose="020B0604020202020204"/>
            </a:endParaRPr>
          </a:p>
        </p:txBody>
      </p:sp>
      <p:sp>
        <p:nvSpPr>
          <p:cNvPr id="6" name="IUT-OIC, Bangladesh"/>
          <p:cNvSpPr>
            <a:spLocks noGrp="1"/>
          </p:cNvSpPr>
          <p:nvPr/>
        </p:nvSpPr>
        <p:spPr>
          <a:xfrm>
            <a:off x="619125" y="2114550"/>
            <a:ext cx="10287000" cy="371475"/>
          </a:xfrm>
          <a:prstGeom prst="rect">
            <a:avLst/>
          </a:prstGeom>
          <a:noFill/>
          <a:ln w="0">
            <a:noFill/>
          </a:ln>
        </p:spPr>
        <p:txBody>
          <a:bodyPr wrap="square" lIns="0" tIns="0" rIns="0" bIns="0" anchor="t">
            <a:noAutofit/>
          </a:bodyPr>
          <a:lstStyle>
            <a:defPPr>
              <a:defRPr sz="1950" b="0">
                <a:solidFill>
                  <a:srgbClr val="D3E0D5"/>
                </a:solidFill>
                <a:latin typeface="Arial" panose="020B0604020202020204"/>
                <a:ea typeface="Arial" panose="020B0604020202020204"/>
                <a:cs typeface="Arial" panose="020B0604020202020204"/>
              </a:defRPr>
            </a:defPPr>
            <a:lvl1pPr>
              <a:buNone/>
              <a:defRPr sz="1950" b="0">
                <a:solidFill>
                  <a:srgbClr val="D3E0D5"/>
                </a:solidFill>
                <a:latin typeface="Arial" panose="020B0604020202020204"/>
                <a:ea typeface="Arial" panose="020B0604020202020204"/>
                <a:cs typeface="Arial" panose="020B0604020202020204"/>
              </a:defRPr>
            </a:lvl1pPr>
            <a:lvl2pPr>
              <a:buNone/>
              <a:defRPr sz="1950" b="0">
                <a:solidFill>
                  <a:srgbClr val="D3E0D5"/>
                </a:solidFill>
                <a:latin typeface="Arial" panose="020B0604020202020204"/>
                <a:ea typeface="Arial" panose="020B0604020202020204"/>
                <a:cs typeface="Arial" panose="020B0604020202020204"/>
              </a:defRPr>
            </a:lvl2pPr>
            <a:lvl3pPr>
              <a:buNone/>
              <a:defRPr sz="1950" b="0">
                <a:solidFill>
                  <a:srgbClr val="D3E0D5"/>
                </a:solidFill>
                <a:latin typeface="Arial" panose="020B0604020202020204"/>
                <a:ea typeface="Arial" panose="020B0604020202020204"/>
                <a:cs typeface="Arial" panose="020B0604020202020204"/>
              </a:defRPr>
            </a:lvl3pPr>
            <a:lvl4pPr>
              <a:buNone/>
              <a:defRPr sz="1950" b="0">
                <a:solidFill>
                  <a:srgbClr val="D3E0D5"/>
                </a:solidFill>
                <a:latin typeface="Arial" panose="020B0604020202020204"/>
                <a:ea typeface="Arial" panose="020B0604020202020204"/>
                <a:cs typeface="Arial" panose="020B0604020202020204"/>
              </a:defRPr>
            </a:lvl4pPr>
            <a:lvl5pPr>
              <a:buNone/>
              <a:defRPr sz="1950" b="0">
                <a:solidFill>
                  <a:srgbClr val="D3E0D5"/>
                </a:solidFill>
                <a:latin typeface="Arial" panose="020B0604020202020204"/>
                <a:ea typeface="Arial" panose="020B0604020202020204"/>
                <a:cs typeface="Arial" panose="020B0604020202020204"/>
              </a:defRPr>
            </a:lvl5pPr>
            <a:lvl6pPr>
              <a:buNone/>
              <a:defRPr sz="1950" b="0">
                <a:solidFill>
                  <a:srgbClr val="D3E0D5"/>
                </a:solidFill>
                <a:latin typeface="Arial" panose="020B0604020202020204"/>
                <a:ea typeface="Arial" panose="020B0604020202020204"/>
                <a:cs typeface="Arial" panose="020B0604020202020204"/>
              </a:defRPr>
            </a:lvl6pPr>
            <a:lvl7pPr>
              <a:buNone/>
              <a:defRPr sz="1950" b="0">
                <a:solidFill>
                  <a:srgbClr val="D3E0D5"/>
                </a:solidFill>
                <a:latin typeface="Arial" panose="020B0604020202020204"/>
                <a:ea typeface="Arial" panose="020B0604020202020204"/>
                <a:cs typeface="Arial" panose="020B0604020202020204"/>
              </a:defRPr>
            </a:lvl7pPr>
            <a:lvl8pPr>
              <a:buNone/>
              <a:defRPr sz="1950" b="0">
                <a:solidFill>
                  <a:srgbClr val="D3E0D5"/>
                </a:solidFill>
                <a:latin typeface="Arial" panose="020B0604020202020204"/>
                <a:ea typeface="Arial" panose="020B0604020202020204"/>
                <a:cs typeface="Arial" panose="020B0604020202020204"/>
              </a:defRPr>
            </a:lvl8pPr>
            <a:lvl9pPr>
              <a:buNone/>
              <a:defRPr sz="1950" b="0">
                <a:solidFill>
                  <a:srgbClr val="D3E0D5"/>
                </a:solidFill>
                <a:latin typeface="Arial" panose="020B0604020202020204"/>
                <a:ea typeface="Arial" panose="020B0604020202020204"/>
                <a:cs typeface="Arial" panose="020B0604020202020204"/>
              </a:defRPr>
            </a:lvl9pPr>
          </a:lstStyle>
          <a:p>
            <a:pPr>
              <a:buNone/>
              <a:defRPr sz="1950" b="0">
                <a:solidFill>
                  <a:srgbClr val="D3E0D5"/>
                </a:solidFill>
                <a:latin typeface="Arial" panose="020B0604020202020204"/>
                <a:ea typeface="Arial" panose="020B0604020202020204"/>
                <a:cs typeface="Arial" panose="020B0604020202020204"/>
              </a:defRPr>
            </a:pPr>
            <a:r>
              <a:rPr sz="1950" b="0">
                <a:solidFill>
                  <a:srgbClr val="D3E0D5"/>
                </a:solidFill>
                <a:latin typeface="Arial" panose="020B0604020202020204"/>
                <a:ea typeface="Arial" panose="020B0604020202020204"/>
                <a:cs typeface="Arial" panose="020B0604020202020204"/>
              </a:rPr>
              <a:t>IUT-OIC, Bangladesh</a:t>
            </a:r>
            <a:endParaRPr sz="1950" b="0">
              <a:solidFill>
                <a:srgbClr val="D3E0D5"/>
              </a:solidFill>
              <a:latin typeface="Arial" panose="020B0604020202020204"/>
              <a:ea typeface="Arial" panose="020B0604020202020204"/>
              <a:cs typeface="Arial" panose="020B0604020202020204"/>
            </a:endParaRPr>
          </a:p>
        </p:txBody>
      </p:sp>
      <p:sp>
        <p:nvSpPr>
          <p:cNvPr id="7" name="Mohammad Rafiul Islam"/>
          <p:cNvSpPr>
            <a:spLocks noGrp="1"/>
          </p:cNvSpPr>
          <p:nvPr/>
        </p:nvSpPr>
        <p:spPr>
          <a:xfrm>
            <a:off x="619125" y="297180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Mohammad Rafiul Islam</a:t>
            </a:r>
            <a:endParaRPr sz="3300" b="1">
              <a:solidFill>
                <a:srgbClr val="F4F3EB"/>
              </a:solidFill>
              <a:latin typeface="Arial" panose="020B0604020202020204"/>
              <a:ea typeface="Arial" panose="020B0604020202020204"/>
              <a:cs typeface="Arial" panose="020B0604020202020204"/>
            </a:endParaRPr>
          </a:p>
        </p:txBody>
      </p:sp>
      <p:sp>
        <p:nvSpPr>
          <p:cNvPr id="8" name="Tasnia Basharat Mahi"/>
          <p:cNvSpPr>
            <a:spLocks noGrp="1"/>
          </p:cNvSpPr>
          <p:nvPr/>
        </p:nvSpPr>
        <p:spPr>
          <a:xfrm>
            <a:off x="619125" y="375285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Tasnia Basharat Mahi</a:t>
            </a:r>
            <a:endParaRPr sz="3300" b="1">
              <a:solidFill>
                <a:srgbClr val="F4F3EB"/>
              </a:solidFill>
              <a:latin typeface="Arial" panose="020B0604020202020204"/>
              <a:ea typeface="Arial" panose="020B0604020202020204"/>
              <a:cs typeface="Arial" panose="020B0604020202020204"/>
            </a:endParaRPr>
          </a:p>
        </p:txBody>
      </p:sp>
      <p:sp>
        <p:nvSpPr>
          <p:cNvPr id="9" name="Masrura Sara Mohima"/>
          <p:cNvSpPr>
            <a:spLocks noGrp="1"/>
          </p:cNvSpPr>
          <p:nvPr/>
        </p:nvSpPr>
        <p:spPr>
          <a:xfrm>
            <a:off x="619125" y="4533900"/>
            <a:ext cx="10477500" cy="571500"/>
          </a:xfrm>
          <a:prstGeom prst="rect">
            <a:avLst/>
          </a:prstGeom>
          <a:noFill/>
          <a:ln w="0">
            <a:noFill/>
          </a:ln>
        </p:spPr>
        <p:txBody>
          <a:bodyPr wrap="square" lIns="0" tIns="0" rIns="0" bIns="0" anchor="t">
            <a:noAutofit/>
          </a:bodyPr>
          <a:lstStyle>
            <a:defPPr>
              <a:defRPr sz="3300" b="1">
                <a:solidFill>
                  <a:srgbClr val="F4F3EB"/>
                </a:solidFill>
                <a:latin typeface="Arial" panose="020B0604020202020204"/>
                <a:ea typeface="Arial" panose="020B0604020202020204"/>
                <a:cs typeface="Arial" panose="020B0604020202020204"/>
              </a:defRPr>
            </a:defPPr>
            <a:lvl1pPr>
              <a:buNone/>
              <a:defRPr sz="3300" b="1">
                <a:solidFill>
                  <a:srgbClr val="F4F3EB"/>
                </a:solidFill>
                <a:latin typeface="Arial" panose="020B0604020202020204"/>
                <a:ea typeface="Arial" panose="020B0604020202020204"/>
                <a:cs typeface="Arial" panose="020B0604020202020204"/>
              </a:defRPr>
            </a:lvl1pPr>
            <a:lvl2pPr>
              <a:buNone/>
              <a:defRPr sz="3300" b="1">
                <a:solidFill>
                  <a:srgbClr val="F4F3EB"/>
                </a:solidFill>
                <a:latin typeface="Arial" panose="020B0604020202020204"/>
                <a:ea typeface="Arial" panose="020B0604020202020204"/>
                <a:cs typeface="Arial" panose="020B0604020202020204"/>
              </a:defRPr>
            </a:lvl2pPr>
            <a:lvl3pPr>
              <a:buNone/>
              <a:defRPr sz="3300" b="1">
                <a:solidFill>
                  <a:srgbClr val="F4F3EB"/>
                </a:solidFill>
                <a:latin typeface="Arial" panose="020B0604020202020204"/>
                <a:ea typeface="Arial" panose="020B0604020202020204"/>
                <a:cs typeface="Arial" panose="020B0604020202020204"/>
              </a:defRPr>
            </a:lvl3pPr>
            <a:lvl4pPr>
              <a:buNone/>
              <a:defRPr sz="3300" b="1">
                <a:solidFill>
                  <a:srgbClr val="F4F3EB"/>
                </a:solidFill>
                <a:latin typeface="Arial" panose="020B0604020202020204"/>
                <a:ea typeface="Arial" panose="020B0604020202020204"/>
                <a:cs typeface="Arial" panose="020B0604020202020204"/>
              </a:defRPr>
            </a:lvl4pPr>
            <a:lvl5pPr>
              <a:buNone/>
              <a:defRPr sz="3300" b="1">
                <a:solidFill>
                  <a:srgbClr val="F4F3EB"/>
                </a:solidFill>
                <a:latin typeface="Arial" panose="020B0604020202020204"/>
                <a:ea typeface="Arial" panose="020B0604020202020204"/>
                <a:cs typeface="Arial" panose="020B0604020202020204"/>
              </a:defRPr>
            </a:lvl5pPr>
            <a:lvl6pPr>
              <a:buNone/>
              <a:defRPr sz="3300" b="1">
                <a:solidFill>
                  <a:srgbClr val="F4F3EB"/>
                </a:solidFill>
                <a:latin typeface="Arial" panose="020B0604020202020204"/>
                <a:ea typeface="Arial" panose="020B0604020202020204"/>
                <a:cs typeface="Arial" panose="020B0604020202020204"/>
              </a:defRPr>
            </a:lvl6pPr>
            <a:lvl7pPr>
              <a:buNone/>
              <a:defRPr sz="3300" b="1">
                <a:solidFill>
                  <a:srgbClr val="F4F3EB"/>
                </a:solidFill>
                <a:latin typeface="Arial" panose="020B0604020202020204"/>
                <a:ea typeface="Arial" panose="020B0604020202020204"/>
                <a:cs typeface="Arial" panose="020B0604020202020204"/>
              </a:defRPr>
            </a:lvl7pPr>
            <a:lvl8pPr>
              <a:buNone/>
              <a:defRPr sz="3300" b="1">
                <a:solidFill>
                  <a:srgbClr val="F4F3EB"/>
                </a:solidFill>
                <a:latin typeface="Arial" panose="020B0604020202020204"/>
                <a:ea typeface="Arial" panose="020B0604020202020204"/>
                <a:cs typeface="Arial" panose="020B0604020202020204"/>
              </a:defRPr>
            </a:lvl8pPr>
            <a:lvl9pPr>
              <a:buNone/>
              <a:defRPr sz="3300" b="1">
                <a:solidFill>
                  <a:srgbClr val="F4F3EB"/>
                </a:solidFill>
                <a:latin typeface="Arial" panose="020B0604020202020204"/>
                <a:ea typeface="Arial" panose="020B0604020202020204"/>
                <a:cs typeface="Arial" panose="020B0604020202020204"/>
              </a:defRPr>
            </a:lvl9pPr>
          </a:lstStyle>
          <a:p>
            <a:pPr>
              <a:buNone/>
              <a:defRPr sz="3300" b="1">
                <a:solidFill>
                  <a:srgbClr val="F4F3EB"/>
                </a:solidFill>
                <a:latin typeface="Arial" panose="020B0604020202020204"/>
                <a:ea typeface="Arial" panose="020B0604020202020204"/>
                <a:cs typeface="Arial" panose="020B0604020202020204"/>
              </a:defRPr>
            </a:pPr>
            <a:r>
              <a:rPr sz="3300" b="1">
                <a:solidFill>
                  <a:srgbClr val="F4F3EB"/>
                </a:solidFill>
                <a:latin typeface="Arial" panose="020B0604020202020204"/>
                <a:ea typeface="Arial" panose="020B0604020202020204"/>
                <a:cs typeface="Arial" panose="020B0604020202020204"/>
              </a:rPr>
              <a:t>Masrura Sara Mohima</a:t>
            </a:r>
            <a:endParaRPr sz="3300" b="1">
              <a:solidFill>
                <a:srgbClr val="F4F3EB"/>
              </a:solidFill>
              <a:latin typeface="Arial" panose="020B0604020202020204"/>
              <a:ea typeface="Arial" panose="020B0604020202020204"/>
              <a:cs typeface="Arial" panose="020B0604020202020204"/>
            </a:endParaRPr>
          </a:p>
        </p:txBody>
      </p:sp>
      <p:sp>
        <p:nvSpPr>
          <p:cNvPr id="10" name="Harvest the wind. Deliver the motion."/>
          <p:cNvSpPr>
            <a:spLocks noGrp="1"/>
          </p:cNvSpPr>
          <p:nvPr/>
        </p:nvSpPr>
        <p:spPr>
          <a:xfrm>
            <a:off x="619125" y="5619750"/>
            <a:ext cx="10287000" cy="447675"/>
          </a:xfrm>
          <a:prstGeom prst="rect">
            <a:avLst/>
          </a:prstGeom>
          <a:noFill/>
          <a:ln w="0">
            <a:noFill/>
          </a:ln>
        </p:spPr>
        <p:txBody>
          <a:bodyPr wrap="square" lIns="0" tIns="0" rIns="0" bIns="0" anchor="t">
            <a:noAutofit/>
          </a:bodyPr>
          <a:lstStyle>
            <a:defPPr>
              <a:defRPr sz="2400" b="0">
                <a:solidFill>
                  <a:srgbClr val="F6BE54"/>
                </a:solidFill>
                <a:latin typeface="Arial" panose="020B0604020202020204"/>
                <a:ea typeface="Arial" panose="020B0604020202020204"/>
                <a:cs typeface="Arial" panose="020B0604020202020204"/>
              </a:defRPr>
            </a:defPPr>
            <a:lvl1pPr>
              <a:buNone/>
              <a:defRPr sz="2400" b="0">
                <a:solidFill>
                  <a:srgbClr val="F6BE54"/>
                </a:solidFill>
                <a:latin typeface="Arial" panose="020B0604020202020204"/>
                <a:ea typeface="Arial" panose="020B0604020202020204"/>
                <a:cs typeface="Arial" panose="020B0604020202020204"/>
              </a:defRPr>
            </a:lvl1pPr>
            <a:lvl2pPr>
              <a:buNone/>
              <a:defRPr sz="2400" b="0">
                <a:solidFill>
                  <a:srgbClr val="F6BE54"/>
                </a:solidFill>
                <a:latin typeface="Arial" panose="020B0604020202020204"/>
                <a:ea typeface="Arial" panose="020B0604020202020204"/>
                <a:cs typeface="Arial" panose="020B0604020202020204"/>
              </a:defRPr>
            </a:lvl2pPr>
            <a:lvl3pPr>
              <a:buNone/>
              <a:defRPr sz="2400" b="0">
                <a:solidFill>
                  <a:srgbClr val="F6BE54"/>
                </a:solidFill>
                <a:latin typeface="Arial" panose="020B0604020202020204"/>
                <a:ea typeface="Arial" panose="020B0604020202020204"/>
                <a:cs typeface="Arial" panose="020B0604020202020204"/>
              </a:defRPr>
            </a:lvl3pPr>
            <a:lvl4pPr>
              <a:buNone/>
              <a:defRPr sz="2400" b="0">
                <a:solidFill>
                  <a:srgbClr val="F6BE54"/>
                </a:solidFill>
                <a:latin typeface="Arial" panose="020B0604020202020204"/>
                <a:ea typeface="Arial" panose="020B0604020202020204"/>
                <a:cs typeface="Arial" panose="020B0604020202020204"/>
              </a:defRPr>
            </a:lvl4pPr>
            <a:lvl5pPr>
              <a:buNone/>
              <a:defRPr sz="2400" b="0">
                <a:solidFill>
                  <a:srgbClr val="F6BE54"/>
                </a:solidFill>
                <a:latin typeface="Arial" panose="020B0604020202020204"/>
                <a:ea typeface="Arial" panose="020B0604020202020204"/>
                <a:cs typeface="Arial" panose="020B0604020202020204"/>
              </a:defRPr>
            </a:lvl5pPr>
            <a:lvl6pPr>
              <a:buNone/>
              <a:defRPr sz="2400" b="0">
                <a:solidFill>
                  <a:srgbClr val="F6BE54"/>
                </a:solidFill>
                <a:latin typeface="Arial" panose="020B0604020202020204"/>
                <a:ea typeface="Arial" panose="020B0604020202020204"/>
                <a:cs typeface="Arial" panose="020B0604020202020204"/>
              </a:defRPr>
            </a:lvl6pPr>
            <a:lvl7pPr>
              <a:buNone/>
              <a:defRPr sz="2400" b="0">
                <a:solidFill>
                  <a:srgbClr val="F6BE54"/>
                </a:solidFill>
                <a:latin typeface="Arial" panose="020B0604020202020204"/>
                <a:ea typeface="Arial" panose="020B0604020202020204"/>
                <a:cs typeface="Arial" panose="020B0604020202020204"/>
              </a:defRPr>
            </a:lvl7pPr>
            <a:lvl8pPr>
              <a:buNone/>
              <a:defRPr sz="2400" b="0">
                <a:solidFill>
                  <a:srgbClr val="F6BE54"/>
                </a:solidFill>
                <a:latin typeface="Arial" panose="020B0604020202020204"/>
                <a:ea typeface="Arial" panose="020B0604020202020204"/>
                <a:cs typeface="Arial" panose="020B0604020202020204"/>
              </a:defRPr>
            </a:lvl8pPr>
            <a:lvl9pPr>
              <a:buNone/>
              <a:defRPr sz="2400" b="0">
                <a:solidFill>
                  <a:srgbClr val="F6BE54"/>
                </a:solidFill>
                <a:latin typeface="Arial" panose="020B0604020202020204"/>
                <a:ea typeface="Arial" panose="020B0604020202020204"/>
                <a:cs typeface="Arial" panose="020B0604020202020204"/>
              </a:defRPr>
            </a:lvl9pPr>
          </a:lstStyle>
          <a:p>
            <a:pPr>
              <a:buNone/>
              <a:defRPr sz="2400" b="0">
                <a:solidFill>
                  <a:srgbClr val="F6BE54"/>
                </a:solidFill>
                <a:latin typeface="Arial" panose="020B0604020202020204"/>
                <a:ea typeface="Arial" panose="020B0604020202020204"/>
                <a:cs typeface="Arial" panose="020B0604020202020204"/>
              </a:defRPr>
            </a:pPr>
            <a:r>
              <a:rPr sz="2400" b="0">
                <a:solidFill>
                  <a:srgbClr val="F6BE54"/>
                </a:solidFill>
                <a:latin typeface="Arial" panose="020B0604020202020204"/>
                <a:ea typeface="Arial" panose="020B0604020202020204"/>
                <a:cs typeface="Arial" panose="020B0604020202020204"/>
              </a:rPr>
              <a:t>Harvest the wind. Deliver the motion.</a:t>
            </a:r>
            <a:endParaRPr sz="2400" b="0">
              <a:solidFill>
                <a:srgbClr val="F6BE54"/>
              </a:solidFill>
              <a:latin typeface="Arial" panose="020B0604020202020204"/>
              <a:ea typeface="Arial" panose="020B0604020202020204"/>
              <a:cs typeface="Arial" panose="020B0604020202020204"/>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4415</Words>
  <Application>WPS Presentation</Application>
  <PresentationFormat>Converted Presentation</PresentationFormat>
  <Paragraphs>190</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Arial</vt:lpstr>
      <vt:lpstr>SimSun</vt:lpstr>
      <vt:lpstr>Wingdings</vt:lpstr>
      <vt:lpstr>Arial</vt:lpstr>
      <vt:lpstr>Nirmala UI</vt:lpstr>
      <vt:lpstr>Microsoft YaHei</vt:lpstr>
      <vt:lpstr>Arial Unicode MS</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Rafiul Microsoft</cp:lastModifiedBy>
  <cp:revision>2</cp:revision>
  <dcterms:created xsi:type="dcterms:W3CDTF">2026-10-26T19:39:00Z</dcterms:created>
  <dcterms:modified xsi:type="dcterms:W3CDTF">2026-10-27T09:33:46Z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DBD707DA2E434C459C11739EEC19B9C7_12</vt:lpwstr>
  </property>
</Properties>
</file>