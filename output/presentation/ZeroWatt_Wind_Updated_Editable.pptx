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ade4ca66284c1a" /><Relationship Type="http://schemas.openxmlformats.org/officeDocument/2006/relationships/extended-properties" Target="/docProps/app.xml" Id="Rdc000a962e3344ab" /><Relationship Type="http://schemas.openxmlformats.org/officeDocument/2006/relationships/officeDocument" Target="/ppt/presentation.xml" Id="R60e30c9e1e964715" /></Relationships>
</file>

<file path=ppt/presentation.xml><?xml version="1.0" encoding="utf-8"?>
<p:presentation xmlns:p="http://schemas.openxmlformats.org/presentationml/2006/main">
  <p:sldMasterIdLst>
    <p:sldMasterId xmlns:r="http://schemas.openxmlformats.org/officeDocument/2006/relationships" id="2147483648" r:id="Rff8c9d7d45004f46"/>
  </p:sldMasterIdLst>
  <p:notesMasterIdLst>
    <p:notesMasterId xmlns:r="http://schemas.openxmlformats.org/officeDocument/2006/relationships" r:id="Rdc2d4708f4d74f51"/>
  </p:notesMasterIdLst>
  <p:sldIdLst>
    <p:sldId xmlns:r="http://schemas.openxmlformats.org/officeDocument/2006/relationships" id="256" r:id="R058531972a214452"/>
    <p:sldId xmlns:r="http://schemas.openxmlformats.org/officeDocument/2006/relationships" id="257" r:id="R5e5748004d714ffd"/>
    <p:sldId xmlns:r="http://schemas.openxmlformats.org/officeDocument/2006/relationships" id="258" r:id="Rc7a403a0dd454c1d"/>
    <p:sldId xmlns:r="http://schemas.openxmlformats.org/officeDocument/2006/relationships" id="259" r:id="Re2a8ded907f24650"/>
    <p:sldId xmlns:r="http://schemas.openxmlformats.org/officeDocument/2006/relationships" id="260" r:id="R91d1b36c03694d50"/>
    <p:sldId xmlns:r="http://schemas.openxmlformats.org/officeDocument/2006/relationships" id="261" r:id="R078b721691bb4b96"/>
    <p:sldId xmlns:r="http://schemas.openxmlformats.org/officeDocument/2006/relationships" id="262" r:id="R9e972ac15d2942ac"/>
    <p:sldId xmlns:r="http://schemas.openxmlformats.org/officeDocument/2006/relationships" id="263" r:id="R657836fd5e734dc3"/>
    <p:sldId xmlns:r="http://schemas.openxmlformats.org/officeDocument/2006/relationships" id="264" r:id="R3c99b8007b9c4e14"/>
    <p:sldId xmlns:r="http://schemas.openxmlformats.org/officeDocument/2006/relationships" id="265" r:id="Rafe72c535cd34a9b"/>
    <p:sldId xmlns:r="http://schemas.openxmlformats.org/officeDocument/2006/relationships" id="266" r:id="R6bda2f28fa8b4c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393ce9b5304786" /><Relationship Type="http://schemas.openxmlformats.org/officeDocument/2006/relationships/slideMaster" Target="/ppt/slideMasters/slideMaster1.xml" Id="Rff8c9d7d45004f46" /><Relationship Type="http://schemas.openxmlformats.org/officeDocument/2006/relationships/notesMaster" Target="/ppt/notesMasters/notesMaster1.xml" Id="Rdc2d4708f4d74f51" /><Relationship Type="http://schemas.openxmlformats.org/officeDocument/2006/relationships/presProps" Target="/ppt/presProps.xml" Id="R770c08133c5a422c" /><Relationship Type="http://schemas.openxmlformats.org/officeDocument/2006/relationships/tableStyles" Target="/ppt/tableStyles.xml" Id="R34e7e248aaf2480d" /><Relationship Type="http://schemas.openxmlformats.org/officeDocument/2006/relationships/slide" Target="/ppt/slides/slide1.xml" Id="R058531972a214452" /><Relationship Type="http://schemas.openxmlformats.org/officeDocument/2006/relationships/slide" Target="/ppt/slides/slide2.xml" Id="R5e5748004d714ffd" /><Relationship Type="http://schemas.openxmlformats.org/officeDocument/2006/relationships/slide" Target="/ppt/slides/slide3.xml" Id="Rc7a403a0dd454c1d" /><Relationship Type="http://schemas.openxmlformats.org/officeDocument/2006/relationships/slide" Target="/ppt/slides/slide4.xml" Id="Re2a8ded907f24650" /><Relationship Type="http://schemas.openxmlformats.org/officeDocument/2006/relationships/slide" Target="/ppt/slides/slide5.xml" Id="R91d1b36c03694d50" /><Relationship Type="http://schemas.openxmlformats.org/officeDocument/2006/relationships/slide" Target="/ppt/slides/slide6.xml" Id="R078b721691bb4b96" /><Relationship Type="http://schemas.openxmlformats.org/officeDocument/2006/relationships/slide" Target="/ppt/slides/slide7.xml" Id="R9e972ac15d2942ac" /><Relationship Type="http://schemas.openxmlformats.org/officeDocument/2006/relationships/slide" Target="/ppt/slides/slide8.xml" Id="R657836fd5e734dc3" /><Relationship Type="http://schemas.openxmlformats.org/officeDocument/2006/relationships/slide" Target="/ppt/slides/slide9.xml" Id="R3c99b8007b9c4e14" /><Relationship Type="http://schemas.openxmlformats.org/officeDocument/2006/relationships/slide" Target="/ppt/slides/slide10.xml" Id="Rafe72c535cd34a9b" /><Relationship Type="http://schemas.openxmlformats.org/officeDocument/2006/relationships/slide" Target="/ppt/slides/slide11.xml" Id="R6bda2f28fa8b4c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0e67a1be0845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9e47f86dff45e8" /><Relationship Type="http://schemas.openxmlformats.org/officeDocument/2006/relationships/notesMaster" Target="/ppt/notesMasters/notesMaster1.xml" Id="R252667c9a90940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e6aabb2f0a450b" /><Relationship Type="http://schemas.openxmlformats.org/officeDocument/2006/relationships/notesMaster" Target="/ppt/notesMasters/notesMaster1.xml" Id="R4e32e18cc9be43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1a0a4fb5e44184" /><Relationship Type="http://schemas.openxmlformats.org/officeDocument/2006/relationships/notesMaster" Target="/ppt/notesMasters/notesMaster1.xml" Id="R32ed4deed7be4a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fd092d2d304ec7" /><Relationship Type="http://schemas.openxmlformats.org/officeDocument/2006/relationships/notesMaster" Target="/ppt/notesMasters/notesMaster1.xml" Id="R340bc848192744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83d82db3e74be5" /><Relationship Type="http://schemas.openxmlformats.org/officeDocument/2006/relationships/notesMaster" Target="/ppt/notesMasters/notesMaster1.xml" Id="Rf65ee26f58f14e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fc1039e27f4e0b" /><Relationship Type="http://schemas.openxmlformats.org/officeDocument/2006/relationships/notesMaster" Target="/ppt/notesMasters/notesMaster1.xml" Id="R5f6df50c1c254a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5a56f90a00425a" /><Relationship Type="http://schemas.openxmlformats.org/officeDocument/2006/relationships/notesMaster" Target="/ppt/notesMasters/notesMaster1.xml" Id="R5509f2c25c6944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adbfc49a014424" /><Relationship Type="http://schemas.openxmlformats.org/officeDocument/2006/relationships/notesMaster" Target="/ppt/notesMasters/notesMaster1.xml" Id="Re059b26649e843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ed2eafb2574514" /><Relationship Type="http://schemas.openxmlformats.org/officeDocument/2006/relationships/notesMaster" Target="/ppt/notesMasters/notesMaster1.xml" Id="Ra5719e9278aa46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24943f74b745b2" /><Relationship Type="http://schemas.openxmlformats.org/officeDocument/2006/relationships/notesMaster" Target="/ppt/notesMasters/notesMaster1.xml" Id="R38126cbabb0b4d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6cdb8e7ed444c0" /><Relationship Type="http://schemas.openxmlformats.org/officeDocument/2006/relationships/notesMaster" Target="/ppt/notesMasters/notesMaster1.xml" Id="Racadb88c219c4b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ZeroWatt Wind is a mechanical concept that uses wind to drive a fan or a surface paddle wheel. The photograph shows the small printed demonstrator. No electricity is needed by the uninstrumented mechanical core while sufficient wind is available.</a:t>
            </a:r>
          </a:p>
          <a:p xmlns:a="http://schemas.openxmlformats.org/drawingml/2006/main">
            <a:r>
              <a:t/>
            </a:r>
          </a:p>
          <a:p xmlns:a="http://schemas.openxmlformats.org/drawingml/2006/main">
            <a:r>
              <a:t>Sources: ZeroWatt Wind_Poster.pdf; ZeroWattWind-CezeriProject (1).pdf pp. 2–7; website assets/prototype-white.jpg.</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targets rooms with poor airflow and an exposed, windy roof, plus ponds that may benefit from supplementary surface aeration. Natural ventilation remains useful where openings and wind are adequate. The website city image illustrates the context and is not field evidence. Avoid claiming continuous ventilation or adequate pond oxygen without measured wind and load data.</a:t>
            </a:r>
          </a:p>
          <a:p xmlns:a="http://schemas.openxmlformats.org/drawingml/2006/main">
            <a:r>
              <a:t/>
            </a:r>
          </a:p>
          <a:p xmlns:a="http://schemas.openxmlformats.org/drawingml/2006/main">
            <a:r>
              <a:t>Sources: Poster problem statement; Cezeri project pp. 3–4; costing document FAQ; local website docs/cars/citywide-clear.png.</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describes a two-stage right-angle bevel drivetrain. One mechanism serves two separate applications. A ventilation installation and a pond installation each need their own system. The spiral geometry and NACA 65-810 profile are design choices, not proof of higher efficiency or lower starting wind speed.</a:t>
            </a:r>
          </a:p>
          <a:p xmlns:a="http://schemas.openxmlformats.org/drawingml/2006/main">
            <a:r>
              <a:t/>
            </a:r>
          </a:p>
          <a:p xmlns:a="http://schemas.openxmlformats.org/drawingml/2006/main">
            <a:r>
              <a:t>Sources: Poster annotated prototype; Cezeri project pp. 3, 5–6. Image extracted directly from supplied poster.</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images are supplied website simulation screenshots, not photographs of field installations. The left shows wind capture, exhaust and fresh-air intake. The right shows the pond paddle-wheel concept. Both depend on wind. Source: user attachments, ventilation.png and pond.png.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has designed and fabricated a small demonstrator. The project video is linked in the submission: https://youtu.be/nL_0LNzpgFc . The poster explicitly says that starting wind speed, torque, airflow, drivetrain efficiency and oxygen transfer remain unmeasured. The written specification says PLA, while one slicer screenshot labels PETG, so confirm the material before discussing production suitability.</a:t>
            </a:r>
          </a:p>
          <a:p xmlns:a="http://schemas.openxmlformats.org/drawingml/2006/main">
            <a:r>
              <a:t/>
            </a:r>
          </a:p>
          <a:p xmlns:a="http://schemas.openxmlformats.org/drawingml/2006/main">
            <a:r>
              <a:t>Sources: Cezeri project pp. 5–8; poster fabrication section; website assets/prototype-black.jpg.</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from costing_zero_watt_wind.docx. Currency is treated as BDT because the FAQ uses taka and Bangladesh suppliers. Ventilation: rotor 4.5×600=2700; gears 2×0.162×250=81; fan 0.121×600=72.60; collars 4×0.030×600=72; supports 3×0.327×120=117.72; casing and nuts 1000. Total 4043.32. Pond: paddle 3000; brackets/couplings/nuts 700; rotor 2700; gears 4×0.162×250=162; collars 72; supports 117.72. Total 6751.72. Displayed headlines round to the nearest BDT. The source narrative says about 4000 and 6500, but the listed expressions total 4043.32 and 6751.72. Rates and quantities are unverified estimates. No quoted installation labour, bearings, transport, maintenance or contingency allowance is established. Hybrid solar/battery costs are separate. Payback and electricity savings are not measured, so they are omitted.</a:t>
            </a:r>
          </a:p>
          <a:p xmlns:a="http://schemas.openxmlformats.org/drawingml/2006/main">
            <a:r>
              <a:t/>
            </a:r>
          </a:p>
          <a:p xmlns:a="http://schemas.openxmlformats.org/drawingml/2006/main">
            <a:r>
              <a:t>Sources: G:/new_8/costing_zero_watt_wind.docx, component tables.</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scope. The question and answer reproduce the hybrid FAQ from G:/new_8/costing_zero_watt_wind.docx, with whitespace normalised. The 4000tk, 40k and 45k amounts are draft team figures, not verified quotes. The household-energy statement is an aspiration, not a sized or tested result. Hybrid components require electricity and are outside the mechanical component subtotal. Image: user supplied hybrid.png.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and answer reproduced from the team costing document, FAQ 1. Whitespace normalised. The answer describes intended use and proposed benefits, not measured field savings. Source: G:/new_8/costing_zero_watt_wind.docx.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and answer reproduced from costing_zero_watt_wind.docx, FAQ 2. The original 2400tk annual electricity cost and 2.5-year payback are team assumptions. The source does not establish a tariff, equal-service operating comparison, verified wind output or installed cost sufficient to validate payback. Preserve this qualification while presenting the supplied wording.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and answer reproduced from costing_zero_watt_wind.docx, FAQ 4. The annual example uses 1.5kW × 8h/day × 360days × BDT10/kWh = BDT43,200; 20% is BDT8,640 and BDT10,000/8640 is about 1.2 years before maintenance. These are assumptions, not measured savings. The quoted 41k supplier price has not been rechecked, and the 6.5k narrative estimate differs from the component line-item total BDT6,751.72 shown in this deck. Multiple units cannot be assumed adequate without wind and oxygen-transfer measurements. Keep emergency backup where needed. Source: G:/new_8/costing_zero_watt_wind.docx.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Contributor names and institutional affiliation follow the supplied ZeroWatt Wind poster. The earlier Cezeri competition submission lists only Mohammad Rafiul Islam and Tasnia Basharat Mahi. This introduction follows the three-person poster team, as in the earlier deck. No roles, qualifications or biographies are invented. Source: ZeroWatt Wind_Poster.pdf contributor line.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6afa2ca27d4e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3c3ccd198149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4255317cd14d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3c0aaacccb47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e67845027340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e5831ed92149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5FAD00-317E-4B6C-931B-3C3707C12E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BA7A03-C95A-4830-B6B6-57449DEFA0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48F7F4-9331-4751-9A0A-A1B90155EC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F35A8-4FE0-488C-B735-B0333D97D9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4468B8-5B87-439F-BC86-713FCB1258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7D67685-F08C-4A87-85FD-6F976A5618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1DAC77-9E6D-4AF2-8A73-05F4859284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D00510-A036-4EDE-9219-801FB4182F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AA0F0A-8C33-4C20-833D-5A7BE70415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D871A7-5A5B-4311-B7B9-A154798D9C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a62b7f9c564508" /><Relationship Type="http://schemas.openxmlformats.org/officeDocument/2006/relationships/slideLayout" Target="/ppt/slideLayouts/slideLayout1.xml" Id="Rf82fed4fc8fb45af" /><Relationship Type="http://schemas.openxmlformats.org/officeDocument/2006/relationships/slideLayout" Target="/ppt/slideLayouts/slideLayout2.xml" Id="Rf85c15f27cf9467b" /><Relationship Type="http://schemas.openxmlformats.org/officeDocument/2006/relationships/slideLayout" Target="/ppt/slideLayouts/slideLayout3.xml" Id="R52df808bc1ac4f6f" /><Relationship Type="http://schemas.openxmlformats.org/officeDocument/2006/relationships/slideLayout" Target="/ppt/slideLayouts/slideLayout4.xml" Id="Rcdc2ca5c411f471d" /><Relationship Type="http://schemas.openxmlformats.org/officeDocument/2006/relationships/slideLayout" Target="/ppt/slideLayouts/slideLayout5.xml" Id="R083c795956e14ec4" /><Relationship Type="http://schemas.openxmlformats.org/officeDocument/2006/relationships/slideLayout" Target="/ppt/slideLayouts/slideLayout6.xml" Id="Redc37f21d8be4b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2fed4fc8fb45af"/>
    <p:sldLayoutId xmlns:r="http://schemas.openxmlformats.org/officeDocument/2006/relationships" id="2147483650" r:id="Rf85c15f27cf9467b"/>
    <p:sldLayoutId xmlns:r="http://schemas.openxmlformats.org/officeDocument/2006/relationships" id="2147483651" r:id="R52df808bc1ac4f6f"/>
    <p:sldLayoutId xmlns:r="http://schemas.openxmlformats.org/officeDocument/2006/relationships" id="2147483652" r:id="Rcdc2ca5c411f471d"/>
    <p:sldLayoutId xmlns:r="http://schemas.openxmlformats.org/officeDocument/2006/relationships" id="2147483653" r:id="R083c795956e14ec4"/>
    <p:sldLayoutId xmlns:r="http://schemas.openxmlformats.org/officeDocument/2006/relationships" id="2147483654" r:id="Redc37f21d8be4b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2b67227dca4d38" /><Relationship Type="http://schemas.openxmlformats.org/officeDocument/2006/relationships/image" Target="/ppt/media/image.jpeg" Id="R681c15699f8b4a6f" /><Relationship Type="http://schemas.openxmlformats.org/officeDocument/2006/relationships/image" Target="/ppt/media/image2.jpeg" Id="Rda07e370aa794abd" /><Relationship Type="http://schemas.openxmlformats.org/officeDocument/2006/relationships/notesSlide" Target="/ppt/notesSlides/notesSlide1.xml" Id="R4baf8cc9bc2c46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ed57ff365634a7c" /><Relationship Type="http://schemas.openxmlformats.org/officeDocument/2006/relationships/image" Target="/ppt/media/image3.jpeg" Id="R5b3d45b07918497e" /><Relationship Type="http://schemas.openxmlformats.org/officeDocument/2006/relationships/image" Target="/ppt/media/image.png" Id="R07d029658b754fe7" /><Relationship Type="http://schemas.openxmlformats.org/officeDocument/2006/relationships/notesSlide" Target="/ppt/notesSlides/notesSlide2.xml" Id="Rebe0fcf412b34f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7dca18857b423e" /><Relationship Type="http://schemas.openxmlformats.org/officeDocument/2006/relationships/image" Target="/ppt/media/image4.jpeg" Id="R1dacd09cf0e541b7" /><Relationship Type="http://schemas.openxmlformats.org/officeDocument/2006/relationships/image" Target="/ppt/media/image2.png" Id="R54cdbe75d71f43a2" /><Relationship Type="http://schemas.openxmlformats.org/officeDocument/2006/relationships/notesSlide" Target="/ppt/notesSlides/notesSlide3.xml" Id="R3d05158df62a43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cdf929a1cc4aa2" /><Relationship Type="http://schemas.openxmlformats.org/officeDocument/2006/relationships/image" Target="/ppt/media/image5.jpeg" Id="R670aa889a291453c" /><Relationship Type="http://schemas.openxmlformats.org/officeDocument/2006/relationships/image" Target="/ppt/media/image3.png" Id="R78e96d042e2c42a5" /><Relationship Type="http://schemas.openxmlformats.org/officeDocument/2006/relationships/image" Target="/ppt/media/image4.png" Id="R95048f0652c742ed" /><Relationship Type="http://schemas.openxmlformats.org/officeDocument/2006/relationships/notesSlide" Target="/ppt/notesSlides/notesSlide4.xml" Id="Rcab81d7c90124f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3a7a3b2ada34e4c" /><Relationship Type="http://schemas.openxmlformats.org/officeDocument/2006/relationships/image" Target="/ppt/media/image6.jpeg" Id="R60c10b437a204101" /><Relationship Type="http://schemas.openxmlformats.org/officeDocument/2006/relationships/image" Target="/ppt/media/image7.jpeg" Id="Reec7ff2217894bd8" /><Relationship Type="http://schemas.openxmlformats.org/officeDocument/2006/relationships/notesSlide" Target="/ppt/notesSlides/notesSlide5.xml" Id="Rdc7adcc808044f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3062c4765b49ff" /><Relationship Type="http://schemas.openxmlformats.org/officeDocument/2006/relationships/image" Target="/ppt/media/image8.jpeg" Id="R18a33f9cb0914c1a" /><Relationship Type="http://schemas.openxmlformats.org/officeDocument/2006/relationships/notesSlide" Target="/ppt/notesSlides/notesSlide6.xml" Id="R771b6989a12e40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6fbbe392334e8d" /><Relationship Type="http://schemas.openxmlformats.org/officeDocument/2006/relationships/image" Target="/ppt/media/image9.jpeg" Id="R77da0d8cec094b9e" /><Relationship Type="http://schemas.openxmlformats.org/officeDocument/2006/relationships/image" Target="/ppt/media/image5.png" Id="Rab06333d6bc549fa" /><Relationship Type="http://schemas.openxmlformats.org/officeDocument/2006/relationships/notesSlide" Target="/ppt/notesSlides/notesSlide7.xml" Id="Rd5a25c6fb36641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2a98aa0d2742ca" /><Relationship Type="http://schemas.openxmlformats.org/officeDocument/2006/relationships/image" Target="/ppt/media/image10.jpeg" Id="Rbe1c2da4017e4e6a" /><Relationship Type="http://schemas.openxmlformats.org/officeDocument/2006/relationships/notesSlide" Target="/ppt/notesSlides/notesSlide8.xml" Id="Rcc42b02408ef45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5653a1b81646d3" /><Relationship Type="http://schemas.openxmlformats.org/officeDocument/2006/relationships/image" Target="/ppt/media/image11.jpeg" Id="Rf982528be8574886" /><Relationship Type="http://schemas.openxmlformats.org/officeDocument/2006/relationships/notesSlide" Target="/ppt/notesSlides/notesSlide9.xml" Id="Redaca7b1e5b148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d769967324b4bf8" /><Relationship Type="http://schemas.openxmlformats.org/officeDocument/2006/relationships/image" Target="/ppt/media/image12.jpeg" Id="Re28558ae51004543" /><Relationship Type="http://schemas.openxmlformats.org/officeDocument/2006/relationships/notesSlide" Target="/ppt/notesSlides/notesSlide10.xml" Id="R6739b4f6ef1345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b3f03fa037c4e16" /><Relationship Type="http://schemas.openxmlformats.org/officeDocument/2006/relationships/image" Target="/ppt/media/image13.jpeg" Id="R9e97a59ba1514ede" /><Relationship Type="http://schemas.openxmlformats.org/officeDocument/2006/relationships/notesSlide" Target="/ppt/notesSlides/notesSlide11.xml" Id="Re74c79e224ce48f2" /></Relationships>
</file>

<file path=ppt/slides/slide1.xml><?xml version="1.0" encoding="utf-8"?>
<p:sld xmlns:p="http://schemas.openxmlformats.org/presentationml/2006/main">
  <p:cSld>
    <p:bg>
      <p:bgPr>
        <a:solidFill xmlns:a="http://schemas.openxmlformats.org/drawingml/2006/main">
          <a:srgbClr val="101713"/>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33E085C-D80E-4CD7-89C4-7085262751AF}"/>
              </a:ext>
            </a:extLst>
          </p:cNvPr>
          <p:cNvPicPr>
            <a:picLocks xmlns:a="http://schemas.openxmlformats.org/drawingml/2006/main" noChangeAspect="1"/>
          </p:cNvPicPr>
          <p:nvPr/>
        </p:nvPicPr>
        <p:blipFill>
          <a:blip xmlns:r="http://schemas.openxmlformats.org/officeDocument/2006/relationships" xmlns:a="http://schemas.openxmlformats.org/drawingml/2006/main" r:embed="R681c15699f8b4a6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7F7DD7E1-C019-4325-8A1A-4BF155AABDC6}"/>
              </a:ext>
            </a:extLst>
          </p:cNvPr>
          <p:cNvPicPr>
            <a:picLocks xmlns:a="http://schemas.openxmlformats.org/drawingml/2006/main" noChangeAspect="1"/>
          </p:cNvPicPr>
          <p:nvPr/>
        </p:nvPicPr>
        <p:blipFill>
          <a:blip xmlns:r="http://schemas.openxmlformats.org/officeDocument/2006/relationships" xmlns:a="http://schemas.openxmlformats.org/drawingml/2006/main" r:embed="Rda07e370aa794abd"/>
          <a:srcRect xmlns:a="http://schemas.openxmlformats.org/drawingml/2006/main" l="17081" t="0" r="17081" b="0"/>
          <a:stretch xmlns:a="http://schemas.openxmlformats.org/drawingml/2006/main">
            <a:fillRect l="0" t="0" r="0" b="0"/>
          </a:stretch>
        </p:blipFill>
        <p:spPr>
          <a:xfrm xmlns:a="http://schemas.openxmlformats.org/drawingml/2006/main">
            <a:off x="5715000" y="0"/>
            <a:ext cx="6477000" cy="6858000"/>
          </a:xfrm>
          <a:prstGeom xmlns:a="http://schemas.openxmlformats.org/drawingml/2006/main" prst="rect">
            <a:avLst/>
          </a:prstGeom>
        </p:spPr>
      </p:pic>
      <p:sp>
        <p:nvSpPr>
          <p:cNvPr id="4" name="ZeroWatt&#10;Wind">
            <a:extLst xmlns:a="http://schemas.openxmlformats.org/drawingml/2006/main">
              <a:ext uri="{FF2B5EF4-FFF2-40B4-BE49-F238E27FC236}">
                <a16:creationId xmlns:a16="http://schemas.microsoft.com/office/drawing/2014/main" id="{5BBC0E24-A83D-4266-A426-0F2893FCB137}"/>
              </a:ext>
            </a:extLst>
          </p:cNvPr>
          <p:cNvSpPr>
            <a:spLocks xmlns:a="http://schemas.openxmlformats.org/drawingml/2006/main" noGrp="1"/>
          </p:cNvSpPr>
          <p:nvPr/>
        </p:nvSpPr>
        <p:spPr>
          <a:xfrm xmlns:a="http://schemas.openxmlformats.org/drawingml/2006/main">
            <a:off x="609600" y="1028700"/>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925" b="1">
                <a:solidFill>
                  <a:srgbClr val="F4F3EB"/>
                </a:solidFill>
                <a:latin typeface="Arial"/>
                <a:ea typeface="Arial"/>
                <a:cs typeface="Arial"/>
              </a:defRPr>
            </a:defPPr>
            <a:lvl1pPr>
              <a:defRPr sz="5925" b="1">
                <a:solidFill>
                  <a:srgbClr val="F4F3EB"/>
                </a:solidFill>
                <a:latin typeface="Arial"/>
                <a:ea typeface="Arial"/>
                <a:cs typeface="Arial"/>
              </a:defRPr>
            </a:lvl1pPr>
            <a:lvl2pPr>
              <a:defRPr sz="5925" b="1">
                <a:solidFill>
                  <a:srgbClr val="F4F3EB"/>
                </a:solidFill>
                <a:latin typeface="Arial"/>
                <a:ea typeface="Arial"/>
                <a:cs typeface="Arial"/>
              </a:defRPr>
            </a:lvl2pPr>
            <a:lvl3pPr>
              <a:defRPr sz="5925" b="1">
                <a:solidFill>
                  <a:srgbClr val="F4F3EB"/>
                </a:solidFill>
                <a:latin typeface="Arial"/>
                <a:ea typeface="Arial"/>
                <a:cs typeface="Arial"/>
              </a:defRPr>
            </a:lvl3pPr>
            <a:lvl4pPr>
              <a:defRPr sz="5925" b="1">
                <a:solidFill>
                  <a:srgbClr val="F4F3EB"/>
                </a:solidFill>
                <a:latin typeface="Arial"/>
                <a:ea typeface="Arial"/>
                <a:cs typeface="Arial"/>
              </a:defRPr>
            </a:lvl4pPr>
            <a:lvl5pPr>
              <a:defRPr sz="5925" b="1">
                <a:solidFill>
                  <a:srgbClr val="F4F3EB"/>
                </a:solidFill>
                <a:latin typeface="Arial"/>
                <a:ea typeface="Arial"/>
                <a:cs typeface="Arial"/>
              </a:defRPr>
            </a:lvl5pPr>
            <a:lvl6pPr>
              <a:defRPr sz="5925" b="1">
                <a:solidFill>
                  <a:srgbClr val="F4F3EB"/>
                </a:solidFill>
                <a:latin typeface="Arial"/>
                <a:ea typeface="Arial"/>
                <a:cs typeface="Arial"/>
              </a:defRPr>
            </a:lvl6pPr>
            <a:lvl7pPr>
              <a:defRPr sz="5925" b="1">
                <a:solidFill>
                  <a:srgbClr val="F4F3EB"/>
                </a:solidFill>
                <a:latin typeface="Arial"/>
                <a:ea typeface="Arial"/>
                <a:cs typeface="Arial"/>
              </a:defRPr>
            </a:lvl7pPr>
            <a:lvl8pPr>
              <a:defRPr sz="5925" b="1">
                <a:solidFill>
                  <a:srgbClr val="F4F3EB"/>
                </a:solidFill>
                <a:latin typeface="Arial"/>
                <a:ea typeface="Arial"/>
                <a:cs typeface="Arial"/>
              </a:defRPr>
            </a:lvl8pPr>
            <a:lvl9pPr>
              <a:defRPr sz="5925" b="1">
                <a:solidFill>
                  <a:srgbClr val="F4F3EB"/>
                </a:solidFill>
                <a:latin typeface="Arial"/>
                <a:ea typeface="Arial"/>
                <a:cs typeface="Arial"/>
              </a:defRPr>
            </a:lvl9pPr>
          </a:lstStyle>
          <a:p xmlns:a="http://schemas.openxmlformats.org/drawingml/2006/main">
            <a:pPr>
              <a:defRPr sz="5925" b="1">
                <a:solidFill>
                  <a:srgbClr val="F4F3EB"/>
                </a:solidFill>
                <a:latin typeface="Arial"/>
                <a:ea typeface="Arial"/>
                <a:cs typeface="Arial"/>
              </a:defRPr>
            </a:pPr>
            <a:r>
              <a:rPr sz="5925" b="1">
                <a:solidFill>
                  <a:srgbClr val="F4F3EB"/>
                </a:solidFill>
                <a:latin typeface="Arial"/>
                <a:ea typeface="Arial"/>
                <a:cs typeface="Arial"/>
              </a:rPr>
              <a:t>ZeroWatt</a:t>
            </a:r>
          </a:p>
          <a:p xmlns:a="http://schemas.openxmlformats.org/drawingml/2006/main">
            <a:pPr>
              <a:defRPr sz="5925" b="1">
                <a:solidFill>
                  <a:srgbClr val="F4F3EB"/>
                </a:solidFill>
                <a:latin typeface="Arial"/>
                <a:ea typeface="Arial"/>
                <a:cs typeface="Arial"/>
              </a:defRPr>
            </a:pPr>
            <a:r>
              <a:rPr sz="5925" b="1">
                <a:solidFill>
                  <a:srgbClr val="F4F3EB"/>
                </a:solidFill>
                <a:latin typeface="Arial"/>
                <a:ea typeface="Arial"/>
                <a:cs typeface="Arial"/>
              </a:rPr>
              <a:t>Wind</a:t>
            </a:r>
          </a:p>
        </p:txBody>
      </p:sp>
      <p:sp>
        <p:nvSpPr>
          <p:cNvPr id="5" name="Harvest the wind.&#10;Deliver the motion.">
            <a:extLst xmlns:a="http://schemas.openxmlformats.org/drawingml/2006/main">
              <a:ext uri="{FF2B5EF4-FFF2-40B4-BE49-F238E27FC236}">
                <a16:creationId xmlns:a16="http://schemas.microsoft.com/office/drawing/2014/main" id="{EE12E1EC-3083-41CF-BFCE-C1E425898AC9}"/>
              </a:ext>
            </a:extLst>
          </p:cNvPr>
          <p:cNvSpPr>
            <a:spLocks xmlns:a="http://schemas.openxmlformats.org/drawingml/2006/main" noGrp="1"/>
          </p:cNvSpPr>
          <p:nvPr/>
        </p:nvSpPr>
        <p:spPr>
          <a:xfrm xmlns:a="http://schemas.openxmlformats.org/drawingml/2006/main">
            <a:off x="638175" y="318135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C5DD9A"/>
                </a:solidFill>
                <a:latin typeface="Arial"/>
                <a:ea typeface="Arial"/>
                <a:cs typeface="Arial"/>
              </a:defRPr>
            </a:defPPr>
            <a:lvl1pPr>
              <a:defRPr sz="2400" b="0">
                <a:solidFill>
                  <a:srgbClr val="C5DD9A"/>
                </a:solidFill>
                <a:latin typeface="Arial"/>
                <a:ea typeface="Arial"/>
                <a:cs typeface="Arial"/>
              </a:defRPr>
            </a:lvl1pPr>
            <a:lvl2pPr>
              <a:defRPr sz="2400" b="0">
                <a:solidFill>
                  <a:srgbClr val="C5DD9A"/>
                </a:solidFill>
                <a:latin typeface="Arial"/>
                <a:ea typeface="Arial"/>
                <a:cs typeface="Arial"/>
              </a:defRPr>
            </a:lvl2pPr>
            <a:lvl3pPr>
              <a:defRPr sz="2400" b="0">
                <a:solidFill>
                  <a:srgbClr val="C5DD9A"/>
                </a:solidFill>
                <a:latin typeface="Arial"/>
                <a:ea typeface="Arial"/>
                <a:cs typeface="Arial"/>
              </a:defRPr>
            </a:lvl3pPr>
            <a:lvl4pPr>
              <a:defRPr sz="2400" b="0">
                <a:solidFill>
                  <a:srgbClr val="C5DD9A"/>
                </a:solidFill>
                <a:latin typeface="Arial"/>
                <a:ea typeface="Arial"/>
                <a:cs typeface="Arial"/>
              </a:defRPr>
            </a:lvl4pPr>
            <a:lvl5pPr>
              <a:defRPr sz="2400" b="0">
                <a:solidFill>
                  <a:srgbClr val="C5DD9A"/>
                </a:solidFill>
                <a:latin typeface="Arial"/>
                <a:ea typeface="Arial"/>
                <a:cs typeface="Arial"/>
              </a:defRPr>
            </a:lvl5pPr>
            <a:lvl6pPr>
              <a:defRPr sz="2400" b="0">
                <a:solidFill>
                  <a:srgbClr val="C5DD9A"/>
                </a:solidFill>
                <a:latin typeface="Arial"/>
                <a:ea typeface="Arial"/>
                <a:cs typeface="Arial"/>
              </a:defRPr>
            </a:lvl6pPr>
            <a:lvl7pPr>
              <a:defRPr sz="2400" b="0">
                <a:solidFill>
                  <a:srgbClr val="C5DD9A"/>
                </a:solidFill>
                <a:latin typeface="Arial"/>
                <a:ea typeface="Arial"/>
                <a:cs typeface="Arial"/>
              </a:defRPr>
            </a:lvl7pPr>
            <a:lvl8pPr>
              <a:defRPr sz="2400" b="0">
                <a:solidFill>
                  <a:srgbClr val="C5DD9A"/>
                </a:solidFill>
                <a:latin typeface="Arial"/>
                <a:ea typeface="Arial"/>
                <a:cs typeface="Arial"/>
              </a:defRPr>
            </a:lvl8pPr>
            <a:lvl9pPr>
              <a:defRPr sz="2400" b="0">
                <a:solidFill>
                  <a:srgbClr val="C5DD9A"/>
                </a:solidFill>
                <a:latin typeface="Arial"/>
                <a:ea typeface="Arial"/>
                <a:cs typeface="Arial"/>
              </a:defRPr>
            </a:lvl9pPr>
          </a:lstStyle>
          <a:p xmlns:a="http://schemas.openxmlformats.org/drawingml/2006/main">
            <a:pPr>
              <a:defRPr sz="2400" b="0">
                <a:solidFill>
                  <a:srgbClr val="C5DD9A"/>
                </a:solidFill>
                <a:latin typeface="Arial"/>
                <a:ea typeface="Arial"/>
                <a:cs typeface="Arial"/>
              </a:defRPr>
            </a:pPr>
            <a:r>
              <a:rPr sz="2400" b="0">
                <a:solidFill>
                  <a:srgbClr val="C5DD9A"/>
                </a:solidFill>
                <a:latin typeface="Arial"/>
                <a:ea typeface="Arial"/>
                <a:cs typeface="Arial"/>
              </a:rPr>
              <a:t>Harvest the wind.</a:t>
            </a:r>
          </a:p>
          <a:p xmlns:a="http://schemas.openxmlformats.org/drawingml/2006/main">
            <a:pPr>
              <a:defRPr sz="2400" b="0">
                <a:solidFill>
                  <a:srgbClr val="C5DD9A"/>
                </a:solidFill>
                <a:latin typeface="Arial"/>
                <a:ea typeface="Arial"/>
                <a:cs typeface="Arial"/>
              </a:defRPr>
            </a:pPr>
            <a:r>
              <a:rPr sz="2400" b="0">
                <a:solidFill>
                  <a:srgbClr val="C5DD9A"/>
                </a:solidFill>
                <a:latin typeface="Arial"/>
                <a:ea typeface="Arial"/>
                <a:cs typeface="Arial"/>
              </a:rPr>
              <a:t>Deliver the motion.</a:t>
            </a:r>
          </a:p>
        </p:txBody>
      </p:sp>
      <p:sp>
        <p:nvSpPr>
          <p:cNvPr id="6" name="Wind-driven ventilation&#10;and pond aeration">
            <a:extLst xmlns:a="http://schemas.openxmlformats.org/drawingml/2006/main">
              <a:ext uri="{FF2B5EF4-FFF2-40B4-BE49-F238E27FC236}">
                <a16:creationId xmlns:a16="http://schemas.microsoft.com/office/drawing/2014/main" id="{BF5F04F1-8960-4C71-AA58-910C7163B813}"/>
              </a:ext>
            </a:extLst>
          </p:cNvPr>
          <p:cNvSpPr>
            <a:spLocks xmlns:a="http://schemas.openxmlformats.org/drawingml/2006/main" noGrp="1"/>
          </p:cNvSpPr>
          <p:nvPr/>
        </p:nvSpPr>
        <p:spPr>
          <a:xfrm xmlns:a="http://schemas.openxmlformats.org/drawingml/2006/main">
            <a:off x="638175" y="4457700"/>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4F3EB"/>
                </a:solidFill>
                <a:latin typeface="Arial"/>
                <a:ea typeface="Arial"/>
                <a:cs typeface="Arial"/>
              </a:defRPr>
            </a:defPPr>
            <a:lvl1pPr>
              <a:defRPr sz="2100" b="0">
                <a:solidFill>
                  <a:srgbClr val="F4F3EB"/>
                </a:solidFill>
                <a:latin typeface="Arial"/>
                <a:ea typeface="Arial"/>
                <a:cs typeface="Arial"/>
              </a:defRPr>
            </a:lvl1pPr>
            <a:lvl2pPr>
              <a:defRPr sz="2100" b="0">
                <a:solidFill>
                  <a:srgbClr val="F4F3EB"/>
                </a:solidFill>
                <a:latin typeface="Arial"/>
                <a:ea typeface="Arial"/>
                <a:cs typeface="Arial"/>
              </a:defRPr>
            </a:lvl2pPr>
            <a:lvl3pPr>
              <a:defRPr sz="2100" b="0">
                <a:solidFill>
                  <a:srgbClr val="F4F3EB"/>
                </a:solidFill>
                <a:latin typeface="Arial"/>
                <a:ea typeface="Arial"/>
                <a:cs typeface="Arial"/>
              </a:defRPr>
            </a:lvl3pPr>
            <a:lvl4pPr>
              <a:defRPr sz="2100" b="0">
                <a:solidFill>
                  <a:srgbClr val="F4F3EB"/>
                </a:solidFill>
                <a:latin typeface="Arial"/>
                <a:ea typeface="Arial"/>
                <a:cs typeface="Arial"/>
              </a:defRPr>
            </a:lvl4pPr>
            <a:lvl5pPr>
              <a:defRPr sz="2100" b="0">
                <a:solidFill>
                  <a:srgbClr val="F4F3EB"/>
                </a:solidFill>
                <a:latin typeface="Arial"/>
                <a:ea typeface="Arial"/>
                <a:cs typeface="Arial"/>
              </a:defRPr>
            </a:lvl5pPr>
            <a:lvl6pPr>
              <a:defRPr sz="2100" b="0">
                <a:solidFill>
                  <a:srgbClr val="F4F3EB"/>
                </a:solidFill>
                <a:latin typeface="Arial"/>
                <a:ea typeface="Arial"/>
                <a:cs typeface="Arial"/>
              </a:defRPr>
            </a:lvl6pPr>
            <a:lvl7pPr>
              <a:defRPr sz="2100" b="0">
                <a:solidFill>
                  <a:srgbClr val="F4F3EB"/>
                </a:solidFill>
                <a:latin typeface="Arial"/>
                <a:ea typeface="Arial"/>
                <a:cs typeface="Arial"/>
              </a:defRPr>
            </a:lvl7pPr>
            <a:lvl8pPr>
              <a:defRPr sz="2100" b="0">
                <a:solidFill>
                  <a:srgbClr val="F4F3EB"/>
                </a:solidFill>
                <a:latin typeface="Arial"/>
                <a:ea typeface="Arial"/>
                <a:cs typeface="Arial"/>
              </a:defRPr>
            </a:lvl8pPr>
            <a:lvl9pPr>
              <a:defRPr sz="2100" b="0">
                <a:solidFill>
                  <a:srgbClr val="F4F3EB"/>
                </a:solidFill>
                <a:latin typeface="Arial"/>
                <a:ea typeface="Arial"/>
                <a:cs typeface="Arial"/>
              </a:defRPr>
            </a:lvl9pPr>
          </a:lstStyle>
          <a:p xmlns:a="http://schemas.openxmlformats.org/drawingml/2006/main">
            <a:pPr>
              <a:defRPr sz="2100" b="0">
                <a:solidFill>
                  <a:srgbClr val="F4F3EB"/>
                </a:solidFill>
                <a:latin typeface="Arial"/>
                <a:ea typeface="Arial"/>
                <a:cs typeface="Arial"/>
              </a:defRPr>
            </a:pPr>
            <a:r>
              <a:rPr sz="2100" b="0">
                <a:solidFill>
                  <a:srgbClr val="F4F3EB"/>
                </a:solidFill>
                <a:latin typeface="Arial"/>
                <a:ea typeface="Arial"/>
                <a:cs typeface="Arial"/>
              </a:rPr>
              <a:t>Wind-driven ventilation</a:t>
            </a:r>
          </a:p>
          <a:p xmlns:a="http://schemas.openxmlformats.org/drawingml/2006/main">
            <a:pPr>
              <a:defRPr sz="2100" b="0">
                <a:solidFill>
                  <a:srgbClr val="F4F3EB"/>
                </a:solidFill>
                <a:latin typeface="Arial"/>
                <a:ea typeface="Arial"/>
                <a:cs typeface="Arial"/>
              </a:defRPr>
            </a:pPr>
            <a:r>
              <a:rPr sz="2100" b="0">
                <a:solidFill>
                  <a:srgbClr val="F4F3EB"/>
                </a:solidFill>
                <a:latin typeface="Arial"/>
                <a:ea typeface="Arial"/>
                <a:cs typeface="Arial"/>
              </a:rPr>
              <a:t>and pond aeration</a:t>
            </a:r>
          </a:p>
        </p:txBody>
      </p:sp>
      <p:sp>
        <p:nvSpPr>
          <p:cNvPr id="7" name="Islamic University of Technology&#10;Bangladesh">
            <a:extLst xmlns:a="http://schemas.openxmlformats.org/drawingml/2006/main">
              <a:ext uri="{FF2B5EF4-FFF2-40B4-BE49-F238E27FC236}">
                <a16:creationId xmlns:a16="http://schemas.microsoft.com/office/drawing/2014/main" id="{151445C3-98A8-485D-923A-10CD51903DC2}"/>
              </a:ext>
            </a:extLst>
          </p:cNvPr>
          <p:cNvSpPr>
            <a:spLocks xmlns:a="http://schemas.openxmlformats.org/drawingml/2006/main" noGrp="1"/>
          </p:cNvSpPr>
          <p:nvPr/>
        </p:nvSpPr>
        <p:spPr>
          <a:xfrm xmlns:a="http://schemas.openxmlformats.org/drawingml/2006/main">
            <a:off x="638175" y="5495925"/>
            <a:ext cx="457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EC0B1"/>
                </a:solidFill>
                <a:latin typeface="Arial"/>
                <a:ea typeface="Arial"/>
                <a:cs typeface="Arial"/>
              </a:defRPr>
            </a:defPPr>
            <a:lvl1pPr>
              <a:defRPr sz="1500" b="0">
                <a:solidFill>
                  <a:srgbClr val="AEC0B1"/>
                </a:solidFill>
                <a:latin typeface="Arial"/>
                <a:ea typeface="Arial"/>
                <a:cs typeface="Arial"/>
              </a:defRPr>
            </a:lvl1pPr>
            <a:lvl2pPr>
              <a:defRPr sz="1500" b="0">
                <a:solidFill>
                  <a:srgbClr val="AEC0B1"/>
                </a:solidFill>
                <a:latin typeface="Arial"/>
                <a:ea typeface="Arial"/>
                <a:cs typeface="Arial"/>
              </a:defRPr>
            </a:lvl2pPr>
            <a:lvl3pPr>
              <a:defRPr sz="1500" b="0">
                <a:solidFill>
                  <a:srgbClr val="AEC0B1"/>
                </a:solidFill>
                <a:latin typeface="Arial"/>
                <a:ea typeface="Arial"/>
                <a:cs typeface="Arial"/>
              </a:defRPr>
            </a:lvl3pPr>
            <a:lvl4pPr>
              <a:defRPr sz="1500" b="0">
                <a:solidFill>
                  <a:srgbClr val="AEC0B1"/>
                </a:solidFill>
                <a:latin typeface="Arial"/>
                <a:ea typeface="Arial"/>
                <a:cs typeface="Arial"/>
              </a:defRPr>
            </a:lvl4pPr>
            <a:lvl5pPr>
              <a:defRPr sz="1500" b="0">
                <a:solidFill>
                  <a:srgbClr val="AEC0B1"/>
                </a:solidFill>
                <a:latin typeface="Arial"/>
                <a:ea typeface="Arial"/>
                <a:cs typeface="Arial"/>
              </a:defRPr>
            </a:lvl5pPr>
            <a:lvl6pPr>
              <a:defRPr sz="1500" b="0">
                <a:solidFill>
                  <a:srgbClr val="AEC0B1"/>
                </a:solidFill>
                <a:latin typeface="Arial"/>
                <a:ea typeface="Arial"/>
                <a:cs typeface="Arial"/>
              </a:defRPr>
            </a:lvl6pPr>
            <a:lvl7pPr>
              <a:defRPr sz="1500" b="0">
                <a:solidFill>
                  <a:srgbClr val="AEC0B1"/>
                </a:solidFill>
                <a:latin typeface="Arial"/>
                <a:ea typeface="Arial"/>
                <a:cs typeface="Arial"/>
              </a:defRPr>
            </a:lvl7pPr>
            <a:lvl8pPr>
              <a:defRPr sz="1500" b="0">
                <a:solidFill>
                  <a:srgbClr val="AEC0B1"/>
                </a:solidFill>
                <a:latin typeface="Arial"/>
                <a:ea typeface="Arial"/>
                <a:cs typeface="Arial"/>
              </a:defRPr>
            </a:lvl8pPr>
            <a:lvl9pPr>
              <a:defRPr sz="1500" b="0">
                <a:solidFill>
                  <a:srgbClr val="AEC0B1"/>
                </a:solidFill>
                <a:latin typeface="Arial"/>
                <a:ea typeface="Arial"/>
                <a:cs typeface="Arial"/>
              </a:defRPr>
            </a:lvl9pPr>
          </a:lstStyle>
          <a:p xmlns:a="http://schemas.openxmlformats.org/drawingml/2006/main">
            <a:pPr>
              <a:defRPr sz="1500" b="0">
                <a:solidFill>
                  <a:srgbClr val="AEC0B1"/>
                </a:solidFill>
                <a:latin typeface="Arial"/>
                <a:ea typeface="Arial"/>
                <a:cs typeface="Arial"/>
              </a:defRPr>
            </a:pPr>
            <a:r>
              <a:rPr sz="1500" b="0">
                <a:solidFill>
                  <a:srgbClr val="AEC0B1"/>
                </a:solidFill>
                <a:latin typeface="Arial"/>
                <a:ea typeface="Arial"/>
                <a:cs typeface="Arial"/>
              </a:rPr>
              <a:t>Islamic University of Technology</a:t>
            </a:r>
          </a:p>
          <a:p xmlns:a="http://schemas.openxmlformats.org/drawingml/2006/main">
            <a:pPr>
              <a:defRPr sz="1500" b="0">
                <a:solidFill>
                  <a:srgbClr val="AEC0B1"/>
                </a:solidFill>
                <a:latin typeface="Arial"/>
                <a:ea typeface="Arial"/>
                <a:cs typeface="Arial"/>
              </a:defRPr>
            </a:pPr>
            <a:r>
              <a:rPr sz="1500" b="0">
                <a:solidFill>
                  <a:srgbClr val="AEC0B1"/>
                </a:solidFill>
                <a:latin typeface="Arial"/>
                <a:ea typeface="Arial"/>
                <a:cs typeface="Arial"/>
              </a:rPr>
              <a:t>Bangladesh</a:t>
            </a:r>
          </a:p>
        </p:txBody>
      </p:sp>
    </p:spTree>
    <p:extLst>
      <p:ext uri="{BB962C8B-B14F-4D97-AF65-F5344CB8AC3E}">
        <p14:creationId xmlns:p14="http://schemas.microsoft.com/office/powerpoint/2010/main" val="893990325"/>
      </p:ext>
    </p:extLst>
  </p:cSld>
</p:sld>
</file>

<file path=ppt/slides/slide2.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5C63DB6-FA63-41F5-B5A1-F3FA0D81A2DF}"/>
              </a:ext>
            </a:extLst>
          </p:cNvPr>
          <p:cNvPicPr>
            <a:picLocks xmlns:a="http://schemas.openxmlformats.org/drawingml/2006/main" noChangeAspect="1"/>
          </p:cNvPicPr>
          <p:nvPr/>
        </p:nvPicPr>
        <p:blipFill>
          <a:blip xmlns:r="http://schemas.openxmlformats.org/officeDocument/2006/relationships" xmlns:a="http://schemas.openxmlformats.org/drawingml/2006/main" r:embed="R5b3d45b07918497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he urban airflow problem">
            <a:extLst xmlns:a="http://schemas.openxmlformats.org/drawingml/2006/main">
              <a:ext uri="{FF2B5EF4-FFF2-40B4-BE49-F238E27FC236}">
                <a16:creationId xmlns:a16="http://schemas.microsoft.com/office/drawing/2014/main" id="{291541FF-2D26-4711-81BB-885F5E981F85}"/>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The urban airflow problem</a:t>
            </a:r>
          </a:p>
        </p:txBody>
      </p:sp>
      <p:pic>
        <p:nvPicPr>
          <p:cNvPr id="4" name="">
            <a:extLst xmlns:a="http://schemas.openxmlformats.org/drawingml/2006/main">
              <a:ext uri="{FF2B5EF4-FFF2-40B4-BE49-F238E27FC236}">
                <a16:creationId xmlns:a16="http://schemas.microsoft.com/office/drawing/2014/main" id="{01A64908-FBC4-449A-94C3-292BADD37C66}"/>
              </a:ext>
            </a:extLst>
          </p:cNvPr>
          <p:cNvPicPr>
            <a:picLocks xmlns:a="http://schemas.openxmlformats.org/drawingml/2006/main" noChangeAspect="1"/>
          </p:cNvPicPr>
          <p:nvPr/>
        </p:nvPicPr>
        <p:blipFill>
          <a:blip xmlns:r="http://schemas.openxmlformats.org/officeDocument/2006/relationships" xmlns:a="http://schemas.openxmlformats.org/drawingml/2006/main" r:embed="R07d029658b754fe7"/>
          <a:srcRect xmlns:a="http://schemas.openxmlformats.org/drawingml/2006/main" l="11376" t="0" r="11376" b="0"/>
          <a:stretch xmlns:a="http://schemas.openxmlformats.org/drawingml/2006/main">
            <a:fillRect l="0" t="0" r="0" b="0"/>
          </a:stretch>
        </p:blipFill>
        <p:spPr>
          <a:xfrm xmlns:a="http://schemas.openxmlformats.org/drawingml/2006/main">
            <a:off x="6334125" y="1619250"/>
            <a:ext cx="5238750" cy="4238625"/>
          </a:xfrm>
          <a:prstGeom xmlns:a="http://schemas.openxmlformats.org/drawingml/2006/main" prst="rect">
            <a:avLst/>
          </a:prstGeom>
        </p:spPr>
      </p:pic>
      <p:sp>
        <p:nvSpPr>
          <p:cNvPr id="5" name="Inside buildings">
            <a:extLst xmlns:a="http://schemas.openxmlformats.org/drawingml/2006/main">
              <a:ext uri="{FF2B5EF4-FFF2-40B4-BE49-F238E27FC236}">
                <a16:creationId xmlns:a16="http://schemas.microsoft.com/office/drawing/2014/main" id="{8AD9A9A5-F16E-4516-93C8-10EFCA17CAFB}"/>
              </a:ext>
            </a:extLst>
          </p:cNvPr>
          <p:cNvSpPr>
            <a:spLocks xmlns:a="http://schemas.openxmlformats.org/drawingml/2006/main" noGrp="1"/>
          </p:cNvSpPr>
          <p:nvPr/>
        </p:nvSpPr>
        <p:spPr>
          <a:xfrm xmlns:a="http://schemas.openxmlformats.org/drawingml/2006/main">
            <a:off x="628650" y="1790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Inside buildings</a:t>
            </a:r>
          </a:p>
        </p:txBody>
      </p:sp>
      <p:sp>
        <p:nvSpPr>
          <p:cNvPr id="6" name="Poorly ventilated rooms depend on powered fans. Outages">
            <a:extLst xmlns:a="http://schemas.openxmlformats.org/drawingml/2006/main">
              <a:ext uri="{FF2B5EF4-FFF2-40B4-BE49-F238E27FC236}">
                <a16:creationId xmlns:a16="http://schemas.microsoft.com/office/drawing/2014/main" id="{FD4CE8D3-68DB-4F2D-955D-4EE0719520E9}"/>
              </a:ext>
            </a:extLst>
          </p:cNvPr>
          <p:cNvSpPr>
            <a:spLocks xmlns:a="http://schemas.openxmlformats.org/drawingml/2006/main" noGrp="1"/>
          </p:cNvSpPr>
          <p:nvPr/>
        </p:nvSpPr>
        <p:spPr>
          <a:xfrm xmlns:a="http://schemas.openxmlformats.org/drawingml/2006/main">
            <a:off x="628650" y="23812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2D23"/>
                </a:solidFill>
                <a:latin typeface="Arial"/>
                <a:ea typeface="Arial"/>
                <a:cs typeface="Arial"/>
              </a:defRPr>
            </a:defPPr>
            <a:lvl1pPr>
              <a:defRPr sz="2175" b="0">
                <a:solidFill>
                  <a:srgbClr val="162D23"/>
                </a:solidFill>
                <a:latin typeface="Arial"/>
                <a:ea typeface="Arial"/>
                <a:cs typeface="Arial"/>
              </a:defRPr>
            </a:lvl1pPr>
            <a:lvl2pPr>
              <a:defRPr sz="2175" b="0">
                <a:solidFill>
                  <a:srgbClr val="162D23"/>
                </a:solidFill>
                <a:latin typeface="Arial"/>
                <a:ea typeface="Arial"/>
                <a:cs typeface="Arial"/>
              </a:defRPr>
            </a:lvl2pPr>
            <a:lvl3pPr>
              <a:defRPr sz="2175" b="0">
                <a:solidFill>
                  <a:srgbClr val="162D23"/>
                </a:solidFill>
                <a:latin typeface="Arial"/>
                <a:ea typeface="Arial"/>
                <a:cs typeface="Arial"/>
              </a:defRPr>
            </a:lvl3pPr>
            <a:lvl4pPr>
              <a:defRPr sz="2175" b="0">
                <a:solidFill>
                  <a:srgbClr val="162D23"/>
                </a:solidFill>
                <a:latin typeface="Arial"/>
                <a:ea typeface="Arial"/>
                <a:cs typeface="Arial"/>
              </a:defRPr>
            </a:lvl4pPr>
            <a:lvl5pPr>
              <a:defRPr sz="2175" b="0">
                <a:solidFill>
                  <a:srgbClr val="162D23"/>
                </a:solidFill>
                <a:latin typeface="Arial"/>
                <a:ea typeface="Arial"/>
                <a:cs typeface="Arial"/>
              </a:defRPr>
            </a:lvl5pPr>
            <a:lvl6pPr>
              <a:defRPr sz="2175" b="0">
                <a:solidFill>
                  <a:srgbClr val="162D23"/>
                </a:solidFill>
                <a:latin typeface="Arial"/>
                <a:ea typeface="Arial"/>
                <a:cs typeface="Arial"/>
              </a:defRPr>
            </a:lvl6pPr>
            <a:lvl7pPr>
              <a:defRPr sz="2175" b="0">
                <a:solidFill>
                  <a:srgbClr val="162D23"/>
                </a:solidFill>
                <a:latin typeface="Arial"/>
                <a:ea typeface="Arial"/>
                <a:cs typeface="Arial"/>
              </a:defRPr>
            </a:lvl7pPr>
            <a:lvl8pPr>
              <a:defRPr sz="2175" b="0">
                <a:solidFill>
                  <a:srgbClr val="162D23"/>
                </a:solidFill>
                <a:latin typeface="Arial"/>
                <a:ea typeface="Arial"/>
                <a:cs typeface="Arial"/>
              </a:defRPr>
            </a:lvl8pPr>
            <a:lvl9pPr>
              <a:defRPr sz="2175" b="0">
                <a:solidFill>
                  <a:srgbClr val="162D23"/>
                </a:solidFill>
                <a:latin typeface="Arial"/>
                <a:ea typeface="Arial"/>
                <a:cs typeface="Arial"/>
              </a:defRPr>
            </a:lvl9pPr>
          </a:lstStyle>
          <a:p xmlns:a="http://schemas.openxmlformats.org/drawingml/2006/main">
            <a:pPr>
              <a:defRPr sz="2175" b="0">
                <a:solidFill>
                  <a:srgbClr val="162D23"/>
                </a:solidFill>
                <a:latin typeface="Arial"/>
                <a:ea typeface="Arial"/>
                <a:cs typeface="Arial"/>
              </a:defRPr>
            </a:pPr>
            <a:r>
              <a:rPr sz="2175" b="0">
                <a:solidFill>
                  <a:srgbClr val="162D23"/>
                </a:solidFill>
                <a:latin typeface="Arial"/>
                <a:ea typeface="Arial"/>
                <a:cs typeface="Arial"/>
              </a:rPr>
              <a:t>Poorly ventilated rooms depend on powered fans. Outages can interrupt air exchange.</a:t>
            </a:r>
          </a:p>
        </p:txBody>
      </p:sp>
      <p:sp>
        <p:nvSpPr>
          <p:cNvPr id="7" name="In urban ponds">
            <a:extLst xmlns:a="http://schemas.openxmlformats.org/drawingml/2006/main">
              <a:ext uri="{FF2B5EF4-FFF2-40B4-BE49-F238E27FC236}">
                <a16:creationId xmlns:a16="http://schemas.microsoft.com/office/drawing/2014/main" id="{86BCD397-39DC-4753-99F4-650A836613BB}"/>
              </a:ext>
            </a:extLst>
          </p:cNvPr>
          <p:cNvSpPr>
            <a:spLocks xmlns:a="http://schemas.openxmlformats.org/drawingml/2006/main" noGrp="1"/>
          </p:cNvSpPr>
          <p:nvPr/>
        </p:nvSpPr>
        <p:spPr>
          <a:xfrm xmlns:a="http://schemas.openxmlformats.org/drawingml/2006/main">
            <a:off x="628650" y="39719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In urban ponds</a:t>
            </a:r>
          </a:p>
        </p:txBody>
      </p:sp>
      <p:sp>
        <p:nvSpPr>
          <p:cNvPr id="8" name="Stagnant water needs mixing and oxygen exchange. Powere">
            <a:extLst xmlns:a="http://schemas.openxmlformats.org/drawingml/2006/main">
              <a:ext uri="{FF2B5EF4-FFF2-40B4-BE49-F238E27FC236}">
                <a16:creationId xmlns:a16="http://schemas.microsoft.com/office/drawing/2014/main" id="{F86C7557-B5CE-44B9-9318-0E7E474C843C}"/>
              </a:ext>
            </a:extLst>
          </p:cNvPr>
          <p:cNvSpPr>
            <a:spLocks xmlns:a="http://schemas.openxmlformats.org/drawingml/2006/main" noGrp="1"/>
          </p:cNvSpPr>
          <p:nvPr/>
        </p:nvSpPr>
        <p:spPr>
          <a:xfrm xmlns:a="http://schemas.openxmlformats.org/drawingml/2006/main">
            <a:off x="628650" y="45624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2D23"/>
                </a:solidFill>
                <a:latin typeface="Arial"/>
                <a:ea typeface="Arial"/>
                <a:cs typeface="Arial"/>
              </a:defRPr>
            </a:defPPr>
            <a:lvl1pPr>
              <a:defRPr sz="2175" b="0">
                <a:solidFill>
                  <a:srgbClr val="162D23"/>
                </a:solidFill>
                <a:latin typeface="Arial"/>
                <a:ea typeface="Arial"/>
                <a:cs typeface="Arial"/>
              </a:defRPr>
            </a:lvl1pPr>
            <a:lvl2pPr>
              <a:defRPr sz="2175" b="0">
                <a:solidFill>
                  <a:srgbClr val="162D23"/>
                </a:solidFill>
                <a:latin typeface="Arial"/>
                <a:ea typeface="Arial"/>
                <a:cs typeface="Arial"/>
              </a:defRPr>
            </a:lvl2pPr>
            <a:lvl3pPr>
              <a:defRPr sz="2175" b="0">
                <a:solidFill>
                  <a:srgbClr val="162D23"/>
                </a:solidFill>
                <a:latin typeface="Arial"/>
                <a:ea typeface="Arial"/>
                <a:cs typeface="Arial"/>
              </a:defRPr>
            </a:lvl3pPr>
            <a:lvl4pPr>
              <a:defRPr sz="2175" b="0">
                <a:solidFill>
                  <a:srgbClr val="162D23"/>
                </a:solidFill>
                <a:latin typeface="Arial"/>
                <a:ea typeface="Arial"/>
                <a:cs typeface="Arial"/>
              </a:defRPr>
            </a:lvl4pPr>
            <a:lvl5pPr>
              <a:defRPr sz="2175" b="0">
                <a:solidFill>
                  <a:srgbClr val="162D23"/>
                </a:solidFill>
                <a:latin typeface="Arial"/>
                <a:ea typeface="Arial"/>
                <a:cs typeface="Arial"/>
              </a:defRPr>
            </a:lvl5pPr>
            <a:lvl6pPr>
              <a:defRPr sz="2175" b="0">
                <a:solidFill>
                  <a:srgbClr val="162D23"/>
                </a:solidFill>
                <a:latin typeface="Arial"/>
                <a:ea typeface="Arial"/>
                <a:cs typeface="Arial"/>
              </a:defRPr>
            </a:lvl6pPr>
            <a:lvl7pPr>
              <a:defRPr sz="2175" b="0">
                <a:solidFill>
                  <a:srgbClr val="162D23"/>
                </a:solidFill>
                <a:latin typeface="Arial"/>
                <a:ea typeface="Arial"/>
                <a:cs typeface="Arial"/>
              </a:defRPr>
            </a:lvl7pPr>
            <a:lvl8pPr>
              <a:defRPr sz="2175" b="0">
                <a:solidFill>
                  <a:srgbClr val="162D23"/>
                </a:solidFill>
                <a:latin typeface="Arial"/>
                <a:ea typeface="Arial"/>
                <a:cs typeface="Arial"/>
              </a:defRPr>
            </a:lvl8pPr>
            <a:lvl9pPr>
              <a:defRPr sz="2175" b="0">
                <a:solidFill>
                  <a:srgbClr val="162D23"/>
                </a:solidFill>
                <a:latin typeface="Arial"/>
                <a:ea typeface="Arial"/>
                <a:cs typeface="Arial"/>
              </a:defRPr>
            </a:lvl9pPr>
          </a:lstStyle>
          <a:p xmlns:a="http://schemas.openxmlformats.org/drawingml/2006/main">
            <a:pPr>
              <a:defRPr sz="2175" b="0">
                <a:solidFill>
                  <a:srgbClr val="162D23"/>
                </a:solidFill>
                <a:latin typeface="Arial"/>
                <a:ea typeface="Arial"/>
                <a:cs typeface="Arial"/>
              </a:defRPr>
            </a:pPr>
            <a:r>
              <a:rPr sz="2175" b="0">
                <a:solidFill>
                  <a:srgbClr val="162D23"/>
                </a:solidFill>
                <a:latin typeface="Arial"/>
                <a:ea typeface="Arial"/>
                <a:cs typeface="Arial"/>
              </a:rPr>
              <a:t>Stagnant water needs mixing and oxygen exchange. Powered aeration adds an energy cost.</a:t>
            </a:r>
          </a:p>
        </p:txBody>
      </p:sp>
      <p:sp>
        <p:nvSpPr>
          <p:cNvPr id="9" name="Urban setting shown in the website simulation">
            <a:extLst xmlns:a="http://schemas.openxmlformats.org/drawingml/2006/main">
              <a:ext uri="{FF2B5EF4-FFF2-40B4-BE49-F238E27FC236}">
                <a16:creationId xmlns:a16="http://schemas.microsoft.com/office/drawing/2014/main" id="{BA95149D-2DBD-4AAF-A97E-6C04CFE92A09}"/>
              </a:ext>
            </a:extLst>
          </p:cNvPr>
          <p:cNvSpPr>
            <a:spLocks xmlns:a="http://schemas.openxmlformats.org/drawingml/2006/main" noGrp="1"/>
          </p:cNvSpPr>
          <p:nvPr/>
        </p:nvSpPr>
        <p:spPr>
          <a:xfrm xmlns:a="http://schemas.openxmlformats.org/drawingml/2006/main">
            <a:off x="6391275" y="59055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Arial"/>
                <a:ea typeface="Arial"/>
                <a:cs typeface="Arial"/>
              </a:defRPr>
            </a:defPPr>
            <a:lvl1pPr>
              <a:defRPr sz="1275" b="0">
                <a:solidFill>
                  <a:srgbClr val="53645A"/>
                </a:solidFill>
                <a:latin typeface="Arial"/>
                <a:ea typeface="Arial"/>
                <a:cs typeface="Arial"/>
              </a:defRPr>
            </a:lvl1pPr>
            <a:lvl2pPr>
              <a:defRPr sz="1275" b="0">
                <a:solidFill>
                  <a:srgbClr val="53645A"/>
                </a:solidFill>
                <a:latin typeface="Arial"/>
                <a:ea typeface="Arial"/>
                <a:cs typeface="Arial"/>
              </a:defRPr>
            </a:lvl2pPr>
            <a:lvl3pPr>
              <a:defRPr sz="1275" b="0">
                <a:solidFill>
                  <a:srgbClr val="53645A"/>
                </a:solidFill>
                <a:latin typeface="Arial"/>
                <a:ea typeface="Arial"/>
                <a:cs typeface="Arial"/>
              </a:defRPr>
            </a:lvl3pPr>
            <a:lvl4pPr>
              <a:defRPr sz="1275" b="0">
                <a:solidFill>
                  <a:srgbClr val="53645A"/>
                </a:solidFill>
                <a:latin typeface="Arial"/>
                <a:ea typeface="Arial"/>
                <a:cs typeface="Arial"/>
              </a:defRPr>
            </a:lvl4pPr>
            <a:lvl5pPr>
              <a:defRPr sz="1275" b="0">
                <a:solidFill>
                  <a:srgbClr val="53645A"/>
                </a:solidFill>
                <a:latin typeface="Arial"/>
                <a:ea typeface="Arial"/>
                <a:cs typeface="Arial"/>
              </a:defRPr>
            </a:lvl5pPr>
            <a:lvl6pPr>
              <a:defRPr sz="1275" b="0">
                <a:solidFill>
                  <a:srgbClr val="53645A"/>
                </a:solidFill>
                <a:latin typeface="Arial"/>
                <a:ea typeface="Arial"/>
                <a:cs typeface="Arial"/>
              </a:defRPr>
            </a:lvl6pPr>
            <a:lvl7pPr>
              <a:defRPr sz="1275" b="0">
                <a:solidFill>
                  <a:srgbClr val="53645A"/>
                </a:solidFill>
                <a:latin typeface="Arial"/>
                <a:ea typeface="Arial"/>
                <a:cs typeface="Arial"/>
              </a:defRPr>
            </a:lvl7pPr>
            <a:lvl8pPr>
              <a:defRPr sz="1275" b="0">
                <a:solidFill>
                  <a:srgbClr val="53645A"/>
                </a:solidFill>
                <a:latin typeface="Arial"/>
                <a:ea typeface="Arial"/>
                <a:cs typeface="Arial"/>
              </a:defRPr>
            </a:lvl8pPr>
            <a:lvl9pPr>
              <a:defRPr sz="1275" b="0">
                <a:solidFill>
                  <a:srgbClr val="53645A"/>
                </a:solidFill>
                <a:latin typeface="Arial"/>
                <a:ea typeface="Arial"/>
                <a:cs typeface="Arial"/>
              </a:defRPr>
            </a:lvl9pPr>
          </a:lstStyle>
          <a:p xmlns:a="http://schemas.openxmlformats.org/drawingml/2006/main">
            <a:pPr>
              <a:defRPr sz="1275" b="0">
                <a:solidFill>
                  <a:srgbClr val="53645A"/>
                </a:solidFill>
                <a:latin typeface="Arial"/>
                <a:ea typeface="Arial"/>
                <a:cs typeface="Arial"/>
              </a:defRPr>
            </a:pPr>
            <a:r>
              <a:rPr sz="1275" b="0">
                <a:solidFill>
                  <a:srgbClr val="53645A"/>
                </a:solidFill>
                <a:latin typeface="Arial"/>
                <a:ea typeface="Arial"/>
                <a:cs typeface="Arial"/>
              </a:rPr>
              <a:t>Urban setting shown in the website simulation</a:t>
            </a:r>
          </a:p>
        </p:txBody>
      </p:sp>
      <p:sp>
        <p:nvSpPr>
          <p:cNvPr id="10" name="02">
            <a:extLst xmlns:a="http://schemas.openxmlformats.org/drawingml/2006/main">
              <a:ext uri="{FF2B5EF4-FFF2-40B4-BE49-F238E27FC236}">
                <a16:creationId xmlns:a16="http://schemas.microsoft.com/office/drawing/2014/main" id="{2E7A9923-E271-437F-A962-794A166D4133}"/>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02</a:t>
            </a:r>
          </a:p>
        </p:txBody>
      </p:sp>
    </p:spTree>
    <p:extLst>
      <p:ext uri="{BB962C8B-B14F-4D97-AF65-F5344CB8AC3E}">
        <p14:creationId xmlns:p14="http://schemas.microsoft.com/office/powerpoint/2010/main" val="328846940"/>
      </p:ext>
    </p:extLst>
  </p:cSld>
</p:sld>
</file>

<file path=ppt/slides/slide3.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C56AE1E-26E0-4BF2-9C55-8969FC21CE50}"/>
              </a:ext>
            </a:extLst>
          </p:cNvPr>
          <p:cNvPicPr>
            <a:picLocks xmlns:a="http://schemas.openxmlformats.org/drawingml/2006/main" noChangeAspect="1"/>
          </p:cNvPicPr>
          <p:nvPr/>
        </p:nvPicPr>
        <p:blipFill>
          <a:blip xmlns:r="http://schemas.openxmlformats.org/officeDocument/2006/relationships" xmlns:a="http://schemas.openxmlformats.org/drawingml/2006/main" r:embed="R1dacd09cf0e541b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he mechanical drive">
            <a:extLst xmlns:a="http://schemas.openxmlformats.org/drawingml/2006/main">
              <a:ext uri="{FF2B5EF4-FFF2-40B4-BE49-F238E27FC236}">
                <a16:creationId xmlns:a16="http://schemas.microsoft.com/office/drawing/2014/main" id="{D639BD32-1669-4FC7-A8FB-8FB855E73850}"/>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The mechanical drive</a:t>
            </a:r>
          </a:p>
        </p:txBody>
      </p:sp>
      <p:sp>
        <p:nvSpPr>
          <p:cNvPr id="4" name="01  Wind capture">
            <a:extLst xmlns:a="http://schemas.openxmlformats.org/drawingml/2006/main">
              <a:ext uri="{FF2B5EF4-FFF2-40B4-BE49-F238E27FC236}">
                <a16:creationId xmlns:a16="http://schemas.microsoft.com/office/drawing/2014/main" id="{34230ECA-6B6E-4AF0-A072-0B97611E16FA}"/>
              </a:ext>
            </a:extLst>
          </p:cNvPr>
          <p:cNvSpPr>
            <a:spLocks xmlns:a="http://schemas.openxmlformats.org/drawingml/2006/main" noGrp="1"/>
          </p:cNvSpPr>
          <p:nvPr/>
        </p:nvSpPr>
        <p:spPr>
          <a:xfrm xmlns:a="http://schemas.openxmlformats.org/drawingml/2006/main">
            <a:off x="619125" y="18002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01  Wind capture</a:t>
            </a:r>
          </a:p>
        </p:txBody>
      </p:sp>
      <p:sp>
        <p:nvSpPr>
          <p:cNvPr id="5" name="A spiral rotor converts wind into shaft rotation.">
            <a:extLst xmlns:a="http://schemas.openxmlformats.org/drawingml/2006/main">
              <a:ext uri="{FF2B5EF4-FFF2-40B4-BE49-F238E27FC236}">
                <a16:creationId xmlns:a16="http://schemas.microsoft.com/office/drawing/2014/main" id="{F0B26C66-CD5F-49E4-A844-1AE8B2B1DE05}"/>
              </a:ext>
            </a:extLst>
          </p:cNvPr>
          <p:cNvSpPr>
            <a:spLocks xmlns:a="http://schemas.openxmlformats.org/drawingml/2006/main" noGrp="1"/>
          </p:cNvSpPr>
          <p:nvPr/>
        </p:nvSpPr>
        <p:spPr>
          <a:xfrm xmlns:a="http://schemas.openxmlformats.org/drawingml/2006/main">
            <a:off x="619125" y="2314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spiral rotor converts wind into shaft rotation.</a:t>
            </a:r>
          </a:p>
        </p:txBody>
      </p:sp>
      <p:sp>
        <p:nvSpPr>
          <p:cNvPr id="6" name="02  Power transmission">
            <a:extLst xmlns:a="http://schemas.openxmlformats.org/drawingml/2006/main">
              <a:ext uri="{FF2B5EF4-FFF2-40B4-BE49-F238E27FC236}">
                <a16:creationId xmlns:a16="http://schemas.microsoft.com/office/drawing/2014/main" id="{B6F03A56-BD1C-48E6-9F1E-ECC0C4605B65}"/>
              </a:ext>
            </a:extLst>
          </p:cNvPr>
          <p:cNvSpPr>
            <a:spLocks xmlns:a="http://schemas.openxmlformats.org/drawingml/2006/main" noGrp="1"/>
          </p:cNvSpPr>
          <p:nvPr/>
        </p:nvSpPr>
        <p:spPr>
          <a:xfrm xmlns:a="http://schemas.openxmlformats.org/drawingml/2006/main">
            <a:off x="619125" y="332422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02  Power transmission</a:t>
            </a:r>
          </a:p>
        </p:txBody>
      </p:sp>
      <p:sp>
        <p:nvSpPr>
          <p:cNvPr id="7" name="Shafts and bevel gears redirect rotation through 90°.">
            <a:extLst xmlns:a="http://schemas.openxmlformats.org/drawingml/2006/main">
              <a:ext uri="{FF2B5EF4-FFF2-40B4-BE49-F238E27FC236}">
                <a16:creationId xmlns:a16="http://schemas.microsoft.com/office/drawing/2014/main" id="{B365D14E-D5A6-4500-9222-3DCD335CA6C6}"/>
              </a:ext>
            </a:extLst>
          </p:cNvPr>
          <p:cNvSpPr>
            <a:spLocks xmlns:a="http://schemas.openxmlformats.org/drawingml/2006/main" noGrp="1"/>
          </p:cNvSpPr>
          <p:nvPr/>
        </p:nvSpPr>
        <p:spPr>
          <a:xfrm xmlns:a="http://schemas.openxmlformats.org/drawingml/2006/main">
            <a:off x="619125" y="3838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Shafts and bevel gears redirect rotation through 90°.</a:t>
            </a:r>
          </a:p>
        </p:txBody>
      </p:sp>
      <p:sp>
        <p:nvSpPr>
          <p:cNvPr id="8" name="03  Useful motion">
            <a:extLst xmlns:a="http://schemas.openxmlformats.org/drawingml/2006/main">
              <a:ext uri="{FF2B5EF4-FFF2-40B4-BE49-F238E27FC236}">
                <a16:creationId xmlns:a16="http://schemas.microsoft.com/office/drawing/2014/main" id="{A59CE6AB-52F5-4F7B-BCA8-A686CDD04FDD}"/>
              </a:ext>
            </a:extLst>
          </p:cNvPr>
          <p:cNvSpPr>
            <a:spLocks xmlns:a="http://schemas.openxmlformats.org/drawingml/2006/main" noGrp="1"/>
          </p:cNvSpPr>
          <p:nvPr/>
        </p:nvSpPr>
        <p:spPr>
          <a:xfrm xmlns:a="http://schemas.openxmlformats.org/drawingml/2006/main">
            <a:off x="619125" y="484822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03  Useful motion</a:t>
            </a:r>
          </a:p>
        </p:txBody>
      </p:sp>
      <p:sp>
        <p:nvSpPr>
          <p:cNvPr id="9" name="A fan moves air, or a paddle wheel mixes water.">
            <a:extLst xmlns:a="http://schemas.openxmlformats.org/drawingml/2006/main">
              <a:ext uri="{FF2B5EF4-FFF2-40B4-BE49-F238E27FC236}">
                <a16:creationId xmlns:a16="http://schemas.microsoft.com/office/drawing/2014/main" id="{302674A4-AB81-4D40-9409-EBC782A60402}"/>
              </a:ext>
            </a:extLst>
          </p:cNvPr>
          <p:cNvSpPr>
            <a:spLocks xmlns:a="http://schemas.openxmlformats.org/drawingml/2006/main" noGrp="1"/>
          </p:cNvSpPr>
          <p:nvPr/>
        </p:nvSpPr>
        <p:spPr>
          <a:xfrm xmlns:a="http://schemas.openxmlformats.org/drawingml/2006/main">
            <a:off x="619125" y="5362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fan moves air, or a paddle wheel mixes water.</a:t>
            </a:r>
          </a:p>
        </p:txBody>
      </p:sp>
      <p:pic>
        <p:nvPicPr>
          <p:cNvPr id="10" name="">
            <a:extLst xmlns:a="http://schemas.openxmlformats.org/drawingml/2006/main">
              <a:ext uri="{FF2B5EF4-FFF2-40B4-BE49-F238E27FC236}">
                <a16:creationId xmlns:a16="http://schemas.microsoft.com/office/drawing/2014/main" id="{6F03B13E-E62D-4169-8A70-DA03CA6ABB62}"/>
              </a:ext>
            </a:extLst>
          </p:cNvPr>
          <p:cNvPicPr>
            <a:picLocks xmlns:a="http://schemas.openxmlformats.org/drawingml/2006/main" noChangeAspect="1"/>
          </p:cNvPicPr>
          <p:nvPr/>
        </p:nvPicPr>
        <p:blipFill>
          <a:blip xmlns:r="http://schemas.openxmlformats.org/officeDocument/2006/relationships" xmlns:a="http://schemas.openxmlformats.org/drawingml/2006/main" r:embed="R54cdbe75d71f43a2"/>
          <a:stretch xmlns:a="http://schemas.openxmlformats.org/drawingml/2006/main"/>
        </p:blipFill>
        <p:spPr>
          <a:xfrm xmlns:a="http://schemas.openxmlformats.org/drawingml/2006/main">
            <a:off x="4905375" y="1572641"/>
            <a:ext cx="6667500" cy="4522342"/>
          </a:xfrm>
          <a:prstGeom xmlns:a="http://schemas.openxmlformats.org/drawingml/2006/main" prst="rect">
            <a:avLst/>
          </a:prstGeom>
        </p:spPr>
      </p:pic>
      <p:sp>
        <p:nvSpPr>
          <p:cNvPr id="11" name="03">
            <a:extLst xmlns:a="http://schemas.openxmlformats.org/drawingml/2006/main">
              <a:ext uri="{FF2B5EF4-FFF2-40B4-BE49-F238E27FC236}">
                <a16:creationId xmlns:a16="http://schemas.microsoft.com/office/drawing/2014/main" id="{C6F91BE8-F71B-474B-96D5-AE825443B656}"/>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03</a:t>
            </a:r>
          </a:p>
        </p:txBody>
      </p:sp>
    </p:spTree>
    <p:extLst>
      <p:ext uri="{BB962C8B-B14F-4D97-AF65-F5344CB8AC3E}">
        <p14:creationId xmlns:p14="http://schemas.microsoft.com/office/powerpoint/2010/main" val="676117788"/>
      </p:ext>
    </p:extLst>
  </p:cSld>
</p:sld>
</file>

<file path=ppt/slides/slide4.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78C50D4-445C-427E-A1F4-D94656808DEC}"/>
              </a:ext>
            </a:extLst>
          </p:cNvPr>
          <p:cNvPicPr>
            <a:picLocks xmlns:a="http://schemas.openxmlformats.org/drawingml/2006/main" noChangeAspect="1"/>
          </p:cNvPicPr>
          <p:nvPr/>
        </p:nvPicPr>
        <p:blipFill>
          <a:blip xmlns:r="http://schemas.openxmlformats.org/officeDocument/2006/relationships" xmlns:a="http://schemas.openxmlformats.org/drawingml/2006/main" r:embed="R670aa889a291453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wo applications for the same concept">
            <a:extLst xmlns:a="http://schemas.openxmlformats.org/drawingml/2006/main">
              <a:ext uri="{FF2B5EF4-FFF2-40B4-BE49-F238E27FC236}">
                <a16:creationId xmlns:a16="http://schemas.microsoft.com/office/drawing/2014/main" id="{153DDF0F-0687-4418-A959-236A480F17BF}"/>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Two applications for the same concept</a:t>
            </a:r>
          </a:p>
        </p:txBody>
      </p:sp>
      <p:sp>
        <p:nvSpPr>
          <p:cNvPr id="4" name="Building ventilation">
            <a:extLst xmlns:a="http://schemas.openxmlformats.org/drawingml/2006/main">
              <a:ext uri="{FF2B5EF4-FFF2-40B4-BE49-F238E27FC236}">
                <a16:creationId xmlns:a16="http://schemas.microsoft.com/office/drawing/2014/main" id="{29A11118-8DFE-4E7F-A705-5A12E6ADF54B}"/>
              </a:ext>
            </a:extLst>
          </p:cNvPr>
          <p:cNvSpPr>
            <a:spLocks xmlns:a="http://schemas.openxmlformats.org/drawingml/2006/main" noGrp="1"/>
          </p:cNvSpPr>
          <p:nvPr/>
        </p:nvSpPr>
        <p:spPr>
          <a:xfrm xmlns:a="http://schemas.openxmlformats.org/drawingml/2006/main">
            <a:off x="619125" y="16002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9392E"/>
                </a:solidFill>
                <a:latin typeface="Arial"/>
                <a:ea typeface="Arial"/>
                <a:cs typeface="Arial"/>
              </a:defRPr>
            </a:defPPr>
            <a:lvl1pPr>
              <a:defRPr sz="2325" b="1">
                <a:solidFill>
                  <a:srgbClr val="19392E"/>
                </a:solidFill>
                <a:latin typeface="Arial"/>
                <a:ea typeface="Arial"/>
                <a:cs typeface="Arial"/>
              </a:defRPr>
            </a:lvl1pPr>
            <a:lvl2pPr>
              <a:defRPr sz="2325" b="1">
                <a:solidFill>
                  <a:srgbClr val="19392E"/>
                </a:solidFill>
                <a:latin typeface="Arial"/>
                <a:ea typeface="Arial"/>
                <a:cs typeface="Arial"/>
              </a:defRPr>
            </a:lvl2pPr>
            <a:lvl3pPr>
              <a:defRPr sz="2325" b="1">
                <a:solidFill>
                  <a:srgbClr val="19392E"/>
                </a:solidFill>
                <a:latin typeface="Arial"/>
                <a:ea typeface="Arial"/>
                <a:cs typeface="Arial"/>
              </a:defRPr>
            </a:lvl3pPr>
            <a:lvl4pPr>
              <a:defRPr sz="2325" b="1">
                <a:solidFill>
                  <a:srgbClr val="19392E"/>
                </a:solidFill>
                <a:latin typeface="Arial"/>
                <a:ea typeface="Arial"/>
                <a:cs typeface="Arial"/>
              </a:defRPr>
            </a:lvl4pPr>
            <a:lvl5pPr>
              <a:defRPr sz="2325" b="1">
                <a:solidFill>
                  <a:srgbClr val="19392E"/>
                </a:solidFill>
                <a:latin typeface="Arial"/>
                <a:ea typeface="Arial"/>
                <a:cs typeface="Arial"/>
              </a:defRPr>
            </a:lvl5pPr>
            <a:lvl6pPr>
              <a:defRPr sz="2325" b="1">
                <a:solidFill>
                  <a:srgbClr val="19392E"/>
                </a:solidFill>
                <a:latin typeface="Arial"/>
                <a:ea typeface="Arial"/>
                <a:cs typeface="Arial"/>
              </a:defRPr>
            </a:lvl6pPr>
            <a:lvl7pPr>
              <a:defRPr sz="2325" b="1">
                <a:solidFill>
                  <a:srgbClr val="19392E"/>
                </a:solidFill>
                <a:latin typeface="Arial"/>
                <a:ea typeface="Arial"/>
                <a:cs typeface="Arial"/>
              </a:defRPr>
            </a:lvl7pPr>
            <a:lvl8pPr>
              <a:defRPr sz="2325" b="1">
                <a:solidFill>
                  <a:srgbClr val="19392E"/>
                </a:solidFill>
                <a:latin typeface="Arial"/>
                <a:ea typeface="Arial"/>
                <a:cs typeface="Arial"/>
              </a:defRPr>
            </a:lvl8pPr>
            <a:lvl9pPr>
              <a:defRPr sz="2325" b="1">
                <a:solidFill>
                  <a:srgbClr val="19392E"/>
                </a:solidFill>
                <a:latin typeface="Arial"/>
                <a:ea typeface="Arial"/>
                <a:cs typeface="Arial"/>
              </a:defRPr>
            </a:lvl9pPr>
          </a:lstStyle>
          <a:p xmlns:a="http://schemas.openxmlformats.org/drawingml/2006/main">
            <a:pPr>
              <a:defRPr sz="2325" b="1">
                <a:solidFill>
                  <a:srgbClr val="19392E"/>
                </a:solidFill>
                <a:latin typeface="Arial"/>
                <a:ea typeface="Arial"/>
                <a:cs typeface="Arial"/>
              </a:defRPr>
            </a:pPr>
            <a:r>
              <a:rPr sz="2325" b="1">
                <a:solidFill>
                  <a:srgbClr val="19392E"/>
                </a:solidFill>
                <a:latin typeface="Arial"/>
                <a:ea typeface="Arial"/>
                <a:cs typeface="Arial"/>
              </a:rPr>
              <a:t>Building ventilation</a:t>
            </a:r>
          </a:p>
        </p:txBody>
      </p:sp>
      <p:sp>
        <p:nvSpPr>
          <p:cNvPr id="5" name="Supplementary pond aeration">
            <a:extLst xmlns:a="http://schemas.openxmlformats.org/drawingml/2006/main">
              <a:ext uri="{FF2B5EF4-FFF2-40B4-BE49-F238E27FC236}">
                <a16:creationId xmlns:a16="http://schemas.microsoft.com/office/drawing/2014/main" id="{D88D6B11-3406-4B6F-AD79-A68B0DB48C69}"/>
              </a:ext>
            </a:extLst>
          </p:cNvPr>
          <p:cNvSpPr>
            <a:spLocks xmlns:a="http://schemas.openxmlformats.org/drawingml/2006/main" noGrp="1"/>
          </p:cNvSpPr>
          <p:nvPr/>
        </p:nvSpPr>
        <p:spPr>
          <a:xfrm xmlns:a="http://schemas.openxmlformats.org/drawingml/2006/main">
            <a:off x="6334125" y="16002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9392E"/>
                </a:solidFill>
                <a:latin typeface="Arial"/>
                <a:ea typeface="Arial"/>
                <a:cs typeface="Arial"/>
              </a:defRPr>
            </a:defPPr>
            <a:lvl1pPr>
              <a:defRPr sz="2325" b="1">
                <a:solidFill>
                  <a:srgbClr val="19392E"/>
                </a:solidFill>
                <a:latin typeface="Arial"/>
                <a:ea typeface="Arial"/>
                <a:cs typeface="Arial"/>
              </a:defRPr>
            </a:lvl1pPr>
            <a:lvl2pPr>
              <a:defRPr sz="2325" b="1">
                <a:solidFill>
                  <a:srgbClr val="19392E"/>
                </a:solidFill>
                <a:latin typeface="Arial"/>
                <a:ea typeface="Arial"/>
                <a:cs typeface="Arial"/>
              </a:defRPr>
            </a:lvl2pPr>
            <a:lvl3pPr>
              <a:defRPr sz="2325" b="1">
                <a:solidFill>
                  <a:srgbClr val="19392E"/>
                </a:solidFill>
                <a:latin typeface="Arial"/>
                <a:ea typeface="Arial"/>
                <a:cs typeface="Arial"/>
              </a:defRPr>
            </a:lvl3pPr>
            <a:lvl4pPr>
              <a:defRPr sz="2325" b="1">
                <a:solidFill>
                  <a:srgbClr val="19392E"/>
                </a:solidFill>
                <a:latin typeface="Arial"/>
                <a:ea typeface="Arial"/>
                <a:cs typeface="Arial"/>
              </a:defRPr>
            </a:lvl4pPr>
            <a:lvl5pPr>
              <a:defRPr sz="2325" b="1">
                <a:solidFill>
                  <a:srgbClr val="19392E"/>
                </a:solidFill>
                <a:latin typeface="Arial"/>
                <a:ea typeface="Arial"/>
                <a:cs typeface="Arial"/>
              </a:defRPr>
            </a:lvl5pPr>
            <a:lvl6pPr>
              <a:defRPr sz="2325" b="1">
                <a:solidFill>
                  <a:srgbClr val="19392E"/>
                </a:solidFill>
                <a:latin typeface="Arial"/>
                <a:ea typeface="Arial"/>
                <a:cs typeface="Arial"/>
              </a:defRPr>
            </a:lvl6pPr>
            <a:lvl7pPr>
              <a:defRPr sz="2325" b="1">
                <a:solidFill>
                  <a:srgbClr val="19392E"/>
                </a:solidFill>
                <a:latin typeface="Arial"/>
                <a:ea typeface="Arial"/>
                <a:cs typeface="Arial"/>
              </a:defRPr>
            </a:lvl7pPr>
            <a:lvl8pPr>
              <a:defRPr sz="2325" b="1">
                <a:solidFill>
                  <a:srgbClr val="19392E"/>
                </a:solidFill>
                <a:latin typeface="Arial"/>
                <a:ea typeface="Arial"/>
                <a:cs typeface="Arial"/>
              </a:defRPr>
            </a:lvl8pPr>
            <a:lvl9pPr>
              <a:defRPr sz="2325" b="1">
                <a:solidFill>
                  <a:srgbClr val="19392E"/>
                </a:solidFill>
                <a:latin typeface="Arial"/>
                <a:ea typeface="Arial"/>
                <a:cs typeface="Arial"/>
              </a:defRPr>
            </a:lvl9pPr>
          </a:lstStyle>
          <a:p xmlns:a="http://schemas.openxmlformats.org/drawingml/2006/main">
            <a:pPr>
              <a:defRPr sz="2325" b="1">
                <a:solidFill>
                  <a:srgbClr val="19392E"/>
                </a:solidFill>
                <a:latin typeface="Arial"/>
                <a:ea typeface="Arial"/>
                <a:cs typeface="Arial"/>
              </a:defRPr>
            </a:pPr>
            <a:r>
              <a:rPr sz="2325" b="1">
                <a:solidFill>
                  <a:srgbClr val="19392E"/>
                </a:solidFill>
                <a:latin typeface="Arial"/>
                <a:ea typeface="Arial"/>
                <a:cs typeface="Arial"/>
              </a:rPr>
              <a:t>Supplementary pond aeration</a:t>
            </a:r>
          </a:p>
        </p:txBody>
      </p:sp>
      <p:pic>
        <p:nvPicPr>
          <p:cNvPr id="6" name="">
            <a:extLst xmlns:a="http://schemas.openxmlformats.org/drawingml/2006/main">
              <a:ext uri="{FF2B5EF4-FFF2-40B4-BE49-F238E27FC236}">
                <a16:creationId xmlns:a16="http://schemas.microsoft.com/office/drawing/2014/main" id="{87DD490B-4F47-42E3-85AB-A026CE4300C4}"/>
              </a:ext>
            </a:extLst>
          </p:cNvPr>
          <p:cNvPicPr>
            <a:picLocks xmlns:a="http://schemas.openxmlformats.org/drawingml/2006/main" noChangeAspect="1"/>
          </p:cNvPicPr>
          <p:nvPr/>
        </p:nvPicPr>
        <p:blipFill>
          <a:blip xmlns:r="http://schemas.openxmlformats.org/officeDocument/2006/relationships" xmlns:a="http://schemas.openxmlformats.org/drawingml/2006/main" r:embed="R78e96d042e2c42a5"/>
          <a:stretch xmlns:a="http://schemas.openxmlformats.org/drawingml/2006/main"/>
        </p:blipFill>
        <p:spPr>
          <a:xfrm xmlns:a="http://schemas.openxmlformats.org/drawingml/2006/main">
            <a:off x="715561" y="2143125"/>
            <a:ext cx="5045878" cy="28098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52C4FFC-8806-45B6-94D6-BE826E49BBBE}"/>
              </a:ext>
            </a:extLst>
          </p:cNvPr>
          <p:cNvPicPr>
            <a:picLocks xmlns:a="http://schemas.openxmlformats.org/drawingml/2006/main" noChangeAspect="1"/>
          </p:cNvPicPr>
          <p:nvPr/>
        </p:nvPicPr>
        <p:blipFill>
          <a:blip xmlns:r="http://schemas.openxmlformats.org/officeDocument/2006/relationships" xmlns:a="http://schemas.openxmlformats.org/drawingml/2006/main" r:embed="R95048f0652c742ed"/>
          <a:stretch xmlns:a="http://schemas.openxmlformats.org/drawingml/2006/main"/>
        </p:blipFill>
        <p:spPr>
          <a:xfrm xmlns:a="http://schemas.openxmlformats.org/drawingml/2006/main">
            <a:off x="6329721" y="2143125"/>
            <a:ext cx="5247559" cy="2809875"/>
          </a:xfrm>
          <a:prstGeom xmlns:a="http://schemas.openxmlformats.org/drawingml/2006/main" prst="rect">
            <a:avLst/>
          </a:prstGeom>
        </p:spPr>
      </p:pic>
      <p:sp>
        <p:nvSpPr>
          <p:cNvPr id="8" name="A rooftop rotor drives an exhaust fan. Fresh air enters">
            <a:extLst xmlns:a="http://schemas.openxmlformats.org/drawingml/2006/main">
              <a:ext uri="{FF2B5EF4-FFF2-40B4-BE49-F238E27FC236}">
                <a16:creationId xmlns:a16="http://schemas.microsoft.com/office/drawing/2014/main" id="{E0680AD5-39DA-4CEB-8B29-1A0D2C1A5508}"/>
              </a:ext>
            </a:extLst>
          </p:cNvPr>
          <p:cNvSpPr>
            <a:spLocks xmlns:a="http://schemas.openxmlformats.org/drawingml/2006/main" noGrp="1"/>
          </p:cNvSpPr>
          <p:nvPr/>
        </p:nvSpPr>
        <p:spPr>
          <a:xfrm xmlns:a="http://schemas.openxmlformats.org/drawingml/2006/main">
            <a:off x="619125" y="50768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rooftop rotor drives an exhaust fan. Fresh air enters through a planned intake.</a:t>
            </a:r>
          </a:p>
        </p:txBody>
      </p:sp>
      <p:sp>
        <p:nvSpPr>
          <p:cNvPr id="9" name="A wind-driven paddle disturbs the surface to promote ai">
            <a:extLst xmlns:a="http://schemas.openxmlformats.org/drawingml/2006/main">
              <a:ext uri="{FF2B5EF4-FFF2-40B4-BE49-F238E27FC236}">
                <a16:creationId xmlns:a16="http://schemas.microsoft.com/office/drawing/2014/main" id="{EFAF3FBF-A28D-4497-8292-D5B7212CBCED}"/>
              </a:ext>
            </a:extLst>
          </p:cNvPr>
          <p:cNvSpPr>
            <a:spLocks xmlns:a="http://schemas.openxmlformats.org/drawingml/2006/main" noGrp="1"/>
          </p:cNvSpPr>
          <p:nvPr/>
        </p:nvSpPr>
        <p:spPr>
          <a:xfrm xmlns:a="http://schemas.openxmlformats.org/drawingml/2006/main">
            <a:off x="6334125" y="50768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wind-driven paddle disturbs the surface to promote air–water exchange.</a:t>
            </a:r>
          </a:p>
        </p:txBody>
      </p:sp>
      <p:sp>
        <p:nvSpPr>
          <p:cNvPr id="10" name="Both applications depend on available wind. Performance">
            <a:extLst xmlns:a="http://schemas.openxmlformats.org/drawingml/2006/main">
              <a:ext uri="{FF2B5EF4-FFF2-40B4-BE49-F238E27FC236}">
                <a16:creationId xmlns:a16="http://schemas.microsoft.com/office/drawing/2014/main" id="{59A9695A-8326-4B86-90A3-202FD6E936D6}"/>
              </a:ext>
            </a:extLst>
          </p:cNvPr>
          <p:cNvSpPr>
            <a:spLocks xmlns:a="http://schemas.openxmlformats.org/drawingml/2006/main" noGrp="1"/>
          </p:cNvSpPr>
          <p:nvPr/>
        </p:nvSpPr>
        <p:spPr>
          <a:xfrm xmlns:a="http://schemas.openxmlformats.org/drawingml/2006/main">
            <a:off x="619125" y="581025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45A"/>
                </a:solidFill>
                <a:latin typeface="Arial"/>
                <a:ea typeface="Arial"/>
                <a:cs typeface="Arial"/>
              </a:defRPr>
            </a:defPPr>
            <a:lvl1pPr>
              <a:defRPr sz="1350" b="0">
                <a:solidFill>
                  <a:srgbClr val="53645A"/>
                </a:solidFill>
                <a:latin typeface="Arial"/>
                <a:ea typeface="Arial"/>
                <a:cs typeface="Arial"/>
              </a:defRPr>
            </a:lvl1pPr>
            <a:lvl2pPr>
              <a:defRPr sz="1350" b="0">
                <a:solidFill>
                  <a:srgbClr val="53645A"/>
                </a:solidFill>
                <a:latin typeface="Arial"/>
                <a:ea typeface="Arial"/>
                <a:cs typeface="Arial"/>
              </a:defRPr>
            </a:lvl2pPr>
            <a:lvl3pPr>
              <a:defRPr sz="1350" b="0">
                <a:solidFill>
                  <a:srgbClr val="53645A"/>
                </a:solidFill>
                <a:latin typeface="Arial"/>
                <a:ea typeface="Arial"/>
                <a:cs typeface="Arial"/>
              </a:defRPr>
            </a:lvl3pPr>
            <a:lvl4pPr>
              <a:defRPr sz="1350" b="0">
                <a:solidFill>
                  <a:srgbClr val="53645A"/>
                </a:solidFill>
                <a:latin typeface="Arial"/>
                <a:ea typeface="Arial"/>
                <a:cs typeface="Arial"/>
              </a:defRPr>
            </a:lvl4pPr>
            <a:lvl5pPr>
              <a:defRPr sz="1350" b="0">
                <a:solidFill>
                  <a:srgbClr val="53645A"/>
                </a:solidFill>
                <a:latin typeface="Arial"/>
                <a:ea typeface="Arial"/>
                <a:cs typeface="Arial"/>
              </a:defRPr>
            </a:lvl5pPr>
            <a:lvl6pPr>
              <a:defRPr sz="1350" b="0">
                <a:solidFill>
                  <a:srgbClr val="53645A"/>
                </a:solidFill>
                <a:latin typeface="Arial"/>
                <a:ea typeface="Arial"/>
                <a:cs typeface="Arial"/>
              </a:defRPr>
            </a:lvl6pPr>
            <a:lvl7pPr>
              <a:defRPr sz="1350" b="0">
                <a:solidFill>
                  <a:srgbClr val="53645A"/>
                </a:solidFill>
                <a:latin typeface="Arial"/>
                <a:ea typeface="Arial"/>
                <a:cs typeface="Arial"/>
              </a:defRPr>
            </a:lvl7pPr>
            <a:lvl8pPr>
              <a:defRPr sz="1350" b="0">
                <a:solidFill>
                  <a:srgbClr val="53645A"/>
                </a:solidFill>
                <a:latin typeface="Arial"/>
                <a:ea typeface="Arial"/>
                <a:cs typeface="Arial"/>
              </a:defRPr>
            </a:lvl8pPr>
            <a:lvl9pPr>
              <a:defRPr sz="1350" b="0">
                <a:solidFill>
                  <a:srgbClr val="53645A"/>
                </a:solidFill>
                <a:latin typeface="Arial"/>
                <a:ea typeface="Arial"/>
                <a:cs typeface="Arial"/>
              </a:defRPr>
            </a:lvl9pPr>
          </a:lstStyle>
          <a:p xmlns:a="http://schemas.openxmlformats.org/drawingml/2006/main">
            <a:pPr>
              <a:defRPr sz="1350" b="0">
                <a:solidFill>
                  <a:srgbClr val="53645A"/>
                </a:solidFill>
                <a:latin typeface="Arial"/>
                <a:ea typeface="Arial"/>
                <a:cs typeface="Arial"/>
              </a:defRPr>
            </a:pPr>
            <a:r>
              <a:rPr sz="1350" b="0">
                <a:solidFill>
                  <a:srgbClr val="53645A"/>
                </a:solidFill>
                <a:latin typeface="Arial"/>
                <a:ea typeface="Arial"/>
                <a:cs typeface="Arial"/>
              </a:rPr>
              <a:t>Both applications depend on available wind. Performance remains to be measured.</a:t>
            </a:r>
          </a:p>
        </p:txBody>
      </p:sp>
      <p:sp>
        <p:nvSpPr>
          <p:cNvPr id="11" name="04">
            <a:extLst xmlns:a="http://schemas.openxmlformats.org/drawingml/2006/main">
              <a:ext uri="{FF2B5EF4-FFF2-40B4-BE49-F238E27FC236}">
                <a16:creationId xmlns:a16="http://schemas.microsoft.com/office/drawing/2014/main" id="{1BCE178A-8586-49E0-B9D2-2E01546908B8}"/>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04</a:t>
            </a:r>
          </a:p>
        </p:txBody>
      </p:sp>
    </p:spTree>
    <p:extLst>
      <p:ext uri="{BB962C8B-B14F-4D97-AF65-F5344CB8AC3E}">
        <p14:creationId xmlns:p14="http://schemas.microsoft.com/office/powerpoint/2010/main" val="475252814"/>
      </p:ext>
    </p:extLst>
  </p:cSld>
</p:sld>
</file>

<file path=ppt/slides/slide5.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017BC47-262B-431C-84D6-7F31CEE94540}"/>
              </a:ext>
            </a:extLst>
          </p:cNvPr>
          <p:cNvPicPr>
            <a:picLocks xmlns:a="http://schemas.openxmlformats.org/drawingml/2006/main" noChangeAspect="1"/>
          </p:cNvPicPr>
          <p:nvPr/>
        </p:nvPicPr>
        <p:blipFill>
          <a:blip xmlns:r="http://schemas.openxmlformats.org/officeDocument/2006/relationships" xmlns:a="http://schemas.openxmlformats.org/drawingml/2006/main" r:embed="R60c10b437a20410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A fabricated prototype">
            <a:extLst xmlns:a="http://schemas.openxmlformats.org/drawingml/2006/main">
              <a:ext uri="{FF2B5EF4-FFF2-40B4-BE49-F238E27FC236}">
                <a16:creationId xmlns:a16="http://schemas.microsoft.com/office/drawing/2014/main" id="{C93B49E9-05E6-493C-9B03-3DDF49127851}"/>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A fabricated prototype</a:t>
            </a:r>
          </a:p>
        </p:txBody>
      </p:sp>
      <p:pic>
        <p:nvPicPr>
          <p:cNvPr id="4" name="">
            <a:extLst xmlns:a="http://schemas.openxmlformats.org/drawingml/2006/main">
              <a:ext uri="{FF2B5EF4-FFF2-40B4-BE49-F238E27FC236}">
                <a16:creationId xmlns:a16="http://schemas.microsoft.com/office/drawing/2014/main" id="{2109126A-804D-4ABA-8C50-048AFA7A6F4A}"/>
              </a:ext>
            </a:extLst>
          </p:cNvPr>
          <p:cNvPicPr>
            <a:picLocks xmlns:a="http://schemas.openxmlformats.org/drawingml/2006/main" noChangeAspect="1"/>
          </p:cNvPicPr>
          <p:nvPr/>
        </p:nvPicPr>
        <p:blipFill>
          <a:blip xmlns:r="http://schemas.openxmlformats.org/officeDocument/2006/relationships" xmlns:a="http://schemas.openxmlformats.org/drawingml/2006/main" r:embed="Reec7ff2217894bd8"/>
          <a:srcRect xmlns:a="http://schemas.openxmlformats.org/drawingml/2006/main" l="0" t="7996" r="0" b="7996"/>
          <a:stretch xmlns:a="http://schemas.openxmlformats.org/drawingml/2006/main">
            <a:fillRect l="0" t="0" r="0" b="0"/>
          </a:stretch>
        </p:blipFill>
        <p:spPr>
          <a:xfrm xmlns:a="http://schemas.openxmlformats.org/drawingml/2006/main">
            <a:off x="6400800" y="1457325"/>
            <a:ext cx="5172075" cy="4552950"/>
          </a:xfrm>
          <a:prstGeom xmlns:a="http://schemas.openxmlformats.org/drawingml/2006/main" prst="rect">
            <a:avLst/>
          </a:prstGeom>
        </p:spPr>
      </p:pic>
      <p:sp>
        <p:nvSpPr>
          <p:cNvPr id="5" name="SolidWorks design">
            <a:extLst xmlns:a="http://schemas.openxmlformats.org/drawingml/2006/main">
              <a:ext uri="{FF2B5EF4-FFF2-40B4-BE49-F238E27FC236}">
                <a16:creationId xmlns:a16="http://schemas.microsoft.com/office/drawing/2014/main" id="{CA91892E-885B-4402-8C01-2E7F426D7D95}"/>
              </a:ext>
            </a:extLst>
          </p:cNvPr>
          <p:cNvSpPr>
            <a:spLocks xmlns:a="http://schemas.openxmlformats.org/drawingml/2006/main" noGrp="1"/>
          </p:cNvSpPr>
          <p:nvPr/>
        </p:nvSpPr>
        <p:spPr>
          <a:xfrm xmlns:a="http://schemas.openxmlformats.org/drawingml/2006/main">
            <a:off x="619125" y="17145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SolidWorks design</a:t>
            </a:r>
          </a:p>
        </p:txBody>
      </p:sp>
      <p:sp>
        <p:nvSpPr>
          <p:cNvPr id="6" name="Rotor, shafts, supports and bevel gears form the mechan">
            <a:extLst xmlns:a="http://schemas.openxmlformats.org/drawingml/2006/main">
              <a:ext uri="{FF2B5EF4-FFF2-40B4-BE49-F238E27FC236}">
                <a16:creationId xmlns:a16="http://schemas.microsoft.com/office/drawing/2014/main" id="{13F15B13-7995-4C78-801D-B41817113F1A}"/>
              </a:ext>
            </a:extLst>
          </p:cNvPr>
          <p:cNvSpPr>
            <a:spLocks xmlns:a="http://schemas.openxmlformats.org/drawingml/2006/main" noGrp="1"/>
          </p:cNvSpPr>
          <p:nvPr/>
        </p:nvSpPr>
        <p:spPr>
          <a:xfrm xmlns:a="http://schemas.openxmlformats.org/drawingml/2006/main">
            <a:off x="619125" y="2286000"/>
            <a:ext cx="5162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2D23"/>
                </a:solidFill>
                <a:latin typeface="Arial"/>
                <a:ea typeface="Arial"/>
                <a:cs typeface="Arial"/>
              </a:defRPr>
            </a:defPPr>
            <a:lvl1pPr>
              <a:defRPr sz="2100" b="0">
                <a:solidFill>
                  <a:srgbClr val="162D23"/>
                </a:solidFill>
                <a:latin typeface="Arial"/>
                <a:ea typeface="Arial"/>
                <a:cs typeface="Arial"/>
              </a:defRPr>
            </a:lvl1pPr>
            <a:lvl2pPr>
              <a:defRPr sz="2100" b="0">
                <a:solidFill>
                  <a:srgbClr val="162D23"/>
                </a:solidFill>
                <a:latin typeface="Arial"/>
                <a:ea typeface="Arial"/>
                <a:cs typeface="Arial"/>
              </a:defRPr>
            </a:lvl2pPr>
            <a:lvl3pPr>
              <a:defRPr sz="2100" b="0">
                <a:solidFill>
                  <a:srgbClr val="162D23"/>
                </a:solidFill>
                <a:latin typeface="Arial"/>
                <a:ea typeface="Arial"/>
                <a:cs typeface="Arial"/>
              </a:defRPr>
            </a:lvl3pPr>
            <a:lvl4pPr>
              <a:defRPr sz="2100" b="0">
                <a:solidFill>
                  <a:srgbClr val="162D23"/>
                </a:solidFill>
                <a:latin typeface="Arial"/>
                <a:ea typeface="Arial"/>
                <a:cs typeface="Arial"/>
              </a:defRPr>
            </a:lvl4pPr>
            <a:lvl5pPr>
              <a:defRPr sz="2100" b="0">
                <a:solidFill>
                  <a:srgbClr val="162D23"/>
                </a:solidFill>
                <a:latin typeface="Arial"/>
                <a:ea typeface="Arial"/>
                <a:cs typeface="Arial"/>
              </a:defRPr>
            </a:lvl5pPr>
            <a:lvl6pPr>
              <a:defRPr sz="2100" b="0">
                <a:solidFill>
                  <a:srgbClr val="162D23"/>
                </a:solidFill>
                <a:latin typeface="Arial"/>
                <a:ea typeface="Arial"/>
                <a:cs typeface="Arial"/>
              </a:defRPr>
            </a:lvl6pPr>
            <a:lvl7pPr>
              <a:defRPr sz="2100" b="0">
                <a:solidFill>
                  <a:srgbClr val="162D23"/>
                </a:solidFill>
                <a:latin typeface="Arial"/>
                <a:ea typeface="Arial"/>
                <a:cs typeface="Arial"/>
              </a:defRPr>
            </a:lvl7pPr>
            <a:lvl8pPr>
              <a:defRPr sz="2100" b="0">
                <a:solidFill>
                  <a:srgbClr val="162D23"/>
                </a:solidFill>
                <a:latin typeface="Arial"/>
                <a:ea typeface="Arial"/>
                <a:cs typeface="Arial"/>
              </a:defRPr>
            </a:lvl8pPr>
            <a:lvl9pPr>
              <a:defRPr sz="2100" b="0">
                <a:solidFill>
                  <a:srgbClr val="162D23"/>
                </a:solidFill>
                <a:latin typeface="Arial"/>
                <a:ea typeface="Arial"/>
                <a:cs typeface="Arial"/>
              </a:defRPr>
            </a:lvl9pPr>
          </a:lstStyle>
          <a:p xmlns:a="http://schemas.openxmlformats.org/drawingml/2006/main">
            <a:pPr>
              <a:defRPr sz="2100" b="0">
                <a:solidFill>
                  <a:srgbClr val="162D23"/>
                </a:solidFill>
                <a:latin typeface="Arial"/>
                <a:ea typeface="Arial"/>
                <a:cs typeface="Arial"/>
              </a:defRPr>
            </a:pPr>
            <a:r>
              <a:rPr sz="2100" b="0">
                <a:solidFill>
                  <a:srgbClr val="162D23"/>
                </a:solidFill>
                <a:latin typeface="Arial"/>
                <a:ea typeface="Arial"/>
                <a:cs typeface="Arial"/>
              </a:rPr>
              <a:t>Rotor, shafts, supports and bevel gears form the mechanical assembly.</a:t>
            </a:r>
          </a:p>
        </p:txBody>
      </p:sp>
      <p:sp>
        <p:nvSpPr>
          <p:cNvPr id="7" name="3D-printed demonstrator">
            <a:extLst xmlns:a="http://schemas.openxmlformats.org/drawingml/2006/main">
              <a:ext uri="{FF2B5EF4-FFF2-40B4-BE49-F238E27FC236}">
                <a16:creationId xmlns:a16="http://schemas.microsoft.com/office/drawing/2014/main" id="{3AFC7ECC-4672-4750-8E6E-7EBC7FFE7134}"/>
              </a:ext>
            </a:extLst>
          </p:cNvPr>
          <p:cNvSpPr>
            <a:spLocks xmlns:a="http://schemas.openxmlformats.org/drawingml/2006/main" noGrp="1"/>
          </p:cNvSpPr>
          <p:nvPr/>
        </p:nvSpPr>
        <p:spPr>
          <a:xfrm xmlns:a="http://schemas.openxmlformats.org/drawingml/2006/main">
            <a:off x="619125" y="36480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3D-printed demonstrator</a:t>
            </a:r>
          </a:p>
        </p:txBody>
      </p:sp>
      <p:sp>
        <p:nvSpPr>
          <p:cNvPr id="8" name="The submission specifies PLA parts, printed on a Bambu ">
            <a:extLst xmlns:a="http://schemas.openxmlformats.org/drawingml/2006/main">
              <a:ext uri="{FF2B5EF4-FFF2-40B4-BE49-F238E27FC236}">
                <a16:creationId xmlns:a16="http://schemas.microsoft.com/office/drawing/2014/main" id="{7351D2EE-0CAA-40FB-BB16-7E99077D599A}"/>
              </a:ext>
            </a:extLst>
          </p:cNvPr>
          <p:cNvSpPr>
            <a:spLocks xmlns:a="http://schemas.openxmlformats.org/drawingml/2006/main" noGrp="1"/>
          </p:cNvSpPr>
          <p:nvPr/>
        </p:nvSpPr>
        <p:spPr>
          <a:xfrm xmlns:a="http://schemas.openxmlformats.org/drawingml/2006/main">
            <a:off x="619125" y="4219575"/>
            <a:ext cx="5162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2D23"/>
                </a:solidFill>
                <a:latin typeface="Arial"/>
                <a:ea typeface="Arial"/>
                <a:cs typeface="Arial"/>
              </a:defRPr>
            </a:defPPr>
            <a:lvl1pPr>
              <a:defRPr sz="2100" b="0">
                <a:solidFill>
                  <a:srgbClr val="162D23"/>
                </a:solidFill>
                <a:latin typeface="Arial"/>
                <a:ea typeface="Arial"/>
                <a:cs typeface="Arial"/>
              </a:defRPr>
            </a:lvl1pPr>
            <a:lvl2pPr>
              <a:defRPr sz="2100" b="0">
                <a:solidFill>
                  <a:srgbClr val="162D23"/>
                </a:solidFill>
                <a:latin typeface="Arial"/>
                <a:ea typeface="Arial"/>
                <a:cs typeface="Arial"/>
              </a:defRPr>
            </a:lvl2pPr>
            <a:lvl3pPr>
              <a:defRPr sz="2100" b="0">
                <a:solidFill>
                  <a:srgbClr val="162D23"/>
                </a:solidFill>
                <a:latin typeface="Arial"/>
                <a:ea typeface="Arial"/>
                <a:cs typeface="Arial"/>
              </a:defRPr>
            </a:lvl3pPr>
            <a:lvl4pPr>
              <a:defRPr sz="2100" b="0">
                <a:solidFill>
                  <a:srgbClr val="162D23"/>
                </a:solidFill>
                <a:latin typeface="Arial"/>
                <a:ea typeface="Arial"/>
                <a:cs typeface="Arial"/>
              </a:defRPr>
            </a:lvl4pPr>
            <a:lvl5pPr>
              <a:defRPr sz="2100" b="0">
                <a:solidFill>
                  <a:srgbClr val="162D23"/>
                </a:solidFill>
                <a:latin typeface="Arial"/>
                <a:ea typeface="Arial"/>
                <a:cs typeface="Arial"/>
              </a:defRPr>
            </a:lvl5pPr>
            <a:lvl6pPr>
              <a:defRPr sz="2100" b="0">
                <a:solidFill>
                  <a:srgbClr val="162D23"/>
                </a:solidFill>
                <a:latin typeface="Arial"/>
                <a:ea typeface="Arial"/>
                <a:cs typeface="Arial"/>
              </a:defRPr>
            </a:lvl6pPr>
            <a:lvl7pPr>
              <a:defRPr sz="2100" b="0">
                <a:solidFill>
                  <a:srgbClr val="162D23"/>
                </a:solidFill>
                <a:latin typeface="Arial"/>
                <a:ea typeface="Arial"/>
                <a:cs typeface="Arial"/>
              </a:defRPr>
            </a:lvl7pPr>
            <a:lvl8pPr>
              <a:defRPr sz="2100" b="0">
                <a:solidFill>
                  <a:srgbClr val="162D23"/>
                </a:solidFill>
                <a:latin typeface="Arial"/>
                <a:ea typeface="Arial"/>
                <a:cs typeface="Arial"/>
              </a:defRPr>
            </a:lvl8pPr>
            <a:lvl9pPr>
              <a:defRPr sz="2100" b="0">
                <a:solidFill>
                  <a:srgbClr val="162D23"/>
                </a:solidFill>
                <a:latin typeface="Arial"/>
                <a:ea typeface="Arial"/>
                <a:cs typeface="Arial"/>
              </a:defRPr>
            </a:lvl9pPr>
          </a:lstStyle>
          <a:p xmlns:a="http://schemas.openxmlformats.org/drawingml/2006/main">
            <a:pPr>
              <a:defRPr sz="2100" b="0">
                <a:solidFill>
                  <a:srgbClr val="162D23"/>
                </a:solidFill>
                <a:latin typeface="Arial"/>
                <a:ea typeface="Arial"/>
                <a:cs typeface="Arial"/>
              </a:defRPr>
            </a:pPr>
            <a:r>
              <a:rPr sz="2100" b="0">
                <a:solidFill>
                  <a:srgbClr val="162D23"/>
                </a:solidFill>
                <a:latin typeface="Arial"/>
                <a:ea typeface="Arial"/>
                <a:cs typeface="Arial"/>
              </a:rPr>
              <a:t>The submission specifies PLA parts, printed on a Bambu Lab P1S.</a:t>
            </a:r>
          </a:p>
        </p:txBody>
      </p:sp>
      <p:sp>
        <p:nvSpPr>
          <p:cNvPr id="9" name="Python and SciPy supported the NACA 65-810 fan geometry">
            <a:extLst xmlns:a="http://schemas.openxmlformats.org/drawingml/2006/main">
              <a:ext uri="{FF2B5EF4-FFF2-40B4-BE49-F238E27FC236}">
                <a16:creationId xmlns:a16="http://schemas.microsoft.com/office/drawing/2014/main" id="{C3E9A4A2-FA8B-4EDA-9D56-219CD562DD0E}"/>
              </a:ext>
            </a:extLst>
          </p:cNvPr>
          <p:cNvSpPr>
            <a:spLocks xmlns:a="http://schemas.openxmlformats.org/drawingml/2006/main" noGrp="1"/>
          </p:cNvSpPr>
          <p:nvPr/>
        </p:nvSpPr>
        <p:spPr>
          <a:xfrm xmlns:a="http://schemas.openxmlformats.org/drawingml/2006/main">
            <a:off x="619125" y="5495925"/>
            <a:ext cx="5162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45A"/>
                </a:solidFill>
                <a:latin typeface="Arial"/>
                <a:ea typeface="Arial"/>
                <a:cs typeface="Arial"/>
              </a:defRPr>
            </a:defPPr>
            <a:lvl1pPr>
              <a:defRPr sz="1950" b="0">
                <a:solidFill>
                  <a:srgbClr val="53645A"/>
                </a:solidFill>
                <a:latin typeface="Arial"/>
                <a:ea typeface="Arial"/>
                <a:cs typeface="Arial"/>
              </a:defRPr>
            </a:lvl1pPr>
            <a:lvl2pPr>
              <a:defRPr sz="1950" b="0">
                <a:solidFill>
                  <a:srgbClr val="53645A"/>
                </a:solidFill>
                <a:latin typeface="Arial"/>
                <a:ea typeface="Arial"/>
                <a:cs typeface="Arial"/>
              </a:defRPr>
            </a:lvl2pPr>
            <a:lvl3pPr>
              <a:defRPr sz="1950" b="0">
                <a:solidFill>
                  <a:srgbClr val="53645A"/>
                </a:solidFill>
                <a:latin typeface="Arial"/>
                <a:ea typeface="Arial"/>
                <a:cs typeface="Arial"/>
              </a:defRPr>
            </a:lvl3pPr>
            <a:lvl4pPr>
              <a:defRPr sz="1950" b="0">
                <a:solidFill>
                  <a:srgbClr val="53645A"/>
                </a:solidFill>
                <a:latin typeface="Arial"/>
                <a:ea typeface="Arial"/>
                <a:cs typeface="Arial"/>
              </a:defRPr>
            </a:lvl4pPr>
            <a:lvl5pPr>
              <a:defRPr sz="1950" b="0">
                <a:solidFill>
                  <a:srgbClr val="53645A"/>
                </a:solidFill>
                <a:latin typeface="Arial"/>
                <a:ea typeface="Arial"/>
                <a:cs typeface="Arial"/>
              </a:defRPr>
            </a:lvl5pPr>
            <a:lvl6pPr>
              <a:defRPr sz="1950" b="0">
                <a:solidFill>
                  <a:srgbClr val="53645A"/>
                </a:solidFill>
                <a:latin typeface="Arial"/>
                <a:ea typeface="Arial"/>
                <a:cs typeface="Arial"/>
              </a:defRPr>
            </a:lvl6pPr>
            <a:lvl7pPr>
              <a:defRPr sz="1950" b="0">
                <a:solidFill>
                  <a:srgbClr val="53645A"/>
                </a:solidFill>
                <a:latin typeface="Arial"/>
                <a:ea typeface="Arial"/>
                <a:cs typeface="Arial"/>
              </a:defRPr>
            </a:lvl7pPr>
            <a:lvl8pPr>
              <a:defRPr sz="1950" b="0">
                <a:solidFill>
                  <a:srgbClr val="53645A"/>
                </a:solidFill>
                <a:latin typeface="Arial"/>
                <a:ea typeface="Arial"/>
                <a:cs typeface="Arial"/>
              </a:defRPr>
            </a:lvl8pPr>
            <a:lvl9pPr>
              <a:defRPr sz="1950" b="0">
                <a:solidFill>
                  <a:srgbClr val="53645A"/>
                </a:solidFill>
                <a:latin typeface="Arial"/>
                <a:ea typeface="Arial"/>
                <a:cs typeface="Arial"/>
              </a:defRPr>
            </a:lvl9pPr>
          </a:lstStyle>
          <a:p xmlns:a="http://schemas.openxmlformats.org/drawingml/2006/main">
            <a:pPr>
              <a:defRPr sz="1950" b="0">
                <a:solidFill>
                  <a:srgbClr val="53645A"/>
                </a:solidFill>
                <a:latin typeface="Arial"/>
                <a:ea typeface="Arial"/>
                <a:cs typeface="Arial"/>
              </a:defRPr>
            </a:pPr>
            <a:r>
              <a:rPr sz="1950" b="0">
                <a:solidFill>
                  <a:srgbClr val="53645A"/>
                </a:solidFill>
                <a:latin typeface="Arial"/>
                <a:ea typeface="Arial"/>
                <a:cs typeface="Arial"/>
              </a:rPr>
              <a:t>Python and SciPy supported the NACA 65-810 fan geometry.</a:t>
            </a:r>
          </a:p>
        </p:txBody>
      </p:sp>
      <p:sp>
        <p:nvSpPr>
          <p:cNvPr id="10" name="05">
            <a:extLst xmlns:a="http://schemas.openxmlformats.org/drawingml/2006/main">
              <a:ext uri="{FF2B5EF4-FFF2-40B4-BE49-F238E27FC236}">
                <a16:creationId xmlns:a16="http://schemas.microsoft.com/office/drawing/2014/main" id="{BCA58EB3-F5D0-439D-9703-DC16F1512A11}"/>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05</a:t>
            </a:r>
          </a:p>
        </p:txBody>
      </p:sp>
    </p:spTree>
    <p:extLst>
      <p:ext uri="{BB962C8B-B14F-4D97-AF65-F5344CB8AC3E}">
        <p14:creationId xmlns:p14="http://schemas.microsoft.com/office/powerpoint/2010/main" val="1947407231"/>
      </p:ext>
    </p:extLst>
  </p:cSld>
</p:sld>
</file>

<file path=ppt/slides/slide6.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9A5F62B-C591-4815-A2A7-4DCD08D759EB}"/>
              </a:ext>
            </a:extLst>
          </p:cNvPr>
          <p:cNvPicPr>
            <a:picLocks xmlns:a="http://schemas.openxmlformats.org/drawingml/2006/main" noChangeAspect="1"/>
          </p:cNvPicPr>
          <p:nvPr/>
        </p:nvPicPr>
        <p:blipFill>
          <a:blip xmlns:r="http://schemas.openxmlformats.org/officeDocument/2006/relationships" xmlns:a="http://schemas.openxmlformats.org/drawingml/2006/main" r:embed="R18a33f9cb0914c1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Estimated mechanical component cost">
            <a:extLst xmlns:a="http://schemas.openxmlformats.org/drawingml/2006/main">
              <a:ext uri="{FF2B5EF4-FFF2-40B4-BE49-F238E27FC236}">
                <a16:creationId xmlns:a16="http://schemas.microsoft.com/office/drawing/2014/main" id="{B1048B51-1027-4EAD-8560-E5228B058C30}"/>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Estimated mechanical component cost</a:t>
            </a:r>
          </a:p>
        </p:txBody>
      </p:sp>
      <p:sp>
        <p:nvSpPr>
          <p:cNvPr id="4" name="Ventilation">
            <a:extLst xmlns:a="http://schemas.openxmlformats.org/drawingml/2006/main">
              <a:ext uri="{FF2B5EF4-FFF2-40B4-BE49-F238E27FC236}">
                <a16:creationId xmlns:a16="http://schemas.microsoft.com/office/drawing/2014/main" id="{73010167-9DDE-4D5B-8BA1-0346F40407A3}"/>
              </a:ext>
            </a:extLst>
          </p:cNvPr>
          <p:cNvSpPr>
            <a:spLocks xmlns:a="http://schemas.openxmlformats.org/drawingml/2006/main" noGrp="1"/>
          </p:cNvSpPr>
          <p:nvPr/>
        </p:nvSpPr>
        <p:spPr>
          <a:xfrm xmlns:a="http://schemas.openxmlformats.org/drawingml/2006/main">
            <a:off x="628650" y="14954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45A"/>
                </a:solidFill>
                <a:latin typeface="Arial"/>
                <a:ea typeface="Arial"/>
                <a:cs typeface="Arial"/>
              </a:defRPr>
            </a:defPPr>
            <a:lvl1pPr>
              <a:defRPr sz="1875" b="0">
                <a:solidFill>
                  <a:srgbClr val="53645A"/>
                </a:solidFill>
                <a:latin typeface="Arial"/>
                <a:ea typeface="Arial"/>
                <a:cs typeface="Arial"/>
              </a:defRPr>
            </a:lvl1pPr>
            <a:lvl2pPr>
              <a:defRPr sz="1875" b="0">
                <a:solidFill>
                  <a:srgbClr val="53645A"/>
                </a:solidFill>
                <a:latin typeface="Arial"/>
                <a:ea typeface="Arial"/>
                <a:cs typeface="Arial"/>
              </a:defRPr>
            </a:lvl2pPr>
            <a:lvl3pPr>
              <a:defRPr sz="1875" b="0">
                <a:solidFill>
                  <a:srgbClr val="53645A"/>
                </a:solidFill>
                <a:latin typeface="Arial"/>
                <a:ea typeface="Arial"/>
                <a:cs typeface="Arial"/>
              </a:defRPr>
            </a:lvl3pPr>
            <a:lvl4pPr>
              <a:defRPr sz="1875" b="0">
                <a:solidFill>
                  <a:srgbClr val="53645A"/>
                </a:solidFill>
                <a:latin typeface="Arial"/>
                <a:ea typeface="Arial"/>
                <a:cs typeface="Arial"/>
              </a:defRPr>
            </a:lvl4pPr>
            <a:lvl5pPr>
              <a:defRPr sz="1875" b="0">
                <a:solidFill>
                  <a:srgbClr val="53645A"/>
                </a:solidFill>
                <a:latin typeface="Arial"/>
                <a:ea typeface="Arial"/>
                <a:cs typeface="Arial"/>
              </a:defRPr>
            </a:lvl5pPr>
            <a:lvl6pPr>
              <a:defRPr sz="1875" b="0">
                <a:solidFill>
                  <a:srgbClr val="53645A"/>
                </a:solidFill>
                <a:latin typeface="Arial"/>
                <a:ea typeface="Arial"/>
                <a:cs typeface="Arial"/>
              </a:defRPr>
            </a:lvl6pPr>
            <a:lvl7pPr>
              <a:defRPr sz="1875" b="0">
                <a:solidFill>
                  <a:srgbClr val="53645A"/>
                </a:solidFill>
                <a:latin typeface="Arial"/>
                <a:ea typeface="Arial"/>
                <a:cs typeface="Arial"/>
              </a:defRPr>
            </a:lvl7pPr>
            <a:lvl8pPr>
              <a:defRPr sz="1875" b="0">
                <a:solidFill>
                  <a:srgbClr val="53645A"/>
                </a:solidFill>
                <a:latin typeface="Arial"/>
                <a:ea typeface="Arial"/>
                <a:cs typeface="Arial"/>
              </a:defRPr>
            </a:lvl8pPr>
            <a:lvl9pPr>
              <a:defRPr sz="1875" b="0">
                <a:solidFill>
                  <a:srgbClr val="53645A"/>
                </a:solidFill>
                <a:latin typeface="Arial"/>
                <a:ea typeface="Arial"/>
                <a:cs typeface="Arial"/>
              </a:defRPr>
            </a:lvl9pPr>
          </a:lstStyle>
          <a:p xmlns:a="http://schemas.openxmlformats.org/drawingml/2006/main">
            <a:pPr>
              <a:defRPr sz="1875" b="0">
                <a:solidFill>
                  <a:srgbClr val="53645A"/>
                </a:solidFill>
                <a:latin typeface="Arial"/>
                <a:ea typeface="Arial"/>
                <a:cs typeface="Arial"/>
              </a:defRPr>
            </a:pPr>
            <a:r>
              <a:rPr sz="1875" b="0">
                <a:solidFill>
                  <a:srgbClr val="53645A"/>
                </a:solidFill>
                <a:latin typeface="Arial"/>
                <a:ea typeface="Arial"/>
                <a:cs typeface="Arial"/>
              </a:rPr>
              <a:t>Ventilation</a:t>
            </a:r>
          </a:p>
        </p:txBody>
      </p:sp>
      <p:sp>
        <p:nvSpPr>
          <p:cNvPr id="5" name="BDT 4,043">
            <a:extLst xmlns:a="http://schemas.openxmlformats.org/drawingml/2006/main">
              <a:ext uri="{FF2B5EF4-FFF2-40B4-BE49-F238E27FC236}">
                <a16:creationId xmlns:a16="http://schemas.microsoft.com/office/drawing/2014/main" id="{646711A9-54F0-4447-B1C1-A083ADCE30A3}"/>
              </a:ext>
            </a:extLst>
          </p:cNvPr>
          <p:cNvSpPr>
            <a:spLocks xmlns:a="http://schemas.openxmlformats.org/drawingml/2006/main" noGrp="1"/>
          </p:cNvSpPr>
          <p:nvPr/>
        </p:nvSpPr>
        <p:spPr>
          <a:xfrm xmlns:a="http://schemas.openxmlformats.org/drawingml/2006/main">
            <a:off x="619125" y="1885950"/>
            <a:ext cx="4857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9392E"/>
                </a:solidFill>
                <a:latin typeface="Arial"/>
                <a:ea typeface="Arial"/>
                <a:cs typeface="Arial"/>
              </a:defRPr>
            </a:defPPr>
            <a:lvl1pPr>
              <a:defRPr sz="3900" b="1">
                <a:solidFill>
                  <a:srgbClr val="19392E"/>
                </a:solidFill>
                <a:latin typeface="Arial"/>
                <a:ea typeface="Arial"/>
                <a:cs typeface="Arial"/>
              </a:defRPr>
            </a:lvl1pPr>
            <a:lvl2pPr>
              <a:defRPr sz="3900" b="1">
                <a:solidFill>
                  <a:srgbClr val="19392E"/>
                </a:solidFill>
                <a:latin typeface="Arial"/>
                <a:ea typeface="Arial"/>
                <a:cs typeface="Arial"/>
              </a:defRPr>
            </a:lvl2pPr>
            <a:lvl3pPr>
              <a:defRPr sz="3900" b="1">
                <a:solidFill>
                  <a:srgbClr val="19392E"/>
                </a:solidFill>
                <a:latin typeface="Arial"/>
                <a:ea typeface="Arial"/>
                <a:cs typeface="Arial"/>
              </a:defRPr>
            </a:lvl3pPr>
            <a:lvl4pPr>
              <a:defRPr sz="3900" b="1">
                <a:solidFill>
                  <a:srgbClr val="19392E"/>
                </a:solidFill>
                <a:latin typeface="Arial"/>
                <a:ea typeface="Arial"/>
                <a:cs typeface="Arial"/>
              </a:defRPr>
            </a:lvl4pPr>
            <a:lvl5pPr>
              <a:defRPr sz="3900" b="1">
                <a:solidFill>
                  <a:srgbClr val="19392E"/>
                </a:solidFill>
                <a:latin typeface="Arial"/>
                <a:ea typeface="Arial"/>
                <a:cs typeface="Arial"/>
              </a:defRPr>
            </a:lvl5pPr>
            <a:lvl6pPr>
              <a:defRPr sz="3900" b="1">
                <a:solidFill>
                  <a:srgbClr val="19392E"/>
                </a:solidFill>
                <a:latin typeface="Arial"/>
                <a:ea typeface="Arial"/>
                <a:cs typeface="Arial"/>
              </a:defRPr>
            </a:lvl6pPr>
            <a:lvl7pPr>
              <a:defRPr sz="3900" b="1">
                <a:solidFill>
                  <a:srgbClr val="19392E"/>
                </a:solidFill>
                <a:latin typeface="Arial"/>
                <a:ea typeface="Arial"/>
                <a:cs typeface="Arial"/>
              </a:defRPr>
            </a:lvl7pPr>
            <a:lvl8pPr>
              <a:defRPr sz="3900" b="1">
                <a:solidFill>
                  <a:srgbClr val="19392E"/>
                </a:solidFill>
                <a:latin typeface="Arial"/>
                <a:ea typeface="Arial"/>
                <a:cs typeface="Arial"/>
              </a:defRPr>
            </a:lvl8pPr>
            <a:lvl9pPr>
              <a:defRPr sz="3900" b="1">
                <a:solidFill>
                  <a:srgbClr val="19392E"/>
                </a:solidFill>
                <a:latin typeface="Arial"/>
                <a:ea typeface="Arial"/>
                <a:cs typeface="Arial"/>
              </a:defRPr>
            </a:lvl9pPr>
          </a:lstStyle>
          <a:p xmlns:a="http://schemas.openxmlformats.org/drawingml/2006/main">
            <a:pPr>
              <a:defRPr sz="3900" b="1">
                <a:solidFill>
                  <a:srgbClr val="19392E"/>
                </a:solidFill>
                <a:latin typeface="Arial"/>
                <a:ea typeface="Arial"/>
                <a:cs typeface="Arial"/>
              </a:defRPr>
            </a:pPr>
            <a:r>
              <a:rPr sz="3900" b="1">
                <a:solidFill>
                  <a:srgbClr val="19392E"/>
                </a:solidFill>
                <a:latin typeface="Arial"/>
                <a:ea typeface="Arial"/>
                <a:cs typeface="Arial"/>
              </a:rPr>
              <a:t>BDT 4,043</a:t>
            </a:r>
          </a:p>
        </p:txBody>
      </p:sp>
      <p:sp>
        <p:nvSpPr>
          <p:cNvPr id="6" name="Pond aeration">
            <a:extLst xmlns:a="http://schemas.openxmlformats.org/drawingml/2006/main">
              <a:ext uri="{FF2B5EF4-FFF2-40B4-BE49-F238E27FC236}">
                <a16:creationId xmlns:a16="http://schemas.microsoft.com/office/drawing/2014/main" id="{350BB444-AB6A-4883-B35D-87F8D00C8E73}"/>
              </a:ext>
            </a:extLst>
          </p:cNvPr>
          <p:cNvSpPr>
            <a:spLocks xmlns:a="http://schemas.openxmlformats.org/drawingml/2006/main" noGrp="1"/>
          </p:cNvSpPr>
          <p:nvPr/>
        </p:nvSpPr>
        <p:spPr>
          <a:xfrm xmlns:a="http://schemas.openxmlformats.org/drawingml/2006/main">
            <a:off x="6334125" y="14954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45A"/>
                </a:solidFill>
                <a:latin typeface="Arial"/>
                <a:ea typeface="Arial"/>
                <a:cs typeface="Arial"/>
              </a:defRPr>
            </a:defPPr>
            <a:lvl1pPr>
              <a:defRPr sz="1875" b="0">
                <a:solidFill>
                  <a:srgbClr val="53645A"/>
                </a:solidFill>
                <a:latin typeface="Arial"/>
                <a:ea typeface="Arial"/>
                <a:cs typeface="Arial"/>
              </a:defRPr>
            </a:lvl1pPr>
            <a:lvl2pPr>
              <a:defRPr sz="1875" b="0">
                <a:solidFill>
                  <a:srgbClr val="53645A"/>
                </a:solidFill>
                <a:latin typeface="Arial"/>
                <a:ea typeface="Arial"/>
                <a:cs typeface="Arial"/>
              </a:defRPr>
            </a:lvl2pPr>
            <a:lvl3pPr>
              <a:defRPr sz="1875" b="0">
                <a:solidFill>
                  <a:srgbClr val="53645A"/>
                </a:solidFill>
                <a:latin typeface="Arial"/>
                <a:ea typeface="Arial"/>
                <a:cs typeface="Arial"/>
              </a:defRPr>
            </a:lvl3pPr>
            <a:lvl4pPr>
              <a:defRPr sz="1875" b="0">
                <a:solidFill>
                  <a:srgbClr val="53645A"/>
                </a:solidFill>
                <a:latin typeface="Arial"/>
                <a:ea typeface="Arial"/>
                <a:cs typeface="Arial"/>
              </a:defRPr>
            </a:lvl4pPr>
            <a:lvl5pPr>
              <a:defRPr sz="1875" b="0">
                <a:solidFill>
                  <a:srgbClr val="53645A"/>
                </a:solidFill>
                <a:latin typeface="Arial"/>
                <a:ea typeface="Arial"/>
                <a:cs typeface="Arial"/>
              </a:defRPr>
            </a:lvl5pPr>
            <a:lvl6pPr>
              <a:defRPr sz="1875" b="0">
                <a:solidFill>
                  <a:srgbClr val="53645A"/>
                </a:solidFill>
                <a:latin typeface="Arial"/>
                <a:ea typeface="Arial"/>
                <a:cs typeface="Arial"/>
              </a:defRPr>
            </a:lvl6pPr>
            <a:lvl7pPr>
              <a:defRPr sz="1875" b="0">
                <a:solidFill>
                  <a:srgbClr val="53645A"/>
                </a:solidFill>
                <a:latin typeface="Arial"/>
                <a:ea typeface="Arial"/>
                <a:cs typeface="Arial"/>
              </a:defRPr>
            </a:lvl7pPr>
            <a:lvl8pPr>
              <a:defRPr sz="1875" b="0">
                <a:solidFill>
                  <a:srgbClr val="53645A"/>
                </a:solidFill>
                <a:latin typeface="Arial"/>
                <a:ea typeface="Arial"/>
                <a:cs typeface="Arial"/>
              </a:defRPr>
            </a:lvl8pPr>
            <a:lvl9pPr>
              <a:defRPr sz="1875" b="0">
                <a:solidFill>
                  <a:srgbClr val="53645A"/>
                </a:solidFill>
                <a:latin typeface="Arial"/>
                <a:ea typeface="Arial"/>
                <a:cs typeface="Arial"/>
              </a:defRPr>
            </a:lvl9pPr>
          </a:lstStyle>
          <a:p xmlns:a="http://schemas.openxmlformats.org/drawingml/2006/main">
            <a:pPr>
              <a:defRPr sz="1875" b="0">
                <a:solidFill>
                  <a:srgbClr val="53645A"/>
                </a:solidFill>
                <a:latin typeface="Arial"/>
                <a:ea typeface="Arial"/>
                <a:cs typeface="Arial"/>
              </a:defRPr>
            </a:pPr>
            <a:r>
              <a:rPr sz="1875" b="0">
                <a:solidFill>
                  <a:srgbClr val="53645A"/>
                </a:solidFill>
                <a:latin typeface="Arial"/>
                <a:ea typeface="Arial"/>
                <a:cs typeface="Arial"/>
              </a:rPr>
              <a:t>Pond aeration</a:t>
            </a:r>
          </a:p>
        </p:txBody>
      </p:sp>
      <p:sp>
        <p:nvSpPr>
          <p:cNvPr id="7" name="BDT 6,752">
            <a:extLst xmlns:a="http://schemas.openxmlformats.org/drawingml/2006/main">
              <a:ext uri="{FF2B5EF4-FFF2-40B4-BE49-F238E27FC236}">
                <a16:creationId xmlns:a16="http://schemas.microsoft.com/office/drawing/2014/main" id="{847EC8BE-D376-4B76-8CB7-EC2316340310}"/>
              </a:ext>
            </a:extLst>
          </p:cNvPr>
          <p:cNvSpPr>
            <a:spLocks xmlns:a="http://schemas.openxmlformats.org/drawingml/2006/main" noGrp="1"/>
          </p:cNvSpPr>
          <p:nvPr/>
        </p:nvSpPr>
        <p:spPr>
          <a:xfrm xmlns:a="http://schemas.openxmlformats.org/drawingml/2006/main">
            <a:off x="6324600" y="1885950"/>
            <a:ext cx="4857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9392E"/>
                </a:solidFill>
                <a:latin typeface="Arial"/>
                <a:ea typeface="Arial"/>
                <a:cs typeface="Arial"/>
              </a:defRPr>
            </a:defPPr>
            <a:lvl1pPr>
              <a:defRPr sz="3900" b="1">
                <a:solidFill>
                  <a:srgbClr val="19392E"/>
                </a:solidFill>
                <a:latin typeface="Arial"/>
                <a:ea typeface="Arial"/>
                <a:cs typeface="Arial"/>
              </a:defRPr>
            </a:lvl1pPr>
            <a:lvl2pPr>
              <a:defRPr sz="3900" b="1">
                <a:solidFill>
                  <a:srgbClr val="19392E"/>
                </a:solidFill>
                <a:latin typeface="Arial"/>
                <a:ea typeface="Arial"/>
                <a:cs typeface="Arial"/>
              </a:defRPr>
            </a:lvl2pPr>
            <a:lvl3pPr>
              <a:defRPr sz="3900" b="1">
                <a:solidFill>
                  <a:srgbClr val="19392E"/>
                </a:solidFill>
                <a:latin typeface="Arial"/>
                <a:ea typeface="Arial"/>
                <a:cs typeface="Arial"/>
              </a:defRPr>
            </a:lvl3pPr>
            <a:lvl4pPr>
              <a:defRPr sz="3900" b="1">
                <a:solidFill>
                  <a:srgbClr val="19392E"/>
                </a:solidFill>
                <a:latin typeface="Arial"/>
                <a:ea typeface="Arial"/>
                <a:cs typeface="Arial"/>
              </a:defRPr>
            </a:lvl4pPr>
            <a:lvl5pPr>
              <a:defRPr sz="3900" b="1">
                <a:solidFill>
                  <a:srgbClr val="19392E"/>
                </a:solidFill>
                <a:latin typeface="Arial"/>
                <a:ea typeface="Arial"/>
                <a:cs typeface="Arial"/>
              </a:defRPr>
            </a:lvl5pPr>
            <a:lvl6pPr>
              <a:defRPr sz="3900" b="1">
                <a:solidFill>
                  <a:srgbClr val="19392E"/>
                </a:solidFill>
                <a:latin typeface="Arial"/>
                <a:ea typeface="Arial"/>
                <a:cs typeface="Arial"/>
              </a:defRPr>
            </a:lvl6pPr>
            <a:lvl7pPr>
              <a:defRPr sz="3900" b="1">
                <a:solidFill>
                  <a:srgbClr val="19392E"/>
                </a:solidFill>
                <a:latin typeface="Arial"/>
                <a:ea typeface="Arial"/>
                <a:cs typeface="Arial"/>
              </a:defRPr>
            </a:lvl7pPr>
            <a:lvl8pPr>
              <a:defRPr sz="3900" b="1">
                <a:solidFill>
                  <a:srgbClr val="19392E"/>
                </a:solidFill>
                <a:latin typeface="Arial"/>
                <a:ea typeface="Arial"/>
                <a:cs typeface="Arial"/>
              </a:defRPr>
            </a:lvl8pPr>
            <a:lvl9pPr>
              <a:defRPr sz="3900" b="1">
                <a:solidFill>
                  <a:srgbClr val="19392E"/>
                </a:solidFill>
                <a:latin typeface="Arial"/>
                <a:ea typeface="Arial"/>
                <a:cs typeface="Arial"/>
              </a:defRPr>
            </a:lvl9pPr>
          </a:lstStyle>
          <a:p xmlns:a="http://schemas.openxmlformats.org/drawingml/2006/main">
            <a:pPr>
              <a:defRPr sz="3900" b="1">
                <a:solidFill>
                  <a:srgbClr val="19392E"/>
                </a:solidFill>
                <a:latin typeface="Arial"/>
                <a:ea typeface="Arial"/>
                <a:cs typeface="Arial"/>
              </a:defRPr>
            </a:pPr>
            <a:r>
              <a:rPr sz="3900" b="1">
                <a:solidFill>
                  <a:srgbClr val="19392E"/>
                </a:solidFill>
                <a:latin typeface="Arial"/>
                <a:ea typeface="Arial"/>
                <a:cs typeface="Arial"/>
              </a:rPr>
              <a:t>BDT 6,752</a:t>
            </a:r>
          </a:p>
        </p:txBody>
      </p:sp>
      <p:graphicFrame>
        <p:nvGraphicFramePr>
          <p:cNvPr id="8" name="">
            <a:extLst xmlns:a="http://schemas.openxmlformats.org/drawingml/2006/main">
              <a:ext uri="{FF2B5EF4-FFF2-40B4-BE49-F238E27FC236}">
                <a16:creationId xmlns:a16="http://schemas.microsoft.com/office/drawing/2014/main" id="{6FBFE272-E2F2-4147-9200-742F5594BACB}"/>
              </a:ext>
            </a:extLst>
          </p:cNvPr>
          <p:cNvGraphicFramePr/>
          <p:nvPr/>
        </p:nvGraphicFramePr>
        <p:xfrm>
          <a:off xmlns:a="http://schemas.openxmlformats.org/drawingml/2006/main" x="619125" y="2647950"/>
          <a:ext xmlns:a="http://schemas.openxmlformats.org/drawingml/2006/main" cx="10953750" cy="2667000"/>
        </p:xfrm>
        <a:graphic xmlns:a="http://schemas.openxmlformats.org/drawingml/2006/main">
          <a:graphicData uri="http://schemas.openxmlformats.org/drawingml/2006/table">
            <a:tbl>
              <a:tblPr/>
              <a:tblGrid>
                <a:gridCol w="5238750"/>
                <a:gridCol w="2857500"/>
                <a:gridCol w="2857500"/>
              </a:tblGrid>
              <a:tr h="381000">
                <a:tc>
                  <a:txBody>
                    <a:bodyPr lIns="133350" tIns="57150" rIns="114300" bIns="57150"/>
                    <a:lstStyle/>
                    <a:p>
                      <a:r>
                        <a:rPr sz="1650" b="1">
                          <a:solidFill>
                            <a:srgbClr val="F4F3EB"/>
                          </a:solidFill>
                          <a:latin typeface="Arial"/>
                          <a:ea typeface="Arial"/>
                          <a:cs typeface="Arial"/>
                        </a:rPr>
                        <a:t>Component</a:t>
                      </a:r>
                    </a:p>
                  </a:txBody>
                  <a:tcPr marL="91440" marR="91440" marT="45720" marB="45720" anchor="ctr">
                    <a:lnL w="19050">
                      <a:solidFill>
                        <a:srgbClr val="F4F3EB"/>
                      </a:solidFill>
                      <a:prstDash val="solid"/>
                    </a:lnL>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Ventilation (BDT)</a:t>
                      </a:r>
                    </a:p>
                  </a:txBody>
                  <a:tcPr marL="91440" marR="91440" marT="45720" marB="4572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Pond (BDT)</a:t>
                      </a:r>
                    </a:p>
                  </a:txBody>
                  <a:tcPr marL="91440" marR="91440" marT="45720" marB="4572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r>
              <a:tr h="381000">
                <a:tc>
                  <a:txBody>
                    <a:bodyPr lIns="133350" tIns="57150" rIns="114300" bIns="57150"/>
                    <a:lstStyle/>
                    <a:p>
                      <a:r>
                        <a:rPr sz="1650" b="0">
                          <a:solidFill>
                            <a:srgbClr val="162D23"/>
                          </a:solidFill>
                          <a:latin typeface="Arial"/>
                          <a:ea typeface="Arial"/>
                          <a:cs typeface="Arial"/>
                        </a:rPr>
                        <a:t>Spiral rotor</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2,700.00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2,700.00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381000">
                <a:tc>
                  <a:txBody>
                    <a:bodyPr lIns="133350" tIns="57150" rIns="114300" bIns="57150"/>
                    <a:lstStyle/>
                    <a:p>
                      <a:r>
                        <a:rPr sz="1650" b="0">
                          <a:solidFill>
                            <a:srgbClr val="162D23"/>
                          </a:solidFill>
                          <a:latin typeface="Arial"/>
                          <a:ea typeface="Arial"/>
                          <a:cs typeface="Arial"/>
                        </a:rPr>
                        <a:t>Bevel gears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81.00</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162.00</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r>
              <a:tr h="381000">
                <a:tc>
                  <a:txBody>
                    <a:bodyPr lIns="133350" tIns="57150" rIns="114300" bIns="57150"/>
                    <a:lstStyle/>
                    <a:p>
                      <a:r>
                        <a:rPr sz="1650" b="0">
                          <a:solidFill>
                            <a:srgbClr val="162D23"/>
                          </a:solidFill>
                          <a:latin typeface="Arial"/>
                          <a:ea typeface="Arial"/>
                          <a:cs typeface="Arial"/>
                        </a:rPr>
                        <a:t>Fan / paddle wheel</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72.60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3,000.00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381000">
                <a:tc>
                  <a:txBody>
                    <a:bodyPr lIns="133350" tIns="57150" rIns="114300" bIns="57150"/>
                    <a:lstStyle/>
                    <a:p>
                      <a:r>
                        <a:rPr sz="1650" b="0">
                          <a:solidFill>
                            <a:srgbClr val="162D23"/>
                          </a:solidFill>
                          <a:latin typeface="Arial"/>
                          <a:ea typeface="Arial"/>
                          <a:cs typeface="Arial"/>
                        </a:rPr>
                        <a:t>Collars and supports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189.72</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189.72</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r>
              <a:tr h="381000">
                <a:tc>
                  <a:txBody>
                    <a:bodyPr lIns="133350" tIns="57150" rIns="114300" bIns="57150"/>
                    <a:lstStyle/>
                    <a:p>
                      <a:r>
                        <a:rPr sz="1650" b="0">
                          <a:solidFill>
                            <a:srgbClr val="162D23"/>
                          </a:solidFill>
                          <a:latin typeface="Arial"/>
                          <a:ea typeface="Arial"/>
                          <a:cs typeface="Arial"/>
                        </a:rPr>
                        <a:t>Casing / brackets / fasteners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1,000.00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381000">
                <a:tc>
                  <a:txBody>
                    <a:bodyPr lIns="133350" tIns="57150" rIns="114300" bIns="57150"/>
                    <a:lstStyle/>
                    <a:p>
                      <a:r>
                        <a:rPr sz="1650" b="1">
                          <a:solidFill>
                            <a:srgbClr val="F4F3EB"/>
                          </a:solidFill>
                          <a:latin typeface="Arial"/>
                          <a:ea typeface="Arial"/>
                          <a:cs typeface="Arial"/>
                        </a:rPr>
                        <a:t>Component subtotal</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4,043.32</a:t>
                      </a:r>
                    </a:p>
                  </a:txBody>
                  <a:tcPr marL="91440" marR="91440" marT="45720" marB="45720" anchor="ctr">
                    <a:lnR w="19050">
                      <a:solidFill>
                        <a:srgbClr val="F4F3EB"/>
                      </a:solidFill>
                      <a:prstDash val="solid"/>
                    </a:lnR>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6,751.72</a:t>
                      </a:r>
                    </a:p>
                  </a:txBody>
                  <a:tcPr marL="91440" marR="91440" marT="45720" marB="45720" anchor="ctr">
                    <a:lnR w="19050">
                      <a:solidFill>
                        <a:srgbClr val="F4F3EB"/>
                      </a:solidFill>
                      <a:prstDash val="solid"/>
                    </a:lnR>
                    <a:lnB w="19050">
                      <a:solidFill>
                        <a:srgbClr val="F4F3EB"/>
                      </a:solidFill>
                      <a:prstDash val="solid"/>
                    </a:lnB>
                    <a:solidFill>
                      <a:srgbClr val="19392E"/>
                    </a:solidFill>
                  </a:tcPr>
                </a:tc>
              </a:tr>
            </a:tbl>
          </a:graphicData>
        </a:graphic>
      </p:graphicFrame>
      <p:sp>
        <p:nvSpPr>
          <p:cNvPr id="9" name="Calculated from the supplied costing sheet. These are c">
            <a:extLst xmlns:a="http://schemas.openxmlformats.org/drawingml/2006/main">
              <a:ext uri="{FF2B5EF4-FFF2-40B4-BE49-F238E27FC236}">
                <a16:creationId xmlns:a16="http://schemas.microsoft.com/office/drawing/2014/main" id="{D73D246B-5E0C-4ABF-B7BE-1C89171A4B8B}"/>
              </a:ext>
            </a:extLst>
          </p:cNvPr>
          <p:cNvSpPr>
            <a:spLocks xmlns:a="http://schemas.openxmlformats.org/drawingml/2006/main" noGrp="1"/>
          </p:cNvSpPr>
          <p:nvPr/>
        </p:nvSpPr>
        <p:spPr>
          <a:xfrm xmlns:a="http://schemas.openxmlformats.org/drawingml/2006/main">
            <a:off x="619125" y="55530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45A"/>
                </a:solidFill>
                <a:latin typeface="Arial"/>
                <a:ea typeface="Arial"/>
                <a:cs typeface="Arial"/>
              </a:defRPr>
            </a:defPPr>
            <a:lvl1pPr>
              <a:defRPr sz="1500" b="0">
                <a:solidFill>
                  <a:srgbClr val="53645A"/>
                </a:solidFill>
                <a:latin typeface="Arial"/>
                <a:ea typeface="Arial"/>
                <a:cs typeface="Arial"/>
              </a:defRPr>
            </a:lvl1pPr>
            <a:lvl2pPr>
              <a:defRPr sz="1500" b="0">
                <a:solidFill>
                  <a:srgbClr val="53645A"/>
                </a:solidFill>
                <a:latin typeface="Arial"/>
                <a:ea typeface="Arial"/>
                <a:cs typeface="Arial"/>
              </a:defRPr>
            </a:lvl2pPr>
            <a:lvl3pPr>
              <a:defRPr sz="1500" b="0">
                <a:solidFill>
                  <a:srgbClr val="53645A"/>
                </a:solidFill>
                <a:latin typeface="Arial"/>
                <a:ea typeface="Arial"/>
                <a:cs typeface="Arial"/>
              </a:defRPr>
            </a:lvl3pPr>
            <a:lvl4pPr>
              <a:defRPr sz="1500" b="0">
                <a:solidFill>
                  <a:srgbClr val="53645A"/>
                </a:solidFill>
                <a:latin typeface="Arial"/>
                <a:ea typeface="Arial"/>
                <a:cs typeface="Arial"/>
              </a:defRPr>
            </a:lvl4pPr>
            <a:lvl5pPr>
              <a:defRPr sz="1500" b="0">
                <a:solidFill>
                  <a:srgbClr val="53645A"/>
                </a:solidFill>
                <a:latin typeface="Arial"/>
                <a:ea typeface="Arial"/>
                <a:cs typeface="Arial"/>
              </a:defRPr>
            </a:lvl5pPr>
            <a:lvl6pPr>
              <a:defRPr sz="1500" b="0">
                <a:solidFill>
                  <a:srgbClr val="53645A"/>
                </a:solidFill>
                <a:latin typeface="Arial"/>
                <a:ea typeface="Arial"/>
                <a:cs typeface="Arial"/>
              </a:defRPr>
            </a:lvl6pPr>
            <a:lvl7pPr>
              <a:defRPr sz="1500" b="0">
                <a:solidFill>
                  <a:srgbClr val="53645A"/>
                </a:solidFill>
                <a:latin typeface="Arial"/>
                <a:ea typeface="Arial"/>
                <a:cs typeface="Arial"/>
              </a:defRPr>
            </a:lvl7pPr>
            <a:lvl8pPr>
              <a:defRPr sz="1500" b="0">
                <a:solidFill>
                  <a:srgbClr val="53645A"/>
                </a:solidFill>
                <a:latin typeface="Arial"/>
                <a:ea typeface="Arial"/>
                <a:cs typeface="Arial"/>
              </a:defRPr>
            </a:lvl8pPr>
            <a:lvl9pPr>
              <a:defRPr sz="1500" b="0">
                <a:solidFill>
                  <a:srgbClr val="53645A"/>
                </a:solidFill>
                <a:latin typeface="Arial"/>
                <a:ea typeface="Arial"/>
                <a:cs typeface="Arial"/>
              </a:defRPr>
            </a:lvl9pPr>
          </a:lstStyle>
          <a:p xmlns:a="http://schemas.openxmlformats.org/drawingml/2006/main">
            <a:pPr>
              <a:defRPr sz="1500" b="0">
                <a:solidFill>
                  <a:srgbClr val="53645A"/>
                </a:solidFill>
                <a:latin typeface="Arial"/>
                <a:ea typeface="Arial"/>
                <a:cs typeface="Arial"/>
              </a:defRPr>
            </a:pPr>
            <a:r>
              <a:rPr sz="1500" b="0">
                <a:solidFill>
                  <a:srgbClr val="53645A"/>
                </a:solidFill>
                <a:latin typeface="Arial"/>
                <a:ea typeface="Arial"/>
                <a:cs typeface="Arial"/>
              </a:rPr>
              <a:t>Calculated from the supplied costing sheet. These are component estimates, not installed prices.</a:t>
            </a:r>
          </a:p>
        </p:txBody>
      </p:sp>
      <p:sp>
        <p:nvSpPr>
          <p:cNvPr id="10" name="Installation, labour, ducting, testing and hybrid elect">
            <a:extLst xmlns:a="http://schemas.openxmlformats.org/drawingml/2006/main">
              <a:ext uri="{FF2B5EF4-FFF2-40B4-BE49-F238E27FC236}">
                <a16:creationId xmlns:a16="http://schemas.microsoft.com/office/drawing/2014/main" id="{61174410-A174-4FAC-AC3F-7F9A1F3FD1F5}"/>
              </a:ext>
            </a:extLst>
          </p:cNvPr>
          <p:cNvSpPr>
            <a:spLocks xmlns:a="http://schemas.openxmlformats.org/drawingml/2006/main" noGrp="1"/>
          </p:cNvSpPr>
          <p:nvPr/>
        </p:nvSpPr>
        <p:spPr>
          <a:xfrm xmlns:a="http://schemas.openxmlformats.org/drawingml/2006/main">
            <a:off x="619125" y="58483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45A"/>
                </a:solidFill>
                <a:latin typeface="Arial"/>
                <a:ea typeface="Arial"/>
                <a:cs typeface="Arial"/>
              </a:defRPr>
            </a:defPPr>
            <a:lvl1pPr>
              <a:defRPr sz="1350" b="0">
                <a:solidFill>
                  <a:srgbClr val="53645A"/>
                </a:solidFill>
                <a:latin typeface="Arial"/>
                <a:ea typeface="Arial"/>
                <a:cs typeface="Arial"/>
              </a:defRPr>
            </a:lvl1pPr>
            <a:lvl2pPr>
              <a:defRPr sz="1350" b="0">
                <a:solidFill>
                  <a:srgbClr val="53645A"/>
                </a:solidFill>
                <a:latin typeface="Arial"/>
                <a:ea typeface="Arial"/>
                <a:cs typeface="Arial"/>
              </a:defRPr>
            </a:lvl2pPr>
            <a:lvl3pPr>
              <a:defRPr sz="1350" b="0">
                <a:solidFill>
                  <a:srgbClr val="53645A"/>
                </a:solidFill>
                <a:latin typeface="Arial"/>
                <a:ea typeface="Arial"/>
                <a:cs typeface="Arial"/>
              </a:defRPr>
            </a:lvl3pPr>
            <a:lvl4pPr>
              <a:defRPr sz="1350" b="0">
                <a:solidFill>
                  <a:srgbClr val="53645A"/>
                </a:solidFill>
                <a:latin typeface="Arial"/>
                <a:ea typeface="Arial"/>
                <a:cs typeface="Arial"/>
              </a:defRPr>
            </a:lvl4pPr>
            <a:lvl5pPr>
              <a:defRPr sz="1350" b="0">
                <a:solidFill>
                  <a:srgbClr val="53645A"/>
                </a:solidFill>
                <a:latin typeface="Arial"/>
                <a:ea typeface="Arial"/>
                <a:cs typeface="Arial"/>
              </a:defRPr>
            </a:lvl5pPr>
            <a:lvl6pPr>
              <a:defRPr sz="1350" b="0">
                <a:solidFill>
                  <a:srgbClr val="53645A"/>
                </a:solidFill>
                <a:latin typeface="Arial"/>
                <a:ea typeface="Arial"/>
                <a:cs typeface="Arial"/>
              </a:defRPr>
            </a:lvl6pPr>
            <a:lvl7pPr>
              <a:defRPr sz="1350" b="0">
                <a:solidFill>
                  <a:srgbClr val="53645A"/>
                </a:solidFill>
                <a:latin typeface="Arial"/>
                <a:ea typeface="Arial"/>
                <a:cs typeface="Arial"/>
              </a:defRPr>
            </a:lvl7pPr>
            <a:lvl8pPr>
              <a:defRPr sz="1350" b="0">
                <a:solidFill>
                  <a:srgbClr val="53645A"/>
                </a:solidFill>
                <a:latin typeface="Arial"/>
                <a:ea typeface="Arial"/>
                <a:cs typeface="Arial"/>
              </a:defRPr>
            </a:lvl8pPr>
            <a:lvl9pPr>
              <a:defRPr sz="1350" b="0">
                <a:solidFill>
                  <a:srgbClr val="53645A"/>
                </a:solidFill>
                <a:latin typeface="Arial"/>
                <a:ea typeface="Arial"/>
                <a:cs typeface="Arial"/>
              </a:defRPr>
            </a:lvl9pPr>
          </a:lstStyle>
          <a:p xmlns:a="http://schemas.openxmlformats.org/drawingml/2006/main">
            <a:pPr>
              <a:defRPr sz="1350" b="0">
                <a:solidFill>
                  <a:srgbClr val="53645A"/>
                </a:solidFill>
                <a:latin typeface="Arial"/>
                <a:ea typeface="Arial"/>
                <a:cs typeface="Arial"/>
              </a:defRPr>
            </a:pPr>
            <a:r>
              <a:rPr sz="1350" b="0">
                <a:solidFill>
                  <a:srgbClr val="53645A"/>
                </a:solidFill>
                <a:latin typeface="Arial"/>
                <a:ea typeface="Arial"/>
                <a:cs typeface="Arial"/>
              </a:rPr>
              <a:t>Installation, labour, ducting, testing and hybrid electrical parts are outside this subtotal.</a:t>
            </a:r>
          </a:p>
        </p:txBody>
      </p:sp>
      <p:sp>
        <p:nvSpPr>
          <p:cNvPr id="11" name="06">
            <a:extLst xmlns:a="http://schemas.openxmlformats.org/drawingml/2006/main">
              <a:ext uri="{FF2B5EF4-FFF2-40B4-BE49-F238E27FC236}">
                <a16:creationId xmlns:a16="http://schemas.microsoft.com/office/drawing/2014/main" id="{34DE8C57-F190-480E-A074-033383C2F919}"/>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06</a:t>
            </a:r>
          </a:p>
        </p:txBody>
      </p:sp>
    </p:spTree>
    <p:extLst>
      <p:ext uri="{BB962C8B-B14F-4D97-AF65-F5344CB8AC3E}">
        <p14:creationId xmlns:p14="http://schemas.microsoft.com/office/powerpoint/2010/main" val="169611267"/>
      </p:ext>
    </p:extLst>
  </p:cSld>
</p:sld>
</file>

<file path=ppt/slides/slide7.xml><?xml version="1.0" encoding="utf-8"?>
<p:sld xmlns:p="http://schemas.openxmlformats.org/presentationml/2006/main">
  <p:cSld>
    <p:bg>
      <p:bgPr>
        <a:solidFill xmlns:a="http://schemas.openxmlformats.org/drawingml/2006/main">
          <a:srgbClr val="102C23"/>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15696F8-947E-4A09-BC17-E9ABAE93CD2C}"/>
              </a:ext>
            </a:extLst>
          </p:cNvPr>
          <p:cNvPicPr>
            <a:picLocks xmlns:a="http://schemas.openxmlformats.org/drawingml/2006/main" noChangeAspect="1"/>
          </p:cNvPicPr>
          <p:nvPr/>
        </p:nvPicPr>
        <p:blipFill>
          <a:blip xmlns:r="http://schemas.openxmlformats.org/officeDocument/2006/relationships" xmlns:a="http://schemas.openxmlformats.org/drawingml/2006/main" r:embed="R77da0d8cec094b9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Future scope: hybrid ventilation">
            <a:extLst xmlns:a="http://schemas.openxmlformats.org/drawingml/2006/main">
              <a:ext uri="{FF2B5EF4-FFF2-40B4-BE49-F238E27FC236}">
                <a16:creationId xmlns:a16="http://schemas.microsoft.com/office/drawing/2014/main" id="{C69CEAEA-D31E-4D93-BBA5-1C4830E65728}"/>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4F3EB"/>
                </a:solidFill>
                <a:latin typeface="Arial"/>
                <a:ea typeface="Arial"/>
                <a:cs typeface="Arial"/>
              </a:defRPr>
            </a:defPPr>
            <a:lvl1pPr>
              <a:defRPr sz="3225" b="1">
                <a:solidFill>
                  <a:srgbClr val="F4F3EB"/>
                </a:solidFill>
                <a:latin typeface="Arial"/>
                <a:ea typeface="Arial"/>
                <a:cs typeface="Arial"/>
              </a:defRPr>
            </a:lvl1pPr>
            <a:lvl2pPr>
              <a:defRPr sz="3225" b="1">
                <a:solidFill>
                  <a:srgbClr val="F4F3EB"/>
                </a:solidFill>
                <a:latin typeface="Arial"/>
                <a:ea typeface="Arial"/>
                <a:cs typeface="Arial"/>
              </a:defRPr>
            </a:lvl2pPr>
            <a:lvl3pPr>
              <a:defRPr sz="3225" b="1">
                <a:solidFill>
                  <a:srgbClr val="F4F3EB"/>
                </a:solidFill>
                <a:latin typeface="Arial"/>
                <a:ea typeface="Arial"/>
                <a:cs typeface="Arial"/>
              </a:defRPr>
            </a:lvl3pPr>
            <a:lvl4pPr>
              <a:defRPr sz="3225" b="1">
                <a:solidFill>
                  <a:srgbClr val="F4F3EB"/>
                </a:solidFill>
                <a:latin typeface="Arial"/>
                <a:ea typeface="Arial"/>
                <a:cs typeface="Arial"/>
              </a:defRPr>
            </a:lvl4pPr>
            <a:lvl5pPr>
              <a:defRPr sz="3225" b="1">
                <a:solidFill>
                  <a:srgbClr val="F4F3EB"/>
                </a:solidFill>
                <a:latin typeface="Arial"/>
                <a:ea typeface="Arial"/>
                <a:cs typeface="Arial"/>
              </a:defRPr>
            </a:lvl5pPr>
            <a:lvl6pPr>
              <a:defRPr sz="3225" b="1">
                <a:solidFill>
                  <a:srgbClr val="F4F3EB"/>
                </a:solidFill>
                <a:latin typeface="Arial"/>
                <a:ea typeface="Arial"/>
                <a:cs typeface="Arial"/>
              </a:defRPr>
            </a:lvl6pPr>
            <a:lvl7pPr>
              <a:defRPr sz="3225" b="1">
                <a:solidFill>
                  <a:srgbClr val="F4F3EB"/>
                </a:solidFill>
                <a:latin typeface="Arial"/>
                <a:ea typeface="Arial"/>
                <a:cs typeface="Arial"/>
              </a:defRPr>
            </a:lvl7pPr>
            <a:lvl8pPr>
              <a:defRPr sz="3225" b="1">
                <a:solidFill>
                  <a:srgbClr val="F4F3EB"/>
                </a:solidFill>
                <a:latin typeface="Arial"/>
                <a:ea typeface="Arial"/>
                <a:cs typeface="Arial"/>
              </a:defRPr>
            </a:lvl8pPr>
            <a:lvl9pPr>
              <a:defRPr sz="3225" b="1">
                <a:solidFill>
                  <a:srgbClr val="F4F3EB"/>
                </a:solidFill>
                <a:latin typeface="Arial"/>
                <a:ea typeface="Arial"/>
                <a:cs typeface="Arial"/>
              </a:defRPr>
            </a:lvl9pPr>
          </a:lstStyle>
          <a:p xmlns:a="http://schemas.openxmlformats.org/drawingml/2006/main">
            <a:pPr>
              <a:defRPr sz="3225" b="1">
                <a:solidFill>
                  <a:srgbClr val="F4F3EB"/>
                </a:solidFill>
                <a:latin typeface="Arial"/>
                <a:ea typeface="Arial"/>
                <a:cs typeface="Arial"/>
              </a:defRPr>
            </a:pPr>
            <a:r>
              <a:rPr sz="3225" b="1">
                <a:solidFill>
                  <a:srgbClr val="F4F3EB"/>
                </a:solidFill>
                <a:latin typeface="Arial"/>
                <a:ea typeface="Arial"/>
                <a:cs typeface="Arial"/>
              </a:rPr>
              <a:t>Future scope: hybrid ventilation</a:t>
            </a:r>
          </a:p>
        </p:txBody>
      </p:sp>
      <p:sp>
        <p:nvSpPr>
          <p:cNvPr id="4" name="07">
            <a:extLst xmlns:a="http://schemas.openxmlformats.org/drawingml/2006/main">
              <a:ext uri="{FF2B5EF4-FFF2-40B4-BE49-F238E27FC236}">
                <a16:creationId xmlns:a16="http://schemas.microsoft.com/office/drawing/2014/main" id="{D65A7279-CE83-4918-9C21-35DEE80D3861}"/>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3E0D5"/>
                </a:solidFill>
                <a:latin typeface="Arial"/>
                <a:ea typeface="Arial"/>
                <a:cs typeface="Arial"/>
              </a:defRPr>
            </a:defPPr>
            <a:lvl1pPr>
              <a:defRPr sz="1275" b="0">
                <a:solidFill>
                  <a:srgbClr val="D3E0D5"/>
                </a:solidFill>
                <a:latin typeface="Arial"/>
                <a:ea typeface="Arial"/>
                <a:cs typeface="Arial"/>
              </a:defRPr>
            </a:lvl1pPr>
            <a:lvl2pPr>
              <a:defRPr sz="1275" b="0">
                <a:solidFill>
                  <a:srgbClr val="D3E0D5"/>
                </a:solidFill>
                <a:latin typeface="Arial"/>
                <a:ea typeface="Arial"/>
                <a:cs typeface="Arial"/>
              </a:defRPr>
            </a:lvl2pPr>
            <a:lvl3pPr>
              <a:defRPr sz="1275" b="0">
                <a:solidFill>
                  <a:srgbClr val="D3E0D5"/>
                </a:solidFill>
                <a:latin typeface="Arial"/>
                <a:ea typeface="Arial"/>
                <a:cs typeface="Arial"/>
              </a:defRPr>
            </a:lvl3pPr>
            <a:lvl4pPr>
              <a:defRPr sz="1275" b="0">
                <a:solidFill>
                  <a:srgbClr val="D3E0D5"/>
                </a:solidFill>
                <a:latin typeface="Arial"/>
                <a:ea typeface="Arial"/>
                <a:cs typeface="Arial"/>
              </a:defRPr>
            </a:lvl4pPr>
            <a:lvl5pPr>
              <a:defRPr sz="1275" b="0">
                <a:solidFill>
                  <a:srgbClr val="D3E0D5"/>
                </a:solidFill>
                <a:latin typeface="Arial"/>
                <a:ea typeface="Arial"/>
                <a:cs typeface="Arial"/>
              </a:defRPr>
            </a:lvl5pPr>
            <a:lvl6pPr>
              <a:defRPr sz="1275" b="0">
                <a:solidFill>
                  <a:srgbClr val="D3E0D5"/>
                </a:solidFill>
                <a:latin typeface="Arial"/>
                <a:ea typeface="Arial"/>
                <a:cs typeface="Arial"/>
              </a:defRPr>
            </a:lvl6pPr>
            <a:lvl7pPr>
              <a:defRPr sz="1275" b="0">
                <a:solidFill>
                  <a:srgbClr val="D3E0D5"/>
                </a:solidFill>
                <a:latin typeface="Arial"/>
                <a:ea typeface="Arial"/>
                <a:cs typeface="Arial"/>
              </a:defRPr>
            </a:lvl7pPr>
            <a:lvl8pPr>
              <a:defRPr sz="1275" b="0">
                <a:solidFill>
                  <a:srgbClr val="D3E0D5"/>
                </a:solidFill>
                <a:latin typeface="Arial"/>
                <a:ea typeface="Arial"/>
                <a:cs typeface="Arial"/>
              </a:defRPr>
            </a:lvl8pPr>
            <a:lvl9pPr>
              <a:defRPr sz="1275" b="0">
                <a:solidFill>
                  <a:srgbClr val="D3E0D5"/>
                </a:solidFill>
                <a:latin typeface="Arial"/>
                <a:ea typeface="Arial"/>
                <a:cs typeface="Arial"/>
              </a:defRPr>
            </a:lvl9pPr>
          </a:lstStyle>
          <a:p xmlns:a="http://schemas.openxmlformats.org/drawingml/2006/main">
            <a:pPr>
              <a:defRPr sz="1275" b="0">
                <a:solidFill>
                  <a:srgbClr val="D3E0D5"/>
                </a:solidFill>
                <a:latin typeface="Arial"/>
                <a:ea typeface="Arial"/>
                <a:cs typeface="Arial"/>
              </a:defRPr>
            </a:pPr>
            <a:r>
              <a:rPr sz="1275" b="0">
                <a:solidFill>
                  <a:srgbClr val="D3E0D5"/>
                </a:solidFill>
                <a:latin typeface="Arial"/>
                <a:ea typeface="Arial"/>
                <a:cs typeface="Arial"/>
              </a:rPr>
              <a:t>07</a:t>
            </a:r>
          </a:p>
        </p:txBody>
      </p:sp>
      <p:sp>
        <p:nvSpPr>
          <p:cNvPr id="5" name="Why combine wind with an existing solar setup?">
            <a:extLst xmlns:a="http://schemas.openxmlformats.org/drawingml/2006/main">
              <a:ext uri="{FF2B5EF4-FFF2-40B4-BE49-F238E27FC236}">
                <a16:creationId xmlns:a16="http://schemas.microsoft.com/office/drawing/2014/main" id="{E7DA77AF-4D09-4406-9ECA-B1D9BBD58847}"/>
              </a:ext>
            </a:extLst>
          </p:cNvPr>
          <p:cNvSpPr>
            <a:spLocks xmlns:a="http://schemas.openxmlformats.org/drawingml/2006/main" noGrp="1"/>
          </p:cNvSpPr>
          <p:nvPr/>
        </p:nvSpPr>
        <p:spPr>
          <a:xfrm xmlns:a="http://schemas.openxmlformats.org/drawingml/2006/main">
            <a:off x="619125" y="1495425"/>
            <a:ext cx="695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6F39B"/>
                </a:solidFill>
                <a:latin typeface="Arial"/>
                <a:ea typeface="Arial"/>
                <a:cs typeface="Arial"/>
              </a:defRPr>
            </a:defPPr>
            <a:lvl1pPr>
              <a:defRPr sz="2175" b="1">
                <a:solidFill>
                  <a:srgbClr val="D6F39B"/>
                </a:solidFill>
                <a:latin typeface="Arial"/>
                <a:ea typeface="Arial"/>
                <a:cs typeface="Arial"/>
              </a:defRPr>
            </a:lvl1pPr>
            <a:lvl2pPr>
              <a:defRPr sz="2175" b="1">
                <a:solidFill>
                  <a:srgbClr val="D6F39B"/>
                </a:solidFill>
                <a:latin typeface="Arial"/>
                <a:ea typeface="Arial"/>
                <a:cs typeface="Arial"/>
              </a:defRPr>
            </a:lvl2pPr>
            <a:lvl3pPr>
              <a:defRPr sz="2175" b="1">
                <a:solidFill>
                  <a:srgbClr val="D6F39B"/>
                </a:solidFill>
                <a:latin typeface="Arial"/>
                <a:ea typeface="Arial"/>
                <a:cs typeface="Arial"/>
              </a:defRPr>
            </a:lvl3pPr>
            <a:lvl4pPr>
              <a:defRPr sz="2175" b="1">
                <a:solidFill>
                  <a:srgbClr val="D6F39B"/>
                </a:solidFill>
                <a:latin typeface="Arial"/>
                <a:ea typeface="Arial"/>
                <a:cs typeface="Arial"/>
              </a:defRPr>
            </a:lvl4pPr>
            <a:lvl5pPr>
              <a:defRPr sz="2175" b="1">
                <a:solidFill>
                  <a:srgbClr val="D6F39B"/>
                </a:solidFill>
                <a:latin typeface="Arial"/>
                <a:ea typeface="Arial"/>
                <a:cs typeface="Arial"/>
              </a:defRPr>
            </a:lvl5pPr>
            <a:lvl6pPr>
              <a:defRPr sz="2175" b="1">
                <a:solidFill>
                  <a:srgbClr val="D6F39B"/>
                </a:solidFill>
                <a:latin typeface="Arial"/>
                <a:ea typeface="Arial"/>
                <a:cs typeface="Arial"/>
              </a:defRPr>
            </a:lvl6pPr>
            <a:lvl7pPr>
              <a:defRPr sz="2175" b="1">
                <a:solidFill>
                  <a:srgbClr val="D6F39B"/>
                </a:solidFill>
                <a:latin typeface="Arial"/>
                <a:ea typeface="Arial"/>
                <a:cs typeface="Arial"/>
              </a:defRPr>
            </a:lvl7pPr>
            <a:lvl8pPr>
              <a:defRPr sz="2175" b="1">
                <a:solidFill>
                  <a:srgbClr val="D6F39B"/>
                </a:solidFill>
                <a:latin typeface="Arial"/>
                <a:ea typeface="Arial"/>
                <a:cs typeface="Arial"/>
              </a:defRPr>
            </a:lvl8pPr>
            <a:lvl9pPr>
              <a:defRPr sz="2175" b="1">
                <a:solidFill>
                  <a:srgbClr val="D6F39B"/>
                </a:solidFill>
                <a:latin typeface="Arial"/>
                <a:ea typeface="Arial"/>
                <a:cs typeface="Arial"/>
              </a:defRPr>
            </a:lvl9pPr>
          </a:lstStyle>
          <a:p xmlns:a="http://schemas.openxmlformats.org/drawingml/2006/main">
            <a:pPr>
              <a:defRPr sz="2175" b="1">
                <a:solidFill>
                  <a:srgbClr val="D6F39B"/>
                </a:solidFill>
                <a:latin typeface="Arial"/>
                <a:ea typeface="Arial"/>
                <a:cs typeface="Arial"/>
              </a:defRPr>
            </a:pPr>
            <a:r>
              <a:rPr sz="2175" b="1">
                <a:solidFill>
                  <a:srgbClr val="D6F39B"/>
                </a:solidFill>
                <a:latin typeface="Arial"/>
                <a:ea typeface="Arial"/>
                <a:cs typeface="Arial"/>
              </a:rPr>
              <a:t>Why combine wind with an existing solar setup?</a:t>
            </a:r>
          </a:p>
        </p:txBody>
      </p:sp>
      <p:sp>
        <p:nvSpPr>
          <p:cNvPr id="6" name="Solar works during daylight. Useful wind can also occur after sunset, ">
            <a:extLst xmlns:a="http://schemas.openxmlformats.org/drawingml/2006/main">
              <a:ext uri="{FF2B5EF4-FFF2-40B4-BE49-F238E27FC236}">
                <a16:creationId xmlns:a16="http://schemas.microsoft.com/office/drawing/2014/main" id="{6E289CF6-01B0-49CB-97C0-3B0A92000C4A}"/>
              </a:ext>
            </a:extLst>
          </p:cNvPr>
          <p:cNvSpPr>
            <a:spLocks xmlns:a="http://schemas.openxmlformats.org/drawingml/2006/main" noGrp="1"/>
          </p:cNvSpPr>
          <p:nvPr/>
        </p:nvSpPr>
        <p:spPr>
          <a:xfrm xmlns:a="http://schemas.openxmlformats.org/drawingml/2006/main">
            <a:off x="619125" y="2333625"/>
            <a:ext cx="7000875" cy="3609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4F3EB"/>
                </a:solidFill>
                <a:latin typeface="Arial"/>
                <a:ea typeface="Arial"/>
                <a:cs typeface="Arial"/>
              </a:defRPr>
            </a:defPPr>
            <a:lvl1pPr>
              <a:defRPr sz="1800" b="0">
                <a:solidFill>
                  <a:srgbClr val="F4F3EB"/>
                </a:solidFill>
                <a:latin typeface="Arial"/>
                <a:ea typeface="Arial"/>
                <a:cs typeface="Arial"/>
              </a:defRPr>
            </a:lvl1pPr>
            <a:lvl2pPr>
              <a:defRPr sz="1800" b="0">
                <a:solidFill>
                  <a:srgbClr val="F4F3EB"/>
                </a:solidFill>
                <a:latin typeface="Arial"/>
                <a:ea typeface="Arial"/>
                <a:cs typeface="Arial"/>
              </a:defRPr>
            </a:lvl2pPr>
            <a:lvl3pPr>
              <a:defRPr sz="1800" b="0">
                <a:solidFill>
                  <a:srgbClr val="F4F3EB"/>
                </a:solidFill>
                <a:latin typeface="Arial"/>
                <a:ea typeface="Arial"/>
                <a:cs typeface="Arial"/>
              </a:defRPr>
            </a:lvl3pPr>
            <a:lvl4pPr>
              <a:defRPr sz="1800" b="0">
                <a:solidFill>
                  <a:srgbClr val="F4F3EB"/>
                </a:solidFill>
                <a:latin typeface="Arial"/>
                <a:ea typeface="Arial"/>
                <a:cs typeface="Arial"/>
              </a:defRPr>
            </a:lvl4pPr>
            <a:lvl5pPr>
              <a:defRPr sz="1800" b="0">
                <a:solidFill>
                  <a:srgbClr val="F4F3EB"/>
                </a:solidFill>
                <a:latin typeface="Arial"/>
                <a:ea typeface="Arial"/>
                <a:cs typeface="Arial"/>
              </a:defRPr>
            </a:lvl5pPr>
            <a:lvl6pPr>
              <a:defRPr sz="1800" b="0">
                <a:solidFill>
                  <a:srgbClr val="F4F3EB"/>
                </a:solidFill>
                <a:latin typeface="Arial"/>
                <a:ea typeface="Arial"/>
                <a:cs typeface="Arial"/>
              </a:defRPr>
            </a:lvl6pPr>
            <a:lvl7pPr>
              <a:defRPr sz="1800" b="0">
                <a:solidFill>
                  <a:srgbClr val="F4F3EB"/>
                </a:solidFill>
                <a:latin typeface="Arial"/>
                <a:ea typeface="Arial"/>
                <a:cs typeface="Arial"/>
              </a:defRPr>
            </a:lvl7pPr>
            <a:lvl8pPr>
              <a:defRPr sz="1800" b="0">
                <a:solidFill>
                  <a:srgbClr val="F4F3EB"/>
                </a:solidFill>
                <a:latin typeface="Arial"/>
                <a:ea typeface="Arial"/>
                <a:cs typeface="Arial"/>
              </a:defRPr>
            </a:lvl8pPr>
            <a:lvl9pPr>
              <a:defRPr sz="1800" b="0">
                <a:solidFill>
                  <a:srgbClr val="F4F3EB"/>
                </a:solidFill>
                <a:latin typeface="Arial"/>
                <a:ea typeface="Arial"/>
                <a:cs typeface="Arial"/>
              </a:defRPr>
            </a:lvl9pPr>
          </a:lstStyle>
          <a:p xmlns:a="http://schemas.openxmlformats.org/drawingml/2006/main">
            <a:pPr>
              <a:defRPr sz="1800" b="0">
                <a:solidFill>
                  <a:srgbClr val="F4F3EB"/>
                </a:solidFill>
                <a:latin typeface="Arial"/>
                <a:ea typeface="Arial"/>
                <a:cs typeface="Arial"/>
              </a:defRPr>
            </a:pPr>
            <a:r>
              <a:rPr sz="1800" b="0">
                <a:solidFill>
                  <a:srgbClr val="F4F3EB"/>
                </a:solidFill>
                <a:latin typeface="Arial"/>
                <a:ea typeface="Arial"/>
                <a:cs typeface="Arial"/>
              </a:rPr>
              <a:t>Solar works during daylight. Useful wind can also occur after sunset, helping drive the fan and conserve battery energy . We are not providing a hybrid system in 4000tk, we are talking about the complementary scenario. Solar setup can cost about 40k with external duct for ventilation . For advanced mode, we have two type of cost(solar system implementation cost and ventilation implem e ntation cost). Both cost will round up to 45k. Though thinking about this cost is a very big number, but solar cell can easily cover up our whole house’s electricity whereas we can set up our zero watt wind in messy room’s rooftop so it can keep that room cool and will work in the non operating hours of solar cell and reduce electricity bill with battery demand.</a:t>
            </a:r>
          </a:p>
        </p:txBody>
      </p:sp>
      <p:pic>
        <p:nvPicPr>
          <p:cNvPr id="7" name="">
            <a:extLst xmlns:a="http://schemas.openxmlformats.org/drawingml/2006/main">
              <a:ext uri="{FF2B5EF4-FFF2-40B4-BE49-F238E27FC236}">
                <a16:creationId xmlns:a16="http://schemas.microsoft.com/office/drawing/2014/main" id="{8E695763-B07C-4324-8C3E-F15362FF32C9}"/>
              </a:ext>
            </a:extLst>
          </p:cNvPr>
          <p:cNvPicPr>
            <a:picLocks xmlns:a="http://schemas.openxmlformats.org/drawingml/2006/main" noChangeAspect="1"/>
          </p:cNvPicPr>
          <p:nvPr/>
        </p:nvPicPr>
        <p:blipFill>
          <a:blip xmlns:r="http://schemas.openxmlformats.org/officeDocument/2006/relationships" xmlns:a="http://schemas.openxmlformats.org/drawingml/2006/main" r:embed="Rab06333d6bc549fa"/>
          <a:stretch xmlns:a="http://schemas.openxmlformats.org/drawingml/2006/main"/>
        </p:blipFill>
        <p:spPr>
          <a:xfrm xmlns:a="http://schemas.openxmlformats.org/drawingml/2006/main">
            <a:off x="8029575" y="1935768"/>
            <a:ext cx="3486150" cy="3167439"/>
          </a:xfrm>
          <a:prstGeom xmlns:a="http://schemas.openxmlformats.org/drawingml/2006/main" prst="rect">
            <a:avLst/>
          </a:prstGeom>
        </p:spPr>
      </p:pic>
      <p:sp>
        <p:nvSpPr>
          <p:cNvPr id="8" name="Hybrid concept">
            <a:extLst xmlns:a="http://schemas.openxmlformats.org/drawingml/2006/main">
              <a:ext uri="{FF2B5EF4-FFF2-40B4-BE49-F238E27FC236}">
                <a16:creationId xmlns:a16="http://schemas.microsoft.com/office/drawing/2014/main" id="{F9A0E48E-7793-4CFD-9CBF-CFE840764235}"/>
              </a:ext>
            </a:extLst>
          </p:cNvPr>
          <p:cNvSpPr>
            <a:spLocks xmlns:a="http://schemas.openxmlformats.org/drawingml/2006/main" noGrp="1"/>
          </p:cNvSpPr>
          <p:nvPr/>
        </p:nvSpPr>
        <p:spPr>
          <a:xfrm xmlns:a="http://schemas.openxmlformats.org/drawingml/2006/main">
            <a:off x="8115300" y="55245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D6F39B"/>
                </a:solidFill>
                <a:latin typeface="Arial"/>
                <a:ea typeface="Arial"/>
                <a:cs typeface="Arial"/>
              </a:defRPr>
            </a:defPPr>
            <a:lvl1pPr>
              <a:defRPr sz="1800" b="1">
                <a:solidFill>
                  <a:srgbClr val="D6F39B"/>
                </a:solidFill>
                <a:latin typeface="Arial"/>
                <a:ea typeface="Arial"/>
                <a:cs typeface="Arial"/>
              </a:defRPr>
            </a:lvl1pPr>
            <a:lvl2pPr>
              <a:defRPr sz="1800" b="1">
                <a:solidFill>
                  <a:srgbClr val="D6F39B"/>
                </a:solidFill>
                <a:latin typeface="Arial"/>
                <a:ea typeface="Arial"/>
                <a:cs typeface="Arial"/>
              </a:defRPr>
            </a:lvl2pPr>
            <a:lvl3pPr>
              <a:defRPr sz="1800" b="1">
                <a:solidFill>
                  <a:srgbClr val="D6F39B"/>
                </a:solidFill>
                <a:latin typeface="Arial"/>
                <a:ea typeface="Arial"/>
                <a:cs typeface="Arial"/>
              </a:defRPr>
            </a:lvl3pPr>
            <a:lvl4pPr>
              <a:defRPr sz="1800" b="1">
                <a:solidFill>
                  <a:srgbClr val="D6F39B"/>
                </a:solidFill>
                <a:latin typeface="Arial"/>
                <a:ea typeface="Arial"/>
                <a:cs typeface="Arial"/>
              </a:defRPr>
            </a:lvl4pPr>
            <a:lvl5pPr>
              <a:defRPr sz="1800" b="1">
                <a:solidFill>
                  <a:srgbClr val="D6F39B"/>
                </a:solidFill>
                <a:latin typeface="Arial"/>
                <a:ea typeface="Arial"/>
                <a:cs typeface="Arial"/>
              </a:defRPr>
            </a:lvl5pPr>
            <a:lvl6pPr>
              <a:defRPr sz="1800" b="1">
                <a:solidFill>
                  <a:srgbClr val="D6F39B"/>
                </a:solidFill>
                <a:latin typeface="Arial"/>
                <a:ea typeface="Arial"/>
                <a:cs typeface="Arial"/>
              </a:defRPr>
            </a:lvl6pPr>
            <a:lvl7pPr>
              <a:defRPr sz="1800" b="1">
                <a:solidFill>
                  <a:srgbClr val="D6F39B"/>
                </a:solidFill>
                <a:latin typeface="Arial"/>
                <a:ea typeface="Arial"/>
                <a:cs typeface="Arial"/>
              </a:defRPr>
            </a:lvl7pPr>
            <a:lvl8pPr>
              <a:defRPr sz="1800" b="1">
                <a:solidFill>
                  <a:srgbClr val="D6F39B"/>
                </a:solidFill>
                <a:latin typeface="Arial"/>
                <a:ea typeface="Arial"/>
                <a:cs typeface="Arial"/>
              </a:defRPr>
            </a:lvl8pPr>
            <a:lvl9pPr>
              <a:defRPr sz="1800" b="1">
                <a:solidFill>
                  <a:srgbClr val="D6F39B"/>
                </a:solidFill>
                <a:latin typeface="Arial"/>
                <a:ea typeface="Arial"/>
                <a:cs typeface="Arial"/>
              </a:defRPr>
            </a:lvl9pPr>
          </a:lstStyle>
          <a:p xmlns:a="http://schemas.openxmlformats.org/drawingml/2006/main">
            <a:pPr>
              <a:defRPr sz="1800" b="1">
                <a:solidFill>
                  <a:srgbClr val="D6F39B"/>
                </a:solidFill>
                <a:latin typeface="Arial"/>
                <a:ea typeface="Arial"/>
                <a:cs typeface="Arial"/>
              </a:defRPr>
            </a:pPr>
            <a:r>
              <a:rPr sz="1800" b="1">
                <a:solidFill>
                  <a:srgbClr val="D6F39B"/>
                </a:solidFill>
                <a:latin typeface="Arial"/>
                <a:ea typeface="Arial"/>
                <a:cs typeface="Arial"/>
              </a:rPr>
              <a:t>Hybrid concept</a:t>
            </a:r>
          </a:p>
        </p:txBody>
      </p:sp>
      <p:sp>
        <p:nvSpPr>
          <p:cNvPr id="9" name="Illustrative costs. Whole-house supply and savings depend on system si">
            <a:extLst xmlns:a="http://schemas.openxmlformats.org/drawingml/2006/main">
              <a:ext uri="{FF2B5EF4-FFF2-40B4-BE49-F238E27FC236}">
                <a16:creationId xmlns:a16="http://schemas.microsoft.com/office/drawing/2014/main" id="{8F531B59-401D-4222-842B-3F3C800D80F3}"/>
              </a:ext>
            </a:extLst>
          </p:cNvPr>
          <p:cNvSpPr>
            <a:spLocks xmlns:a="http://schemas.openxmlformats.org/drawingml/2006/main" noGrp="1"/>
          </p:cNvSpPr>
          <p:nvPr/>
        </p:nvSpPr>
        <p:spPr>
          <a:xfrm xmlns:a="http://schemas.openxmlformats.org/drawingml/2006/main">
            <a:off x="619125" y="58102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3E0D5"/>
                </a:solidFill>
                <a:latin typeface="Arial"/>
                <a:ea typeface="Arial"/>
                <a:cs typeface="Arial"/>
              </a:defRPr>
            </a:defPPr>
            <a:lvl1pPr>
              <a:defRPr sz="1350" b="0">
                <a:solidFill>
                  <a:srgbClr val="D3E0D5"/>
                </a:solidFill>
                <a:latin typeface="Arial"/>
                <a:ea typeface="Arial"/>
                <a:cs typeface="Arial"/>
              </a:defRPr>
            </a:lvl1pPr>
            <a:lvl2pPr>
              <a:defRPr sz="1350" b="0">
                <a:solidFill>
                  <a:srgbClr val="D3E0D5"/>
                </a:solidFill>
                <a:latin typeface="Arial"/>
                <a:ea typeface="Arial"/>
                <a:cs typeface="Arial"/>
              </a:defRPr>
            </a:lvl2pPr>
            <a:lvl3pPr>
              <a:defRPr sz="1350" b="0">
                <a:solidFill>
                  <a:srgbClr val="D3E0D5"/>
                </a:solidFill>
                <a:latin typeface="Arial"/>
                <a:ea typeface="Arial"/>
                <a:cs typeface="Arial"/>
              </a:defRPr>
            </a:lvl3pPr>
            <a:lvl4pPr>
              <a:defRPr sz="1350" b="0">
                <a:solidFill>
                  <a:srgbClr val="D3E0D5"/>
                </a:solidFill>
                <a:latin typeface="Arial"/>
                <a:ea typeface="Arial"/>
                <a:cs typeface="Arial"/>
              </a:defRPr>
            </a:lvl4pPr>
            <a:lvl5pPr>
              <a:defRPr sz="1350" b="0">
                <a:solidFill>
                  <a:srgbClr val="D3E0D5"/>
                </a:solidFill>
                <a:latin typeface="Arial"/>
                <a:ea typeface="Arial"/>
                <a:cs typeface="Arial"/>
              </a:defRPr>
            </a:lvl5pPr>
            <a:lvl6pPr>
              <a:defRPr sz="1350" b="0">
                <a:solidFill>
                  <a:srgbClr val="D3E0D5"/>
                </a:solidFill>
                <a:latin typeface="Arial"/>
                <a:ea typeface="Arial"/>
                <a:cs typeface="Arial"/>
              </a:defRPr>
            </a:lvl6pPr>
            <a:lvl7pPr>
              <a:defRPr sz="1350" b="0">
                <a:solidFill>
                  <a:srgbClr val="D3E0D5"/>
                </a:solidFill>
                <a:latin typeface="Arial"/>
                <a:ea typeface="Arial"/>
                <a:cs typeface="Arial"/>
              </a:defRPr>
            </a:lvl7pPr>
            <a:lvl8pPr>
              <a:defRPr sz="1350" b="0">
                <a:solidFill>
                  <a:srgbClr val="D3E0D5"/>
                </a:solidFill>
                <a:latin typeface="Arial"/>
                <a:ea typeface="Arial"/>
                <a:cs typeface="Arial"/>
              </a:defRPr>
            </a:lvl8pPr>
            <a:lvl9pPr>
              <a:defRPr sz="1350" b="0">
                <a:solidFill>
                  <a:srgbClr val="D3E0D5"/>
                </a:solidFill>
                <a:latin typeface="Arial"/>
                <a:ea typeface="Arial"/>
                <a:cs typeface="Arial"/>
              </a:defRPr>
            </a:lvl9pPr>
          </a:lstStyle>
          <a:p xmlns:a="http://schemas.openxmlformats.org/drawingml/2006/main">
            <a:pPr>
              <a:defRPr sz="1350" b="0">
                <a:solidFill>
                  <a:srgbClr val="D3E0D5"/>
                </a:solidFill>
                <a:latin typeface="Arial"/>
                <a:ea typeface="Arial"/>
                <a:cs typeface="Arial"/>
              </a:defRPr>
            </a:pPr>
            <a:r>
              <a:rPr sz="1350" b="0">
                <a:solidFill>
                  <a:srgbClr val="D3E0D5"/>
                </a:solidFill>
                <a:latin typeface="Arial"/>
                <a:ea typeface="Arial"/>
                <a:cs typeface="Arial"/>
              </a:rPr>
              <a:t>Illustrative costs. Whole-house supply and savings depend on system sizing and site conditions.</a:t>
            </a:r>
          </a:p>
        </p:txBody>
      </p:sp>
    </p:spTree>
    <p:extLst>
      <p:ext uri="{BB962C8B-B14F-4D97-AF65-F5344CB8AC3E}">
        <p14:creationId xmlns:p14="http://schemas.microsoft.com/office/powerpoint/2010/main" val="1514518638"/>
      </p:ext>
    </p:extLst>
  </p:cSld>
</p:sld>
</file>

<file path=ppt/slides/slide8.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EC9BF67-C042-4BC3-A2E4-2682CE8C17A0}"/>
              </a:ext>
            </a:extLst>
          </p:cNvPr>
          <p:cNvPicPr>
            <a:picLocks xmlns:a="http://schemas.openxmlformats.org/drawingml/2006/main" noChangeAspect="1"/>
          </p:cNvPicPr>
          <p:nvPr/>
        </p:nvPicPr>
        <p:blipFill>
          <a:blip xmlns:r="http://schemas.openxmlformats.org/officeDocument/2006/relationships" xmlns:a="http://schemas.openxmlformats.org/drawingml/2006/main" r:embed="Rbe1c2da4017e4e6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hy buy this when natural ventilation and exhaust fans already exist?">
            <a:extLst xmlns:a="http://schemas.openxmlformats.org/drawingml/2006/main">
              <a:ext uri="{FF2B5EF4-FFF2-40B4-BE49-F238E27FC236}">
                <a16:creationId xmlns:a16="http://schemas.microsoft.com/office/drawing/2014/main" id="{2065F50A-ABD8-4801-A101-CA0602D502A0}"/>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F24"/>
                </a:solidFill>
                <a:latin typeface="Arial"/>
                <a:ea typeface="Arial"/>
                <a:cs typeface="Arial"/>
              </a:defRPr>
            </a:defPPr>
            <a:lvl1pPr>
              <a:defRPr sz="3225" b="1">
                <a:solidFill>
                  <a:srgbClr val="102F24"/>
                </a:solidFill>
                <a:latin typeface="Arial"/>
                <a:ea typeface="Arial"/>
                <a:cs typeface="Arial"/>
              </a:defRPr>
            </a:lvl1pPr>
            <a:lvl2pPr>
              <a:defRPr sz="3225" b="1">
                <a:solidFill>
                  <a:srgbClr val="102F24"/>
                </a:solidFill>
                <a:latin typeface="Arial"/>
                <a:ea typeface="Arial"/>
                <a:cs typeface="Arial"/>
              </a:defRPr>
            </a:lvl2pPr>
            <a:lvl3pPr>
              <a:defRPr sz="3225" b="1">
                <a:solidFill>
                  <a:srgbClr val="102F24"/>
                </a:solidFill>
                <a:latin typeface="Arial"/>
                <a:ea typeface="Arial"/>
                <a:cs typeface="Arial"/>
              </a:defRPr>
            </a:lvl3pPr>
            <a:lvl4pPr>
              <a:defRPr sz="3225" b="1">
                <a:solidFill>
                  <a:srgbClr val="102F24"/>
                </a:solidFill>
                <a:latin typeface="Arial"/>
                <a:ea typeface="Arial"/>
                <a:cs typeface="Arial"/>
              </a:defRPr>
            </a:lvl4pPr>
            <a:lvl5pPr>
              <a:defRPr sz="3225" b="1">
                <a:solidFill>
                  <a:srgbClr val="102F24"/>
                </a:solidFill>
                <a:latin typeface="Arial"/>
                <a:ea typeface="Arial"/>
                <a:cs typeface="Arial"/>
              </a:defRPr>
            </a:lvl5pPr>
            <a:lvl6pPr>
              <a:defRPr sz="3225" b="1">
                <a:solidFill>
                  <a:srgbClr val="102F24"/>
                </a:solidFill>
                <a:latin typeface="Arial"/>
                <a:ea typeface="Arial"/>
                <a:cs typeface="Arial"/>
              </a:defRPr>
            </a:lvl6pPr>
            <a:lvl7pPr>
              <a:defRPr sz="3225" b="1">
                <a:solidFill>
                  <a:srgbClr val="102F24"/>
                </a:solidFill>
                <a:latin typeface="Arial"/>
                <a:ea typeface="Arial"/>
                <a:cs typeface="Arial"/>
              </a:defRPr>
            </a:lvl7pPr>
            <a:lvl8pPr>
              <a:defRPr sz="3225" b="1">
                <a:solidFill>
                  <a:srgbClr val="102F24"/>
                </a:solidFill>
                <a:latin typeface="Arial"/>
                <a:ea typeface="Arial"/>
                <a:cs typeface="Arial"/>
              </a:defRPr>
            </a:lvl8pPr>
            <a:lvl9pPr>
              <a:defRPr sz="3225" b="1">
                <a:solidFill>
                  <a:srgbClr val="102F24"/>
                </a:solidFill>
                <a:latin typeface="Arial"/>
                <a:ea typeface="Arial"/>
                <a:cs typeface="Arial"/>
              </a:defRPr>
            </a:lvl9pPr>
          </a:lstStyle>
          <a:p xmlns:a="http://schemas.openxmlformats.org/drawingml/2006/main">
            <a:pPr>
              <a:defRPr sz="3225" b="1">
                <a:solidFill>
                  <a:srgbClr val="102F24"/>
                </a:solidFill>
                <a:latin typeface="Arial"/>
                <a:ea typeface="Arial"/>
                <a:cs typeface="Arial"/>
              </a:defRPr>
            </a:pPr>
            <a:r>
              <a:rPr sz="3225" b="1">
                <a:solidFill>
                  <a:srgbClr val="102F24"/>
                </a:solidFill>
                <a:latin typeface="Arial"/>
                <a:ea typeface="Arial"/>
                <a:cs typeface="Arial"/>
              </a:rPr>
              <a:t>Why buy this when natural ventilation and exhaust fans already exist?</a:t>
            </a:r>
          </a:p>
        </p:txBody>
      </p:sp>
      <p:sp>
        <p:nvSpPr>
          <p:cNvPr id="4" name="08">
            <a:extLst xmlns:a="http://schemas.openxmlformats.org/drawingml/2006/main">
              <a:ext uri="{FF2B5EF4-FFF2-40B4-BE49-F238E27FC236}">
                <a16:creationId xmlns:a16="http://schemas.microsoft.com/office/drawing/2014/main" id="{493755D7-4C84-4254-95FE-51B97A37E72F}"/>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08</a:t>
            </a:r>
          </a:p>
        </p:txBody>
      </p:sp>
      <p:sp>
        <p:nvSpPr>
          <p:cNvPr id="5" name="FAQ">
            <a:extLst xmlns:a="http://schemas.openxmlformats.org/drawingml/2006/main">
              <a:ext uri="{FF2B5EF4-FFF2-40B4-BE49-F238E27FC236}">
                <a16:creationId xmlns:a16="http://schemas.microsoft.com/office/drawing/2014/main" id="{0ABCD495-ADE1-4FA0-922A-E8481B74EAA2}"/>
              </a:ext>
            </a:extLst>
          </p:cNvPr>
          <p:cNvSpPr>
            <a:spLocks xmlns:a="http://schemas.openxmlformats.org/drawingml/2006/main" noGrp="1"/>
          </p:cNvSpPr>
          <p:nvPr/>
        </p:nvSpPr>
        <p:spPr>
          <a:xfrm xmlns:a="http://schemas.openxmlformats.org/drawingml/2006/main">
            <a:off x="619125" y="158115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405B4E"/>
                </a:solidFill>
                <a:latin typeface="Arial"/>
                <a:ea typeface="Arial"/>
                <a:cs typeface="Arial"/>
              </a:defRPr>
            </a:defPPr>
            <a:lvl1pPr>
              <a:defRPr sz="1875" b="1">
                <a:solidFill>
                  <a:srgbClr val="405B4E"/>
                </a:solidFill>
                <a:latin typeface="Arial"/>
                <a:ea typeface="Arial"/>
                <a:cs typeface="Arial"/>
              </a:defRPr>
            </a:lvl1pPr>
            <a:lvl2pPr>
              <a:defRPr sz="1875" b="1">
                <a:solidFill>
                  <a:srgbClr val="405B4E"/>
                </a:solidFill>
                <a:latin typeface="Arial"/>
                <a:ea typeface="Arial"/>
                <a:cs typeface="Arial"/>
              </a:defRPr>
            </a:lvl2pPr>
            <a:lvl3pPr>
              <a:defRPr sz="1875" b="1">
                <a:solidFill>
                  <a:srgbClr val="405B4E"/>
                </a:solidFill>
                <a:latin typeface="Arial"/>
                <a:ea typeface="Arial"/>
                <a:cs typeface="Arial"/>
              </a:defRPr>
            </a:lvl3pPr>
            <a:lvl4pPr>
              <a:defRPr sz="1875" b="1">
                <a:solidFill>
                  <a:srgbClr val="405B4E"/>
                </a:solidFill>
                <a:latin typeface="Arial"/>
                <a:ea typeface="Arial"/>
                <a:cs typeface="Arial"/>
              </a:defRPr>
            </a:lvl4pPr>
            <a:lvl5pPr>
              <a:defRPr sz="1875" b="1">
                <a:solidFill>
                  <a:srgbClr val="405B4E"/>
                </a:solidFill>
                <a:latin typeface="Arial"/>
                <a:ea typeface="Arial"/>
                <a:cs typeface="Arial"/>
              </a:defRPr>
            </a:lvl5pPr>
            <a:lvl6pPr>
              <a:defRPr sz="1875" b="1">
                <a:solidFill>
                  <a:srgbClr val="405B4E"/>
                </a:solidFill>
                <a:latin typeface="Arial"/>
                <a:ea typeface="Arial"/>
                <a:cs typeface="Arial"/>
              </a:defRPr>
            </a:lvl6pPr>
            <a:lvl7pPr>
              <a:defRPr sz="1875" b="1">
                <a:solidFill>
                  <a:srgbClr val="405B4E"/>
                </a:solidFill>
                <a:latin typeface="Arial"/>
                <a:ea typeface="Arial"/>
                <a:cs typeface="Arial"/>
              </a:defRPr>
            </a:lvl7pPr>
            <a:lvl8pPr>
              <a:defRPr sz="1875" b="1">
                <a:solidFill>
                  <a:srgbClr val="405B4E"/>
                </a:solidFill>
                <a:latin typeface="Arial"/>
                <a:ea typeface="Arial"/>
                <a:cs typeface="Arial"/>
              </a:defRPr>
            </a:lvl8pPr>
            <a:lvl9pPr>
              <a:defRPr sz="1875" b="1">
                <a:solidFill>
                  <a:srgbClr val="405B4E"/>
                </a:solidFill>
                <a:latin typeface="Arial"/>
                <a:ea typeface="Arial"/>
                <a:cs typeface="Arial"/>
              </a:defRPr>
            </a:lvl9pPr>
          </a:lstStyle>
          <a:p xmlns:a="http://schemas.openxmlformats.org/drawingml/2006/main">
            <a:pPr>
              <a:defRPr sz="1875" b="1">
                <a:solidFill>
                  <a:srgbClr val="405B4E"/>
                </a:solidFill>
                <a:latin typeface="Arial"/>
                <a:ea typeface="Arial"/>
                <a:cs typeface="Arial"/>
              </a:defRPr>
            </a:pPr>
            <a:r>
              <a:rPr sz="1875" b="1">
                <a:solidFill>
                  <a:srgbClr val="405B4E"/>
                </a:solidFill>
                <a:latin typeface="Arial"/>
                <a:ea typeface="Arial"/>
                <a:cs typeface="Arial"/>
              </a:rPr>
              <a:t>FAQ</a:t>
            </a:r>
          </a:p>
        </p:txBody>
      </p:sp>
      <p:sp>
        <p:nvSpPr>
          <p:cNvPr id="6" name="Natural ventilation works well when a building has suitable openings a">
            <a:extLst xmlns:a="http://schemas.openxmlformats.org/drawingml/2006/main">
              <a:ext uri="{FF2B5EF4-FFF2-40B4-BE49-F238E27FC236}">
                <a16:creationId xmlns:a16="http://schemas.microsoft.com/office/drawing/2014/main" id="{F38857B8-FE7E-48A3-974C-51930BA5D557}"/>
              </a:ext>
            </a:extLst>
          </p:cNvPr>
          <p:cNvSpPr>
            <a:spLocks xmlns:a="http://schemas.openxmlformats.org/drawingml/2006/main" noGrp="1"/>
          </p:cNvSpPr>
          <p:nvPr/>
        </p:nvSpPr>
        <p:spPr>
          <a:xfrm xmlns:a="http://schemas.openxmlformats.org/drawingml/2006/main">
            <a:off x="619125" y="2238375"/>
            <a:ext cx="1047750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02F24"/>
                </a:solidFill>
                <a:latin typeface="Arial"/>
                <a:ea typeface="Arial"/>
                <a:cs typeface="Arial"/>
              </a:defRPr>
            </a:defPPr>
            <a:lvl1pPr>
              <a:defRPr sz="2475" b="0">
                <a:solidFill>
                  <a:srgbClr val="102F24"/>
                </a:solidFill>
                <a:latin typeface="Arial"/>
                <a:ea typeface="Arial"/>
                <a:cs typeface="Arial"/>
              </a:defRPr>
            </a:lvl1pPr>
            <a:lvl2pPr>
              <a:defRPr sz="2475" b="0">
                <a:solidFill>
                  <a:srgbClr val="102F24"/>
                </a:solidFill>
                <a:latin typeface="Arial"/>
                <a:ea typeface="Arial"/>
                <a:cs typeface="Arial"/>
              </a:defRPr>
            </a:lvl2pPr>
            <a:lvl3pPr>
              <a:defRPr sz="2475" b="0">
                <a:solidFill>
                  <a:srgbClr val="102F24"/>
                </a:solidFill>
                <a:latin typeface="Arial"/>
                <a:ea typeface="Arial"/>
                <a:cs typeface="Arial"/>
              </a:defRPr>
            </a:lvl3pPr>
            <a:lvl4pPr>
              <a:defRPr sz="2475" b="0">
                <a:solidFill>
                  <a:srgbClr val="102F24"/>
                </a:solidFill>
                <a:latin typeface="Arial"/>
                <a:ea typeface="Arial"/>
                <a:cs typeface="Arial"/>
              </a:defRPr>
            </a:lvl4pPr>
            <a:lvl5pPr>
              <a:defRPr sz="2475" b="0">
                <a:solidFill>
                  <a:srgbClr val="102F24"/>
                </a:solidFill>
                <a:latin typeface="Arial"/>
                <a:ea typeface="Arial"/>
                <a:cs typeface="Arial"/>
              </a:defRPr>
            </a:lvl5pPr>
            <a:lvl6pPr>
              <a:defRPr sz="2475" b="0">
                <a:solidFill>
                  <a:srgbClr val="102F24"/>
                </a:solidFill>
                <a:latin typeface="Arial"/>
                <a:ea typeface="Arial"/>
                <a:cs typeface="Arial"/>
              </a:defRPr>
            </a:lvl6pPr>
            <a:lvl7pPr>
              <a:defRPr sz="2475" b="0">
                <a:solidFill>
                  <a:srgbClr val="102F24"/>
                </a:solidFill>
                <a:latin typeface="Arial"/>
                <a:ea typeface="Arial"/>
                <a:cs typeface="Arial"/>
              </a:defRPr>
            </a:lvl7pPr>
            <a:lvl8pPr>
              <a:defRPr sz="2475" b="0">
                <a:solidFill>
                  <a:srgbClr val="102F24"/>
                </a:solidFill>
                <a:latin typeface="Arial"/>
                <a:ea typeface="Arial"/>
                <a:cs typeface="Arial"/>
              </a:defRPr>
            </a:lvl8pPr>
            <a:lvl9pPr>
              <a:defRPr sz="2475" b="0">
                <a:solidFill>
                  <a:srgbClr val="102F24"/>
                </a:solidFill>
                <a:latin typeface="Arial"/>
                <a:ea typeface="Arial"/>
                <a:cs typeface="Arial"/>
              </a:defRPr>
            </a:lvl9pPr>
          </a:lstStyle>
          <a:p xmlns:a="http://schemas.openxmlformats.org/drawingml/2006/main">
            <a:pPr>
              <a:defRPr sz="2475" b="0">
                <a:solidFill>
                  <a:srgbClr val="102F24"/>
                </a:solidFill>
                <a:latin typeface="Arial"/>
                <a:ea typeface="Arial"/>
                <a:cs typeface="Arial"/>
              </a:defRPr>
            </a:pPr>
            <a:r>
              <a:rPr sz="2475" b="0">
                <a:solidFill>
                  <a:srgbClr val="102F24"/>
                </a:solidFill>
                <a:latin typeface="Arial"/>
                <a:ea typeface="Arial"/>
                <a:cs typeface="Arial"/>
              </a:rPr>
              <a:t>Natural ventilation works well when a building has suitable openings and enough wind. Our product targets buildings with poor airflow but an exposed, windy roof. It uses wind to help extract stale air, reducing powered-fan operation. Advanced mode adds solar assistance and battery backup. Our best customers are buildings needing ventilation for long hours , not buildings where opening a window already solves the problem.</a:t>
            </a:r>
          </a:p>
        </p:txBody>
      </p:sp>
      <p:sp>
        <p:nvSpPr>
          <p:cNvPr id="7" name="Performance depends on wind, the intake path and installation conditio">
            <a:extLst xmlns:a="http://schemas.openxmlformats.org/drawingml/2006/main">
              <a:ext uri="{FF2B5EF4-FFF2-40B4-BE49-F238E27FC236}">
                <a16:creationId xmlns:a16="http://schemas.microsoft.com/office/drawing/2014/main" id="{F3BC31F0-1D1D-466D-83DA-0B0A7B4D8D94}"/>
              </a:ext>
            </a:extLst>
          </p:cNvPr>
          <p:cNvSpPr>
            <a:spLocks xmlns:a="http://schemas.openxmlformats.org/drawingml/2006/main" noGrp="1"/>
          </p:cNvSpPr>
          <p:nvPr/>
        </p:nvSpPr>
        <p:spPr>
          <a:xfrm xmlns:a="http://schemas.openxmlformats.org/drawingml/2006/main">
            <a:off x="619125" y="5810250"/>
            <a:ext cx="10239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405B4E"/>
                </a:solidFill>
                <a:latin typeface="Arial"/>
                <a:ea typeface="Arial"/>
                <a:cs typeface="Arial"/>
              </a:defRPr>
            </a:defPPr>
            <a:lvl1pPr>
              <a:defRPr sz="1425" b="0">
                <a:solidFill>
                  <a:srgbClr val="405B4E"/>
                </a:solidFill>
                <a:latin typeface="Arial"/>
                <a:ea typeface="Arial"/>
                <a:cs typeface="Arial"/>
              </a:defRPr>
            </a:lvl1pPr>
            <a:lvl2pPr>
              <a:defRPr sz="1425" b="0">
                <a:solidFill>
                  <a:srgbClr val="405B4E"/>
                </a:solidFill>
                <a:latin typeface="Arial"/>
                <a:ea typeface="Arial"/>
                <a:cs typeface="Arial"/>
              </a:defRPr>
            </a:lvl2pPr>
            <a:lvl3pPr>
              <a:defRPr sz="1425" b="0">
                <a:solidFill>
                  <a:srgbClr val="405B4E"/>
                </a:solidFill>
                <a:latin typeface="Arial"/>
                <a:ea typeface="Arial"/>
                <a:cs typeface="Arial"/>
              </a:defRPr>
            </a:lvl3pPr>
            <a:lvl4pPr>
              <a:defRPr sz="1425" b="0">
                <a:solidFill>
                  <a:srgbClr val="405B4E"/>
                </a:solidFill>
                <a:latin typeface="Arial"/>
                <a:ea typeface="Arial"/>
                <a:cs typeface="Arial"/>
              </a:defRPr>
            </a:lvl4pPr>
            <a:lvl5pPr>
              <a:defRPr sz="1425" b="0">
                <a:solidFill>
                  <a:srgbClr val="405B4E"/>
                </a:solidFill>
                <a:latin typeface="Arial"/>
                <a:ea typeface="Arial"/>
                <a:cs typeface="Arial"/>
              </a:defRPr>
            </a:lvl5pPr>
            <a:lvl6pPr>
              <a:defRPr sz="1425" b="0">
                <a:solidFill>
                  <a:srgbClr val="405B4E"/>
                </a:solidFill>
                <a:latin typeface="Arial"/>
                <a:ea typeface="Arial"/>
                <a:cs typeface="Arial"/>
              </a:defRPr>
            </a:lvl6pPr>
            <a:lvl7pPr>
              <a:defRPr sz="1425" b="0">
                <a:solidFill>
                  <a:srgbClr val="405B4E"/>
                </a:solidFill>
                <a:latin typeface="Arial"/>
                <a:ea typeface="Arial"/>
                <a:cs typeface="Arial"/>
              </a:defRPr>
            </a:lvl7pPr>
            <a:lvl8pPr>
              <a:defRPr sz="1425" b="0">
                <a:solidFill>
                  <a:srgbClr val="405B4E"/>
                </a:solidFill>
                <a:latin typeface="Arial"/>
                <a:ea typeface="Arial"/>
                <a:cs typeface="Arial"/>
              </a:defRPr>
            </a:lvl8pPr>
            <a:lvl9pPr>
              <a:defRPr sz="1425" b="0">
                <a:solidFill>
                  <a:srgbClr val="405B4E"/>
                </a:solidFill>
                <a:latin typeface="Arial"/>
                <a:ea typeface="Arial"/>
                <a:cs typeface="Arial"/>
              </a:defRPr>
            </a:lvl9pPr>
          </a:lstStyle>
          <a:p xmlns:a="http://schemas.openxmlformats.org/drawingml/2006/main">
            <a:pPr>
              <a:defRPr sz="1425" b="0">
                <a:solidFill>
                  <a:srgbClr val="405B4E"/>
                </a:solidFill>
                <a:latin typeface="Arial"/>
                <a:ea typeface="Arial"/>
                <a:cs typeface="Arial"/>
              </a:defRPr>
            </a:pPr>
            <a:r>
              <a:rPr sz="1425" b="0">
                <a:solidFill>
                  <a:srgbClr val="405B4E"/>
                </a:solidFill>
                <a:latin typeface="Arial"/>
                <a:ea typeface="Arial"/>
                <a:cs typeface="Arial"/>
              </a:rPr>
              <a:t>Performance depends on wind, the intake path and installation conditions.</a:t>
            </a:r>
          </a:p>
        </p:txBody>
      </p:sp>
    </p:spTree>
    <p:extLst>
      <p:ext uri="{BB962C8B-B14F-4D97-AF65-F5344CB8AC3E}">
        <p14:creationId xmlns:p14="http://schemas.microsoft.com/office/powerpoint/2010/main" val="1037937664"/>
      </p:ext>
    </p:extLst>
  </p:cSld>
</p:sld>
</file>

<file path=ppt/slides/slide9.xml><?xml version="1.0" encoding="utf-8"?>
<p:sld xmlns:p="http://schemas.openxmlformats.org/presentationml/2006/main">
  <p:cSld>
    <p:bg>
      <p:bgPr>
        <a:solidFill xmlns:a="http://schemas.openxmlformats.org/drawingml/2006/main">
          <a:srgbClr val="102C23"/>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C6D8BCA-EB30-48DC-B3A7-45203B15B5CD}"/>
              </a:ext>
            </a:extLst>
          </p:cNvPr>
          <p:cNvPicPr>
            <a:picLocks xmlns:a="http://schemas.openxmlformats.org/drawingml/2006/main" noChangeAspect="1"/>
          </p:cNvPicPr>
          <p:nvPr/>
        </p:nvPicPr>
        <p:blipFill>
          <a:blip xmlns:r="http://schemas.openxmlformats.org/officeDocument/2006/relationships" xmlns:a="http://schemas.openxmlformats.org/drawingml/2006/main" r:embed="Rf982528be857488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hy buy ours instead of a ৳1,500 exhaust fan?">
            <a:extLst xmlns:a="http://schemas.openxmlformats.org/drawingml/2006/main">
              <a:ext uri="{FF2B5EF4-FFF2-40B4-BE49-F238E27FC236}">
                <a16:creationId xmlns:a16="http://schemas.microsoft.com/office/drawing/2014/main" id="{77639955-8789-421D-93BF-9453FB63961D}"/>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4F3EB"/>
                </a:solidFill>
                <a:latin typeface="Nirmala UI"/>
                <a:ea typeface="Nirmala UI"/>
                <a:cs typeface="Nirmala UI"/>
              </a:defRPr>
            </a:defPPr>
            <a:lvl1pPr>
              <a:defRPr sz="3225" b="1">
                <a:solidFill>
                  <a:srgbClr val="F4F3EB"/>
                </a:solidFill>
                <a:latin typeface="Nirmala UI"/>
                <a:ea typeface="Nirmala UI"/>
                <a:cs typeface="Nirmala UI"/>
              </a:defRPr>
            </a:lvl1pPr>
            <a:lvl2pPr>
              <a:defRPr sz="3225" b="1">
                <a:solidFill>
                  <a:srgbClr val="F4F3EB"/>
                </a:solidFill>
                <a:latin typeface="Nirmala UI"/>
                <a:ea typeface="Nirmala UI"/>
                <a:cs typeface="Nirmala UI"/>
              </a:defRPr>
            </a:lvl2pPr>
            <a:lvl3pPr>
              <a:defRPr sz="3225" b="1">
                <a:solidFill>
                  <a:srgbClr val="F4F3EB"/>
                </a:solidFill>
                <a:latin typeface="Nirmala UI"/>
                <a:ea typeface="Nirmala UI"/>
                <a:cs typeface="Nirmala UI"/>
              </a:defRPr>
            </a:lvl3pPr>
            <a:lvl4pPr>
              <a:defRPr sz="3225" b="1">
                <a:solidFill>
                  <a:srgbClr val="F4F3EB"/>
                </a:solidFill>
                <a:latin typeface="Nirmala UI"/>
                <a:ea typeface="Nirmala UI"/>
                <a:cs typeface="Nirmala UI"/>
              </a:defRPr>
            </a:lvl4pPr>
            <a:lvl5pPr>
              <a:defRPr sz="3225" b="1">
                <a:solidFill>
                  <a:srgbClr val="F4F3EB"/>
                </a:solidFill>
                <a:latin typeface="Nirmala UI"/>
                <a:ea typeface="Nirmala UI"/>
                <a:cs typeface="Nirmala UI"/>
              </a:defRPr>
            </a:lvl5pPr>
            <a:lvl6pPr>
              <a:defRPr sz="3225" b="1">
                <a:solidFill>
                  <a:srgbClr val="F4F3EB"/>
                </a:solidFill>
                <a:latin typeface="Nirmala UI"/>
                <a:ea typeface="Nirmala UI"/>
                <a:cs typeface="Nirmala UI"/>
              </a:defRPr>
            </a:lvl6pPr>
            <a:lvl7pPr>
              <a:defRPr sz="3225" b="1">
                <a:solidFill>
                  <a:srgbClr val="F4F3EB"/>
                </a:solidFill>
                <a:latin typeface="Nirmala UI"/>
                <a:ea typeface="Nirmala UI"/>
                <a:cs typeface="Nirmala UI"/>
              </a:defRPr>
            </a:lvl7pPr>
            <a:lvl8pPr>
              <a:defRPr sz="3225" b="1">
                <a:solidFill>
                  <a:srgbClr val="F4F3EB"/>
                </a:solidFill>
                <a:latin typeface="Nirmala UI"/>
                <a:ea typeface="Nirmala UI"/>
                <a:cs typeface="Nirmala UI"/>
              </a:defRPr>
            </a:lvl8pPr>
            <a:lvl9pPr>
              <a:defRPr sz="3225" b="1">
                <a:solidFill>
                  <a:srgbClr val="F4F3EB"/>
                </a:solidFill>
                <a:latin typeface="Nirmala UI"/>
                <a:ea typeface="Nirmala UI"/>
                <a:cs typeface="Nirmala UI"/>
              </a:defRPr>
            </a:lvl9pPr>
          </a:lstStyle>
          <a:p xmlns:a="http://schemas.openxmlformats.org/drawingml/2006/main">
            <a:pPr>
              <a:defRPr sz="3225" b="1">
                <a:solidFill>
                  <a:srgbClr val="F4F3EB"/>
                </a:solidFill>
                <a:latin typeface="Nirmala UI"/>
                <a:ea typeface="Nirmala UI"/>
                <a:cs typeface="Nirmala UI"/>
              </a:defRPr>
            </a:pPr>
            <a:r>
              <a:rPr sz="3225" b="1">
                <a:solidFill>
                  <a:srgbClr val="F4F3EB"/>
                </a:solidFill>
                <a:latin typeface="Nirmala UI"/>
                <a:ea typeface="Nirmala UI"/>
                <a:cs typeface="Nirmala UI"/>
              </a:rPr>
              <a:t>Why buy ours instead of a ৳1,500 exhaust fan?</a:t>
            </a:r>
          </a:p>
        </p:txBody>
      </p:sp>
      <p:sp>
        <p:nvSpPr>
          <p:cNvPr id="4" name="09">
            <a:extLst xmlns:a="http://schemas.openxmlformats.org/drawingml/2006/main">
              <a:ext uri="{FF2B5EF4-FFF2-40B4-BE49-F238E27FC236}">
                <a16:creationId xmlns:a16="http://schemas.microsoft.com/office/drawing/2014/main" id="{B89A0238-0932-4AE5-9E57-F276B58E9623}"/>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3E0D5"/>
                </a:solidFill>
                <a:latin typeface="Arial"/>
                <a:ea typeface="Arial"/>
                <a:cs typeface="Arial"/>
              </a:defRPr>
            </a:defPPr>
            <a:lvl1pPr>
              <a:defRPr sz="1275" b="0">
                <a:solidFill>
                  <a:srgbClr val="D3E0D5"/>
                </a:solidFill>
                <a:latin typeface="Arial"/>
                <a:ea typeface="Arial"/>
                <a:cs typeface="Arial"/>
              </a:defRPr>
            </a:lvl1pPr>
            <a:lvl2pPr>
              <a:defRPr sz="1275" b="0">
                <a:solidFill>
                  <a:srgbClr val="D3E0D5"/>
                </a:solidFill>
                <a:latin typeface="Arial"/>
                <a:ea typeface="Arial"/>
                <a:cs typeface="Arial"/>
              </a:defRPr>
            </a:lvl2pPr>
            <a:lvl3pPr>
              <a:defRPr sz="1275" b="0">
                <a:solidFill>
                  <a:srgbClr val="D3E0D5"/>
                </a:solidFill>
                <a:latin typeface="Arial"/>
                <a:ea typeface="Arial"/>
                <a:cs typeface="Arial"/>
              </a:defRPr>
            </a:lvl3pPr>
            <a:lvl4pPr>
              <a:defRPr sz="1275" b="0">
                <a:solidFill>
                  <a:srgbClr val="D3E0D5"/>
                </a:solidFill>
                <a:latin typeface="Arial"/>
                <a:ea typeface="Arial"/>
                <a:cs typeface="Arial"/>
              </a:defRPr>
            </a:lvl4pPr>
            <a:lvl5pPr>
              <a:defRPr sz="1275" b="0">
                <a:solidFill>
                  <a:srgbClr val="D3E0D5"/>
                </a:solidFill>
                <a:latin typeface="Arial"/>
                <a:ea typeface="Arial"/>
                <a:cs typeface="Arial"/>
              </a:defRPr>
            </a:lvl5pPr>
            <a:lvl6pPr>
              <a:defRPr sz="1275" b="0">
                <a:solidFill>
                  <a:srgbClr val="D3E0D5"/>
                </a:solidFill>
                <a:latin typeface="Arial"/>
                <a:ea typeface="Arial"/>
                <a:cs typeface="Arial"/>
              </a:defRPr>
            </a:lvl6pPr>
            <a:lvl7pPr>
              <a:defRPr sz="1275" b="0">
                <a:solidFill>
                  <a:srgbClr val="D3E0D5"/>
                </a:solidFill>
                <a:latin typeface="Arial"/>
                <a:ea typeface="Arial"/>
                <a:cs typeface="Arial"/>
              </a:defRPr>
            </a:lvl7pPr>
            <a:lvl8pPr>
              <a:defRPr sz="1275" b="0">
                <a:solidFill>
                  <a:srgbClr val="D3E0D5"/>
                </a:solidFill>
                <a:latin typeface="Arial"/>
                <a:ea typeface="Arial"/>
                <a:cs typeface="Arial"/>
              </a:defRPr>
            </a:lvl8pPr>
            <a:lvl9pPr>
              <a:defRPr sz="1275" b="0">
                <a:solidFill>
                  <a:srgbClr val="D3E0D5"/>
                </a:solidFill>
                <a:latin typeface="Arial"/>
                <a:ea typeface="Arial"/>
                <a:cs typeface="Arial"/>
              </a:defRPr>
            </a:lvl9pPr>
          </a:lstStyle>
          <a:p xmlns:a="http://schemas.openxmlformats.org/drawingml/2006/main">
            <a:pPr>
              <a:defRPr sz="1275" b="0">
                <a:solidFill>
                  <a:srgbClr val="D3E0D5"/>
                </a:solidFill>
                <a:latin typeface="Arial"/>
                <a:ea typeface="Arial"/>
                <a:cs typeface="Arial"/>
              </a:defRPr>
            </a:pPr>
            <a:r>
              <a:rPr sz="1275" b="0">
                <a:solidFill>
                  <a:srgbClr val="D3E0D5"/>
                </a:solidFill>
                <a:latin typeface="Arial"/>
                <a:ea typeface="Arial"/>
                <a:cs typeface="Arial"/>
              </a:rPr>
              <a:t>09</a:t>
            </a:r>
          </a:p>
        </p:txBody>
      </p:sp>
      <p:sp>
        <p:nvSpPr>
          <p:cNvPr id="5" name="FAQ">
            <a:extLst xmlns:a="http://schemas.openxmlformats.org/drawingml/2006/main">
              <a:ext uri="{FF2B5EF4-FFF2-40B4-BE49-F238E27FC236}">
                <a16:creationId xmlns:a16="http://schemas.microsoft.com/office/drawing/2014/main" id="{B0E2ED83-33B7-4BDD-B161-597CE3A03047}"/>
              </a:ext>
            </a:extLst>
          </p:cNvPr>
          <p:cNvSpPr>
            <a:spLocks xmlns:a="http://schemas.openxmlformats.org/drawingml/2006/main" noGrp="1"/>
          </p:cNvSpPr>
          <p:nvPr/>
        </p:nvSpPr>
        <p:spPr>
          <a:xfrm xmlns:a="http://schemas.openxmlformats.org/drawingml/2006/main">
            <a:off x="619125" y="158115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6F39B"/>
                </a:solidFill>
                <a:latin typeface="Arial"/>
                <a:ea typeface="Arial"/>
                <a:cs typeface="Arial"/>
              </a:defRPr>
            </a:defPPr>
            <a:lvl1pPr>
              <a:defRPr sz="1875" b="1">
                <a:solidFill>
                  <a:srgbClr val="D6F39B"/>
                </a:solidFill>
                <a:latin typeface="Arial"/>
                <a:ea typeface="Arial"/>
                <a:cs typeface="Arial"/>
              </a:defRPr>
            </a:lvl1pPr>
            <a:lvl2pPr>
              <a:defRPr sz="1875" b="1">
                <a:solidFill>
                  <a:srgbClr val="D6F39B"/>
                </a:solidFill>
                <a:latin typeface="Arial"/>
                <a:ea typeface="Arial"/>
                <a:cs typeface="Arial"/>
              </a:defRPr>
            </a:lvl2pPr>
            <a:lvl3pPr>
              <a:defRPr sz="1875" b="1">
                <a:solidFill>
                  <a:srgbClr val="D6F39B"/>
                </a:solidFill>
                <a:latin typeface="Arial"/>
                <a:ea typeface="Arial"/>
                <a:cs typeface="Arial"/>
              </a:defRPr>
            </a:lvl3pPr>
            <a:lvl4pPr>
              <a:defRPr sz="1875" b="1">
                <a:solidFill>
                  <a:srgbClr val="D6F39B"/>
                </a:solidFill>
                <a:latin typeface="Arial"/>
                <a:ea typeface="Arial"/>
                <a:cs typeface="Arial"/>
              </a:defRPr>
            </a:lvl4pPr>
            <a:lvl5pPr>
              <a:defRPr sz="1875" b="1">
                <a:solidFill>
                  <a:srgbClr val="D6F39B"/>
                </a:solidFill>
                <a:latin typeface="Arial"/>
                <a:ea typeface="Arial"/>
                <a:cs typeface="Arial"/>
              </a:defRPr>
            </a:lvl5pPr>
            <a:lvl6pPr>
              <a:defRPr sz="1875" b="1">
                <a:solidFill>
                  <a:srgbClr val="D6F39B"/>
                </a:solidFill>
                <a:latin typeface="Arial"/>
                <a:ea typeface="Arial"/>
                <a:cs typeface="Arial"/>
              </a:defRPr>
            </a:lvl6pPr>
            <a:lvl7pPr>
              <a:defRPr sz="1875" b="1">
                <a:solidFill>
                  <a:srgbClr val="D6F39B"/>
                </a:solidFill>
                <a:latin typeface="Arial"/>
                <a:ea typeface="Arial"/>
                <a:cs typeface="Arial"/>
              </a:defRPr>
            </a:lvl7pPr>
            <a:lvl8pPr>
              <a:defRPr sz="1875" b="1">
                <a:solidFill>
                  <a:srgbClr val="D6F39B"/>
                </a:solidFill>
                <a:latin typeface="Arial"/>
                <a:ea typeface="Arial"/>
                <a:cs typeface="Arial"/>
              </a:defRPr>
            </a:lvl8pPr>
            <a:lvl9pPr>
              <a:defRPr sz="1875" b="1">
                <a:solidFill>
                  <a:srgbClr val="D6F39B"/>
                </a:solidFill>
                <a:latin typeface="Arial"/>
                <a:ea typeface="Arial"/>
                <a:cs typeface="Arial"/>
              </a:defRPr>
            </a:lvl9pPr>
          </a:lstStyle>
          <a:p xmlns:a="http://schemas.openxmlformats.org/drawingml/2006/main">
            <a:pPr>
              <a:defRPr sz="1875" b="1">
                <a:solidFill>
                  <a:srgbClr val="D6F39B"/>
                </a:solidFill>
                <a:latin typeface="Arial"/>
                <a:ea typeface="Arial"/>
                <a:cs typeface="Arial"/>
              </a:defRPr>
            </a:pPr>
            <a:r>
              <a:rPr sz="1875" b="1">
                <a:solidFill>
                  <a:srgbClr val="D6F39B"/>
                </a:solidFill>
                <a:latin typeface="Arial"/>
                <a:ea typeface="Arial"/>
                <a:cs typeface="Arial"/>
              </a:rPr>
              <a:t>FAQ</a:t>
            </a:r>
          </a:p>
        </p:txBody>
      </p:sp>
      <p:sp>
        <p:nvSpPr>
          <p:cNvPr id="6" name="Yeah, looking from the surface it is 1500tk but if we wanna calculate ">
            <a:extLst xmlns:a="http://schemas.openxmlformats.org/drawingml/2006/main">
              <a:ext uri="{FF2B5EF4-FFF2-40B4-BE49-F238E27FC236}">
                <a16:creationId xmlns:a16="http://schemas.microsoft.com/office/drawing/2014/main" id="{9727D134-8191-4B48-8DA9-71912BF71434}"/>
              </a:ext>
            </a:extLst>
          </p:cNvPr>
          <p:cNvSpPr>
            <a:spLocks xmlns:a="http://schemas.openxmlformats.org/drawingml/2006/main" noGrp="1"/>
          </p:cNvSpPr>
          <p:nvPr/>
        </p:nvSpPr>
        <p:spPr>
          <a:xfrm xmlns:a="http://schemas.openxmlformats.org/drawingml/2006/main">
            <a:off x="619125" y="2276475"/>
            <a:ext cx="10477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4F3EB"/>
                </a:solidFill>
                <a:latin typeface="Nirmala UI"/>
                <a:ea typeface="Nirmala UI"/>
                <a:cs typeface="Nirmala UI"/>
              </a:defRPr>
            </a:defPPr>
            <a:lvl1pPr>
              <a:defRPr sz="2550" b="0">
                <a:solidFill>
                  <a:srgbClr val="F4F3EB"/>
                </a:solidFill>
                <a:latin typeface="Nirmala UI"/>
                <a:ea typeface="Nirmala UI"/>
                <a:cs typeface="Nirmala UI"/>
              </a:defRPr>
            </a:lvl1pPr>
            <a:lvl2pPr>
              <a:defRPr sz="2550" b="0">
                <a:solidFill>
                  <a:srgbClr val="F4F3EB"/>
                </a:solidFill>
                <a:latin typeface="Nirmala UI"/>
                <a:ea typeface="Nirmala UI"/>
                <a:cs typeface="Nirmala UI"/>
              </a:defRPr>
            </a:lvl2pPr>
            <a:lvl3pPr>
              <a:defRPr sz="2550" b="0">
                <a:solidFill>
                  <a:srgbClr val="F4F3EB"/>
                </a:solidFill>
                <a:latin typeface="Nirmala UI"/>
                <a:ea typeface="Nirmala UI"/>
                <a:cs typeface="Nirmala UI"/>
              </a:defRPr>
            </a:lvl3pPr>
            <a:lvl4pPr>
              <a:defRPr sz="2550" b="0">
                <a:solidFill>
                  <a:srgbClr val="F4F3EB"/>
                </a:solidFill>
                <a:latin typeface="Nirmala UI"/>
                <a:ea typeface="Nirmala UI"/>
                <a:cs typeface="Nirmala UI"/>
              </a:defRPr>
            </a:lvl4pPr>
            <a:lvl5pPr>
              <a:defRPr sz="2550" b="0">
                <a:solidFill>
                  <a:srgbClr val="F4F3EB"/>
                </a:solidFill>
                <a:latin typeface="Nirmala UI"/>
                <a:ea typeface="Nirmala UI"/>
                <a:cs typeface="Nirmala UI"/>
              </a:defRPr>
            </a:lvl5pPr>
            <a:lvl6pPr>
              <a:defRPr sz="2550" b="0">
                <a:solidFill>
                  <a:srgbClr val="F4F3EB"/>
                </a:solidFill>
                <a:latin typeface="Nirmala UI"/>
                <a:ea typeface="Nirmala UI"/>
                <a:cs typeface="Nirmala UI"/>
              </a:defRPr>
            </a:lvl6pPr>
            <a:lvl7pPr>
              <a:defRPr sz="2550" b="0">
                <a:solidFill>
                  <a:srgbClr val="F4F3EB"/>
                </a:solidFill>
                <a:latin typeface="Nirmala UI"/>
                <a:ea typeface="Nirmala UI"/>
                <a:cs typeface="Nirmala UI"/>
              </a:defRPr>
            </a:lvl7pPr>
            <a:lvl8pPr>
              <a:defRPr sz="2550" b="0">
                <a:solidFill>
                  <a:srgbClr val="F4F3EB"/>
                </a:solidFill>
                <a:latin typeface="Nirmala UI"/>
                <a:ea typeface="Nirmala UI"/>
                <a:cs typeface="Nirmala UI"/>
              </a:defRPr>
            </a:lvl8pPr>
            <a:lvl9pPr>
              <a:defRPr sz="2550" b="0">
                <a:solidFill>
                  <a:srgbClr val="F4F3EB"/>
                </a:solidFill>
                <a:latin typeface="Nirmala UI"/>
                <a:ea typeface="Nirmala UI"/>
                <a:cs typeface="Nirmala UI"/>
              </a:defRPr>
            </a:lvl9pPr>
          </a:lstStyle>
          <a:p xmlns:a="http://schemas.openxmlformats.org/drawingml/2006/main">
            <a:pPr>
              <a:defRPr sz="2550" b="0">
                <a:solidFill>
                  <a:srgbClr val="F4F3EB"/>
                </a:solidFill>
                <a:latin typeface="Nirmala UI"/>
                <a:ea typeface="Nirmala UI"/>
                <a:cs typeface="Nirmala UI"/>
              </a:defRPr>
            </a:pPr>
            <a:r>
              <a:rPr sz="2550" b="0">
                <a:solidFill>
                  <a:srgbClr val="F4F3EB"/>
                </a:solidFill>
                <a:latin typeface="Nirmala UI"/>
                <a:ea typeface="Nirmala UI"/>
                <a:cs typeface="Nirmala UI"/>
              </a:rPr>
              <a:t>Yeah, looking from the surface it is 1500tk but if we wanna calculate the electricity bill it may draws about 2400tk yearly(considering 55W fan running 12hours daily) and electricity bill is increasing rapidly. Whereas our system may have higher initial cost but it can reduce the electricity bill and it has a payback period of only 2.5 years.</a:t>
            </a:r>
          </a:p>
        </p:txBody>
      </p:sp>
      <p:sp>
        <p:nvSpPr>
          <p:cNvPr id="7" name="Team estimate. The stated payback is illustrative and has not been fie">
            <a:extLst xmlns:a="http://schemas.openxmlformats.org/drawingml/2006/main">
              <a:ext uri="{FF2B5EF4-FFF2-40B4-BE49-F238E27FC236}">
                <a16:creationId xmlns:a16="http://schemas.microsoft.com/office/drawing/2014/main" id="{BF47ADEA-62AC-440F-829A-5D46E1EFAA8B}"/>
              </a:ext>
            </a:extLst>
          </p:cNvPr>
          <p:cNvSpPr>
            <a:spLocks xmlns:a="http://schemas.openxmlformats.org/drawingml/2006/main" noGrp="1"/>
          </p:cNvSpPr>
          <p:nvPr/>
        </p:nvSpPr>
        <p:spPr>
          <a:xfrm xmlns:a="http://schemas.openxmlformats.org/drawingml/2006/main">
            <a:off x="619125" y="5810250"/>
            <a:ext cx="1023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D3E0D5"/>
                </a:solidFill>
                <a:latin typeface="Arial"/>
                <a:ea typeface="Arial"/>
                <a:cs typeface="Arial"/>
              </a:defRPr>
            </a:defPPr>
            <a:lvl1pPr>
              <a:defRPr sz="1425" b="0">
                <a:solidFill>
                  <a:srgbClr val="D3E0D5"/>
                </a:solidFill>
                <a:latin typeface="Arial"/>
                <a:ea typeface="Arial"/>
                <a:cs typeface="Arial"/>
              </a:defRPr>
            </a:lvl1pPr>
            <a:lvl2pPr>
              <a:defRPr sz="1425" b="0">
                <a:solidFill>
                  <a:srgbClr val="D3E0D5"/>
                </a:solidFill>
                <a:latin typeface="Arial"/>
                <a:ea typeface="Arial"/>
                <a:cs typeface="Arial"/>
              </a:defRPr>
            </a:lvl2pPr>
            <a:lvl3pPr>
              <a:defRPr sz="1425" b="0">
                <a:solidFill>
                  <a:srgbClr val="D3E0D5"/>
                </a:solidFill>
                <a:latin typeface="Arial"/>
                <a:ea typeface="Arial"/>
                <a:cs typeface="Arial"/>
              </a:defRPr>
            </a:lvl3pPr>
            <a:lvl4pPr>
              <a:defRPr sz="1425" b="0">
                <a:solidFill>
                  <a:srgbClr val="D3E0D5"/>
                </a:solidFill>
                <a:latin typeface="Arial"/>
                <a:ea typeface="Arial"/>
                <a:cs typeface="Arial"/>
              </a:defRPr>
            </a:lvl4pPr>
            <a:lvl5pPr>
              <a:defRPr sz="1425" b="0">
                <a:solidFill>
                  <a:srgbClr val="D3E0D5"/>
                </a:solidFill>
                <a:latin typeface="Arial"/>
                <a:ea typeface="Arial"/>
                <a:cs typeface="Arial"/>
              </a:defRPr>
            </a:lvl5pPr>
            <a:lvl6pPr>
              <a:defRPr sz="1425" b="0">
                <a:solidFill>
                  <a:srgbClr val="D3E0D5"/>
                </a:solidFill>
                <a:latin typeface="Arial"/>
                <a:ea typeface="Arial"/>
                <a:cs typeface="Arial"/>
              </a:defRPr>
            </a:lvl6pPr>
            <a:lvl7pPr>
              <a:defRPr sz="1425" b="0">
                <a:solidFill>
                  <a:srgbClr val="D3E0D5"/>
                </a:solidFill>
                <a:latin typeface="Arial"/>
                <a:ea typeface="Arial"/>
                <a:cs typeface="Arial"/>
              </a:defRPr>
            </a:lvl7pPr>
            <a:lvl8pPr>
              <a:defRPr sz="1425" b="0">
                <a:solidFill>
                  <a:srgbClr val="D3E0D5"/>
                </a:solidFill>
                <a:latin typeface="Arial"/>
                <a:ea typeface="Arial"/>
                <a:cs typeface="Arial"/>
              </a:defRPr>
            </a:lvl8pPr>
            <a:lvl9pPr>
              <a:defRPr sz="1425" b="0">
                <a:solidFill>
                  <a:srgbClr val="D3E0D5"/>
                </a:solidFill>
                <a:latin typeface="Arial"/>
                <a:ea typeface="Arial"/>
                <a:cs typeface="Arial"/>
              </a:defRPr>
            </a:lvl9pPr>
          </a:lstStyle>
          <a:p xmlns:a="http://schemas.openxmlformats.org/drawingml/2006/main">
            <a:pPr>
              <a:defRPr sz="1425" b="0">
                <a:solidFill>
                  <a:srgbClr val="D3E0D5"/>
                </a:solidFill>
                <a:latin typeface="Arial"/>
                <a:ea typeface="Arial"/>
                <a:cs typeface="Arial"/>
              </a:defRPr>
            </a:pPr>
            <a:r>
              <a:rPr sz="1425" b="0">
                <a:solidFill>
                  <a:srgbClr val="D3E0D5"/>
                </a:solidFill>
                <a:latin typeface="Arial"/>
                <a:ea typeface="Arial"/>
                <a:cs typeface="Arial"/>
              </a:rPr>
              <a:t>Team estimate. The stated payback is illustrative and has not been field-validated.</a:t>
            </a:r>
          </a:p>
        </p:txBody>
      </p:sp>
    </p:spTree>
    <p:extLst>
      <p:ext uri="{BB962C8B-B14F-4D97-AF65-F5344CB8AC3E}">
        <p14:creationId xmlns:p14="http://schemas.microsoft.com/office/powerpoint/2010/main" val="2108566835"/>
      </p:ext>
    </p:extLst>
  </p:cSld>
</p:sld>
</file>

<file path=ppt/slides/slide10.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0BBE501-01D5-41C9-8654-FBE32A7413A4}"/>
              </a:ext>
            </a:extLst>
          </p:cNvPr>
          <p:cNvPicPr>
            <a:picLocks xmlns:a="http://schemas.openxmlformats.org/drawingml/2006/main" noChangeAspect="1"/>
          </p:cNvPicPr>
          <p:nvPr/>
        </p:nvPicPr>
        <p:blipFill>
          <a:blip xmlns:r="http://schemas.openxmlformats.org/officeDocument/2006/relationships" xmlns:a="http://schemas.openxmlformats.org/drawingml/2006/main" r:embed="Re28558ae5100454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hy would a fish farmer buy the pond-aeration version?">
            <a:extLst xmlns:a="http://schemas.openxmlformats.org/drawingml/2006/main">
              <a:ext uri="{FF2B5EF4-FFF2-40B4-BE49-F238E27FC236}">
                <a16:creationId xmlns:a16="http://schemas.microsoft.com/office/drawing/2014/main" id="{E7535413-9465-4104-AAD1-38F2E9F1A7B3}"/>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F24"/>
                </a:solidFill>
                <a:latin typeface="Arial"/>
                <a:ea typeface="Arial"/>
                <a:cs typeface="Arial"/>
              </a:defRPr>
            </a:defPPr>
            <a:lvl1pPr>
              <a:defRPr sz="3225" b="1">
                <a:solidFill>
                  <a:srgbClr val="102F24"/>
                </a:solidFill>
                <a:latin typeface="Arial"/>
                <a:ea typeface="Arial"/>
                <a:cs typeface="Arial"/>
              </a:defRPr>
            </a:lvl1pPr>
            <a:lvl2pPr>
              <a:defRPr sz="3225" b="1">
                <a:solidFill>
                  <a:srgbClr val="102F24"/>
                </a:solidFill>
                <a:latin typeface="Arial"/>
                <a:ea typeface="Arial"/>
                <a:cs typeface="Arial"/>
              </a:defRPr>
            </a:lvl2pPr>
            <a:lvl3pPr>
              <a:defRPr sz="3225" b="1">
                <a:solidFill>
                  <a:srgbClr val="102F24"/>
                </a:solidFill>
                <a:latin typeface="Arial"/>
                <a:ea typeface="Arial"/>
                <a:cs typeface="Arial"/>
              </a:defRPr>
            </a:lvl3pPr>
            <a:lvl4pPr>
              <a:defRPr sz="3225" b="1">
                <a:solidFill>
                  <a:srgbClr val="102F24"/>
                </a:solidFill>
                <a:latin typeface="Arial"/>
                <a:ea typeface="Arial"/>
                <a:cs typeface="Arial"/>
              </a:defRPr>
            </a:lvl4pPr>
            <a:lvl5pPr>
              <a:defRPr sz="3225" b="1">
                <a:solidFill>
                  <a:srgbClr val="102F24"/>
                </a:solidFill>
                <a:latin typeface="Arial"/>
                <a:ea typeface="Arial"/>
                <a:cs typeface="Arial"/>
              </a:defRPr>
            </a:lvl5pPr>
            <a:lvl6pPr>
              <a:defRPr sz="3225" b="1">
                <a:solidFill>
                  <a:srgbClr val="102F24"/>
                </a:solidFill>
                <a:latin typeface="Arial"/>
                <a:ea typeface="Arial"/>
                <a:cs typeface="Arial"/>
              </a:defRPr>
            </a:lvl6pPr>
            <a:lvl7pPr>
              <a:defRPr sz="3225" b="1">
                <a:solidFill>
                  <a:srgbClr val="102F24"/>
                </a:solidFill>
                <a:latin typeface="Arial"/>
                <a:ea typeface="Arial"/>
                <a:cs typeface="Arial"/>
              </a:defRPr>
            </a:lvl7pPr>
            <a:lvl8pPr>
              <a:defRPr sz="3225" b="1">
                <a:solidFill>
                  <a:srgbClr val="102F24"/>
                </a:solidFill>
                <a:latin typeface="Arial"/>
                <a:ea typeface="Arial"/>
                <a:cs typeface="Arial"/>
              </a:defRPr>
            </a:lvl8pPr>
            <a:lvl9pPr>
              <a:defRPr sz="3225" b="1">
                <a:solidFill>
                  <a:srgbClr val="102F24"/>
                </a:solidFill>
                <a:latin typeface="Arial"/>
                <a:ea typeface="Arial"/>
                <a:cs typeface="Arial"/>
              </a:defRPr>
            </a:lvl9pPr>
          </a:lstStyle>
          <a:p xmlns:a="http://schemas.openxmlformats.org/drawingml/2006/main">
            <a:pPr>
              <a:defRPr sz="3225" b="1">
                <a:solidFill>
                  <a:srgbClr val="102F24"/>
                </a:solidFill>
                <a:latin typeface="Arial"/>
                <a:ea typeface="Arial"/>
                <a:cs typeface="Arial"/>
              </a:defRPr>
            </a:pPr>
            <a:r>
              <a:rPr sz="3225" b="1">
                <a:solidFill>
                  <a:srgbClr val="102F24"/>
                </a:solidFill>
                <a:latin typeface="Arial"/>
                <a:ea typeface="Arial"/>
                <a:cs typeface="Arial"/>
              </a:rPr>
              <a:t>Why would a fish farmer buy the pond-aeration version?</a:t>
            </a:r>
          </a:p>
        </p:txBody>
      </p:sp>
      <p:sp>
        <p:nvSpPr>
          <p:cNvPr id="4" name="10">
            <a:extLst xmlns:a="http://schemas.openxmlformats.org/drawingml/2006/main">
              <a:ext uri="{FF2B5EF4-FFF2-40B4-BE49-F238E27FC236}">
                <a16:creationId xmlns:a16="http://schemas.microsoft.com/office/drawing/2014/main" id="{E8F04F9D-44FB-40A5-BB5F-BE781F339051}"/>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10</a:t>
            </a:r>
          </a:p>
        </p:txBody>
      </p:sp>
      <p:sp>
        <p:nvSpPr>
          <p:cNvPr id="5" name="FAQ">
            <a:extLst xmlns:a="http://schemas.openxmlformats.org/drawingml/2006/main">
              <a:ext uri="{FF2B5EF4-FFF2-40B4-BE49-F238E27FC236}">
                <a16:creationId xmlns:a16="http://schemas.microsoft.com/office/drawing/2014/main" id="{B1B23772-2166-4A6C-8B59-A697F815E367}"/>
              </a:ext>
            </a:extLst>
          </p:cNvPr>
          <p:cNvSpPr>
            <a:spLocks xmlns:a="http://schemas.openxmlformats.org/drawingml/2006/main" noGrp="1"/>
          </p:cNvSpPr>
          <p:nvPr/>
        </p:nvSpPr>
        <p:spPr>
          <a:xfrm xmlns:a="http://schemas.openxmlformats.org/drawingml/2006/main">
            <a:off x="619125" y="157162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405B4E"/>
                </a:solidFill>
                <a:latin typeface="Arial"/>
                <a:ea typeface="Arial"/>
                <a:cs typeface="Arial"/>
              </a:defRPr>
            </a:defPPr>
            <a:lvl1pPr>
              <a:defRPr sz="1875" b="1">
                <a:solidFill>
                  <a:srgbClr val="405B4E"/>
                </a:solidFill>
                <a:latin typeface="Arial"/>
                <a:ea typeface="Arial"/>
                <a:cs typeface="Arial"/>
              </a:defRPr>
            </a:lvl1pPr>
            <a:lvl2pPr>
              <a:defRPr sz="1875" b="1">
                <a:solidFill>
                  <a:srgbClr val="405B4E"/>
                </a:solidFill>
                <a:latin typeface="Arial"/>
                <a:ea typeface="Arial"/>
                <a:cs typeface="Arial"/>
              </a:defRPr>
            </a:lvl2pPr>
            <a:lvl3pPr>
              <a:defRPr sz="1875" b="1">
                <a:solidFill>
                  <a:srgbClr val="405B4E"/>
                </a:solidFill>
                <a:latin typeface="Arial"/>
                <a:ea typeface="Arial"/>
                <a:cs typeface="Arial"/>
              </a:defRPr>
            </a:lvl3pPr>
            <a:lvl4pPr>
              <a:defRPr sz="1875" b="1">
                <a:solidFill>
                  <a:srgbClr val="405B4E"/>
                </a:solidFill>
                <a:latin typeface="Arial"/>
                <a:ea typeface="Arial"/>
                <a:cs typeface="Arial"/>
              </a:defRPr>
            </a:lvl4pPr>
            <a:lvl5pPr>
              <a:defRPr sz="1875" b="1">
                <a:solidFill>
                  <a:srgbClr val="405B4E"/>
                </a:solidFill>
                <a:latin typeface="Arial"/>
                <a:ea typeface="Arial"/>
                <a:cs typeface="Arial"/>
              </a:defRPr>
            </a:lvl5pPr>
            <a:lvl6pPr>
              <a:defRPr sz="1875" b="1">
                <a:solidFill>
                  <a:srgbClr val="405B4E"/>
                </a:solidFill>
                <a:latin typeface="Arial"/>
                <a:ea typeface="Arial"/>
                <a:cs typeface="Arial"/>
              </a:defRPr>
            </a:lvl6pPr>
            <a:lvl7pPr>
              <a:defRPr sz="1875" b="1">
                <a:solidFill>
                  <a:srgbClr val="405B4E"/>
                </a:solidFill>
                <a:latin typeface="Arial"/>
                <a:ea typeface="Arial"/>
                <a:cs typeface="Arial"/>
              </a:defRPr>
            </a:lvl7pPr>
            <a:lvl8pPr>
              <a:defRPr sz="1875" b="1">
                <a:solidFill>
                  <a:srgbClr val="405B4E"/>
                </a:solidFill>
                <a:latin typeface="Arial"/>
                <a:ea typeface="Arial"/>
                <a:cs typeface="Arial"/>
              </a:defRPr>
            </a:lvl8pPr>
            <a:lvl9pPr>
              <a:defRPr sz="1875" b="1">
                <a:solidFill>
                  <a:srgbClr val="405B4E"/>
                </a:solidFill>
                <a:latin typeface="Arial"/>
                <a:ea typeface="Arial"/>
                <a:cs typeface="Arial"/>
              </a:defRPr>
            </a:lvl9pPr>
          </a:lstStyle>
          <a:p xmlns:a="http://schemas.openxmlformats.org/drawingml/2006/main">
            <a:pPr>
              <a:defRPr sz="1875" b="1">
                <a:solidFill>
                  <a:srgbClr val="405B4E"/>
                </a:solidFill>
                <a:latin typeface="Arial"/>
                <a:ea typeface="Arial"/>
                <a:cs typeface="Arial"/>
              </a:defRPr>
            </a:pPr>
            <a:r>
              <a:rPr sz="1875" b="1">
                <a:solidFill>
                  <a:srgbClr val="405B4E"/>
                </a:solidFill>
                <a:latin typeface="Arial"/>
                <a:ea typeface="Arial"/>
                <a:cs typeface="Arial"/>
              </a:rPr>
              <a:t>FAQ</a:t>
            </a:r>
          </a:p>
        </p:txBody>
      </p:sp>
      <p:sp>
        <p:nvSpPr>
          <p:cNvPr id="6" name="Our initial aim is supplementary aeration that reduces some powered op">
            <a:extLst xmlns:a="http://schemas.openxmlformats.org/drawingml/2006/main">
              <a:ext uri="{FF2B5EF4-FFF2-40B4-BE49-F238E27FC236}">
                <a16:creationId xmlns:a16="http://schemas.microsoft.com/office/drawing/2014/main" id="{53B0C3C7-6C15-4B6C-A494-AC3C19CB7746}"/>
              </a:ext>
            </a:extLst>
          </p:cNvPr>
          <p:cNvSpPr>
            <a:spLocks xmlns:a="http://schemas.openxmlformats.org/drawingml/2006/main" noGrp="1"/>
          </p:cNvSpPr>
          <p:nvPr/>
        </p:nvSpPr>
        <p:spPr>
          <a:xfrm xmlns:a="http://schemas.openxmlformats.org/drawingml/2006/main">
            <a:off x="619125" y="2085975"/>
            <a:ext cx="10620375"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02F24"/>
                </a:solidFill>
                <a:latin typeface="Nirmala UI"/>
                <a:ea typeface="Nirmala UI"/>
                <a:cs typeface="Nirmala UI"/>
              </a:defRPr>
            </a:defPPr>
            <a:lvl1pPr>
              <a:defRPr sz="1950" b="0">
                <a:solidFill>
                  <a:srgbClr val="102F24"/>
                </a:solidFill>
                <a:latin typeface="Nirmala UI"/>
                <a:ea typeface="Nirmala UI"/>
                <a:cs typeface="Nirmala UI"/>
              </a:defRPr>
            </a:lvl1pPr>
            <a:lvl2pPr>
              <a:defRPr sz="1950" b="0">
                <a:solidFill>
                  <a:srgbClr val="102F24"/>
                </a:solidFill>
                <a:latin typeface="Nirmala UI"/>
                <a:ea typeface="Nirmala UI"/>
                <a:cs typeface="Nirmala UI"/>
              </a:defRPr>
            </a:lvl2pPr>
            <a:lvl3pPr>
              <a:defRPr sz="1950" b="0">
                <a:solidFill>
                  <a:srgbClr val="102F24"/>
                </a:solidFill>
                <a:latin typeface="Nirmala UI"/>
                <a:ea typeface="Nirmala UI"/>
                <a:cs typeface="Nirmala UI"/>
              </a:defRPr>
            </a:lvl3pPr>
            <a:lvl4pPr>
              <a:defRPr sz="1950" b="0">
                <a:solidFill>
                  <a:srgbClr val="102F24"/>
                </a:solidFill>
                <a:latin typeface="Nirmala UI"/>
                <a:ea typeface="Nirmala UI"/>
                <a:cs typeface="Nirmala UI"/>
              </a:defRPr>
            </a:lvl4pPr>
            <a:lvl5pPr>
              <a:defRPr sz="1950" b="0">
                <a:solidFill>
                  <a:srgbClr val="102F24"/>
                </a:solidFill>
                <a:latin typeface="Nirmala UI"/>
                <a:ea typeface="Nirmala UI"/>
                <a:cs typeface="Nirmala UI"/>
              </a:defRPr>
            </a:lvl5pPr>
            <a:lvl6pPr>
              <a:defRPr sz="1950" b="0">
                <a:solidFill>
                  <a:srgbClr val="102F24"/>
                </a:solidFill>
                <a:latin typeface="Nirmala UI"/>
                <a:ea typeface="Nirmala UI"/>
                <a:cs typeface="Nirmala UI"/>
              </a:defRPr>
            </a:lvl6pPr>
            <a:lvl7pPr>
              <a:defRPr sz="1950" b="0">
                <a:solidFill>
                  <a:srgbClr val="102F24"/>
                </a:solidFill>
                <a:latin typeface="Nirmala UI"/>
                <a:ea typeface="Nirmala UI"/>
                <a:cs typeface="Nirmala UI"/>
              </a:defRPr>
            </a:lvl7pPr>
            <a:lvl8pPr>
              <a:defRPr sz="1950" b="0">
                <a:solidFill>
                  <a:srgbClr val="102F24"/>
                </a:solidFill>
                <a:latin typeface="Nirmala UI"/>
                <a:ea typeface="Nirmala UI"/>
                <a:cs typeface="Nirmala UI"/>
              </a:defRPr>
            </a:lvl8pPr>
            <a:lvl9pPr>
              <a:defRPr sz="1950" b="0">
                <a:solidFill>
                  <a:srgbClr val="102F24"/>
                </a:solidFill>
                <a:latin typeface="Nirmala UI"/>
                <a:ea typeface="Nirmala UI"/>
                <a:cs typeface="Nirmala UI"/>
              </a:defRPr>
            </a:lvl9pPr>
          </a:lstStyle>
          <a:p xmlns:a="http://schemas.openxmlformats.org/drawingml/2006/main">
            <a:pPr>
              <a:defRPr sz="1950" b="0">
                <a:solidFill>
                  <a:srgbClr val="102F24"/>
                </a:solidFill>
                <a:latin typeface="Nirmala UI"/>
                <a:ea typeface="Nirmala UI"/>
                <a:cs typeface="Nirmala UI"/>
              </a:defRPr>
            </a:pPr>
            <a:r>
              <a:rPr sz="1950" b="0">
                <a:solidFill>
                  <a:srgbClr val="102F24"/>
                </a:solidFill>
                <a:latin typeface="Nirmala UI"/>
                <a:ea typeface="Nirmala UI"/>
                <a:cs typeface="Nirmala UI"/>
              </a:rPr>
              <a:t>Our initial aim is supplementary aeration that reduces some powered operation. For example, an aerator drawing 1.5 kW for eight hours daily , at ৳10 per unit , costs roughly ৳3,600 monthly or ৳43,200 annually . If a ৳10,000 installed wind add-on demonstrably reduces that electricity by 20% while maintaining pond oxygen , it saves ৳8,640 annually , giving about 1.2 years’ simple payback before maintenance . But if it can meetup the demand, it is so much budget friendly . From this website, https://nscbd.com/4-paddle-wheel-aerator-2hp-price-in-bangladesh/ we found that Paddle wheel aerator price is 41k, while our zero watt wind is only 6.5k and it don’t draw any electricity either. So, if one of them isn’t enough to meet the demand, fish farmer can buy multiple of them. Our system is not a replacement of the natural ventilation, it’s a complementary solution which can increase the flow rapidly at a very low cost and sustain energy as well.</a:t>
            </a:r>
          </a:p>
        </p:txBody>
      </p:sp>
      <p:sp>
        <p:nvSpPr>
          <p:cNvPr id="7" name="Illustrative scenario. Supplier prices are unverified, and oxygen perf">
            <a:extLst xmlns:a="http://schemas.openxmlformats.org/drawingml/2006/main">
              <a:ext uri="{FF2B5EF4-FFF2-40B4-BE49-F238E27FC236}">
                <a16:creationId xmlns:a16="http://schemas.microsoft.com/office/drawing/2014/main" id="{57C69CE9-6957-462B-8DC4-BBF1DB3B3F0C}"/>
              </a:ext>
            </a:extLst>
          </p:cNvPr>
          <p:cNvSpPr>
            <a:spLocks xmlns:a="http://schemas.openxmlformats.org/drawingml/2006/main" noGrp="1"/>
          </p:cNvSpPr>
          <p:nvPr/>
        </p:nvSpPr>
        <p:spPr>
          <a:xfrm xmlns:a="http://schemas.openxmlformats.org/drawingml/2006/main">
            <a:off x="619125" y="581025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05B4E"/>
                </a:solidFill>
                <a:latin typeface="Arial"/>
                <a:ea typeface="Arial"/>
                <a:cs typeface="Arial"/>
              </a:defRPr>
            </a:defPPr>
            <a:lvl1pPr>
              <a:defRPr sz="1350" b="0">
                <a:solidFill>
                  <a:srgbClr val="405B4E"/>
                </a:solidFill>
                <a:latin typeface="Arial"/>
                <a:ea typeface="Arial"/>
                <a:cs typeface="Arial"/>
              </a:defRPr>
            </a:lvl1pPr>
            <a:lvl2pPr>
              <a:defRPr sz="1350" b="0">
                <a:solidFill>
                  <a:srgbClr val="405B4E"/>
                </a:solidFill>
                <a:latin typeface="Arial"/>
                <a:ea typeface="Arial"/>
                <a:cs typeface="Arial"/>
              </a:defRPr>
            </a:lvl2pPr>
            <a:lvl3pPr>
              <a:defRPr sz="1350" b="0">
                <a:solidFill>
                  <a:srgbClr val="405B4E"/>
                </a:solidFill>
                <a:latin typeface="Arial"/>
                <a:ea typeface="Arial"/>
                <a:cs typeface="Arial"/>
              </a:defRPr>
            </a:lvl3pPr>
            <a:lvl4pPr>
              <a:defRPr sz="1350" b="0">
                <a:solidFill>
                  <a:srgbClr val="405B4E"/>
                </a:solidFill>
                <a:latin typeface="Arial"/>
                <a:ea typeface="Arial"/>
                <a:cs typeface="Arial"/>
              </a:defRPr>
            </a:lvl4pPr>
            <a:lvl5pPr>
              <a:defRPr sz="1350" b="0">
                <a:solidFill>
                  <a:srgbClr val="405B4E"/>
                </a:solidFill>
                <a:latin typeface="Arial"/>
                <a:ea typeface="Arial"/>
                <a:cs typeface="Arial"/>
              </a:defRPr>
            </a:lvl5pPr>
            <a:lvl6pPr>
              <a:defRPr sz="1350" b="0">
                <a:solidFill>
                  <a:srgbClr val="405B4E"/>
                </a:solidFill>
                <a:latin typeface="Arial"/>
                <a:ea typeface="Arial"/>
                <a:cs typeface="Arial"/>
              </a:defRPr>
            </a:lvl6pPr>
            <a:lvl7pPr>
              <a:defRPr sz="1350" b="0">
                <a:solidFill>
                  <a:srgbClr val="405B4E"/>
                </a:solidFill>
                <a:latin typeface="Arial"/>
                <a:ea typeface="Arial"/>
                <a:cs typeface="Arial"/>
              </a:defRPr>
            </a:lvl7pPr>
            <a:lvl8pPr>
              <a:defRPr sz="1350" b="0">
                <a:solidFill>
                  <a:srgbClr val="405B4E"/>
                </a:solidFill>
                <a:latin typeface="Arial"/>
                <a:ea typeface="Arial"/>
                <a:cs typeface="Arial"/>
              </a:defRPr>
            </a:lvl8pPr>
            <a:lvl9pPr>
              <a:defRPr sz="1350" b="0">
                <a:solidFill>
                  <a:srgbClr val="405B4E"/>
                </a:solidFill>
                <a:latin typeface="Arial"/>
                <a:ea typeface="Arial"/>
                <a:cs typeface="Arial"/>
              </a:defRPr>
            </a:lvl9pPr>
          </a:lstStyle>
          <a:p xmlns:a="http://schemas.openxmlformats.org/drawingml/2006/main">
            <a:pPr>
              <a:defRPr sz="1350" b="0">
                <a:solidFill>
                  <a:srgbClr val="405B4E"/>
                </a:solidFill>
                <a:latin typeface="Arial"/>
                <a:ea typeface="Arial"/>
                <a:cs typeface="Arial"/>
              </a:defRPr>
            </a:pPr>
            <a:r>
              <a:rPr sz="1350" b="0">
                <a:solidFill>
                  <a:srgbClr val="405B4E"/>
                </a:solidFill>
                <a:latin typeface="Arial"/>
                <a:ea typeface="Arial"/>
                <a:cs typeface="Arial"/>
              </a:rPr>
              <a:t>Illustrative scenario. Supplier prices are unverified, and oxygen performance still requires testing.</a:t>
            </a:r>
          </a:p>
        </p:txBody>
      </p:sp>
    </p:spTree>
    <p:extLst>
      <p:ext uri="{BB962C8B-B14F-4D97-AF65-F5344CB8AC3E}">
        <p14:creationId xmlns:p14="http://schemas.microsoft.com/office/powerpoint/2010/main" val="1431099433"/>
      </p:ext>
    </p:extLst>
  </p:cSld>
</p:sld>
</file>

<file path=ppt/slides/slide11.xml><?xml version="1.0" encoding="utf-8"?>
<p:sld xmlns:p="http://schemas.openxmlformats.org/presentationml/2006/main">
  <p:cSld>
    <p:bg>
      <p:bgPr>
        <a:solidFill xmlns:a="http://schemas.openxmlformats.org/drawingml/2006/main">
          <a:srgbClr val="102C23"/>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2573F02-7820-46EB-B208-6980F08FF1A2}"/>
              </a:ext>
            </a:extLst>
          </p:cNvPr>
          <p:cNvPicPr>
            <a:picLocks xmlns:a="http://schemas.openxmlformats.org/drawingml/2006/main" noChangeAspect="1"/>
          </p:cNvPicPr>
          <p:nvPr/>
        </p:nvPicPr>
        <p:blipFill>
          <a:blip xmlns:r="http://schemas.openxmlformats.org/officeDocument/2006/relationships" xmlns:a="http://schemas.openxmlformats.org/drawingml/2006/main" r:embed="R9e97a59ba1514ed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e are Team ZeroWatt Wind">
            <a:extLst xmlns:a="http://schemas.openxmlformats.org/drawingml/2006/main">
              <a:ext uri="{FF2B5EF4-FFF2-40B4-BE49-F238E27FC236}">
                <a16:creationId xmlns:a16="http://schemas.microsoft.com/office/drawing/2014/main" id="{5298565C-0EFB-451B-ABA0-4CFF47D9BA8C}"/>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4F3EB"/>
                </a:solidFill>
                <a:latin typeface="Arial"/>
                <a:ea typeface="Arial"/>
                <a:cs typeface="Arial"/>
              </a:defRPr>
            </a:defPPr>
            <a:lvl1pPr>
              <a:defRPr sz="3225" b="1">
                <a:solidFill>
                  <a:srgbClr val="F4F3EB"/>
                </a:solidFill>
                <a:latin typeface="Arial"/>
                <a:ea typeface="Arial"/>
                <a:cs typeface="Arial"/>
              </a:defRPr>
            </a:lvl1pPr>
            <a:lvl2pPr>
              <a:defRPr sz="3225" b="1">
                <a:solidFill>
                  <a:srgbClr val="F4F3EB"/>
                </a:solidFill>
                <a:latin typeface="Arial"/>
                <a:ea typeface="Arial"/>
                <a:cs typeface="Arial"/>
              </a:defRPr>
            </a:lvl2pPr>
            <a:lvl3pPr>
              <a:defRPr sz="3225" b="1">
                <a:solidFill>
                  <a:srgbClr val="F4F3EB"/>
                </a:solidFill>
                <a:latin typeface="Arial"/>
                <a:ea typeface="Arial"/>
                <a:cs typeface="Arial"/>
              </a:defRPr>
            </a:lvl3pPr>
            <a:lvl4pPr>
              <a:defRPr sz="3225" b="1">
                <a:solidFill>
                  <a:srgbClr val="F4F3EB"/>
                </a:solidFill>
                <a:latin typeface="Arial"/>
                <a:ea typeface="Arial"/>
                <a:cs typeface="Arial"/>
              </a:defRPr>
            </a:lvl4pPr>
            <a:lvl5pPr>
              <a:defRPr sz="3225" b="1">
                <a:solidFill>
                  <a:srgbClr val="F4F3EB"/>
                </a:solidFill>
                <a:latin typeface="Arial"/>
                <a:ea typeface="Arial"/>
                <a:cs typeface="Arial"/>
              </a:defRPr>
            </a:lvl5pPr>
            <a:lvl6pPr>
              <a:defRPr sz="3225" b="1">
                <a:solidFill>
                  <a:srgbClr val="F4F3EB"/>
                </a:solidFill>
                <a:latin typeface="Arial"/>
                <a:ea typeface="Arial"/>
                <a:cs typeface="Arial"/>
              </a:defRPr>
            </a:lvl6pPr>
            <a:lvl7pPr>
              <a:defRPr sz="3225" b="1">
                <a:solidFill>
                  <a:srgbClr val="F4F3EB"/>
                </a:solidFill>
                <a:latin typeface="Arial"/>
                <a:ea typeface="Arial"/>
                <a:cs typeface="Arial"/>
              </a:defRPr>
            </a:lvl7pPr>
            <a:lvl8pPr>
              <a:defRPr sz="3225" b="1">
                <a:solidFill>
                  <a:srgbClr val="F4F3EB"/>
                </a:solidFill>
                <a:latin typeface="Arial"/>
                <a:ea typeface="Arial"/>
                <a:cs typeface="Arial"/>
              </a:defRPr>
            </a:lvl8pPr>
            <a:lvl9pPr>
              <a:defRPr sz="3225" b="1">
                <a:solidFill>
                  <a:srgbClr val="F4F3EB"/>
                </a:solidFill>
                <a:latin typeface="Arial"/>
                <a:ea typeface="Arial"/>
                <a:cs typeface="Arial"/>
              </a:defRPr>
            </a:lvl9pPr>
          </a:lstStyle>
          <a:p xmlns:a="http://schemas.openxmlformats.org/drawingml/2006/main">
            <a:pPr>
              <a:defRPr sz="3225" b="1">
                <a:solidFill>
                  <a:srgbClr val="F4F3EB"/>
                </a:solidFill>
                <a:latin typeface="Arial"/>
                <a:ea typeface="Arial"/>
                <a:cs typeface="Arial"/>
              </a:defRPr>
            </a:pPr>
            <a:r>
              <a:rPr sz="3225" b="1">
                <a:solidFill>
                  <a:srgbClr val="F4F3EB"/>
                </a:solidFill>
                <a:latin typeface="Arial"/>
                <a:ea typeface="Arial"/>
                <a:cs typeface="Arial"/>
              </a:rPr>
              <a:t>We are Team ZeroWatt Wind</a:t>
            </a:r>
          </a:p>
        </p:txBody>
      </p:sp>
      <p:sp>
        <p:nvSpPr>
          <p:cNvPr id="4" name="11">
            <a:extLst xmlns:a="http://schemas.openxmlformats.org/drawingml/2006/main">
              <a:ext uri="{FF2B5EF4-FFF2-40B4-BE49-F238E27FC236}">
                <a16:creationId xmlns:a16="http://schemas.microsoft.com/office/drawing/2014/main" id="{261B60AF-B77C-49F5-9AB3-DDD6F9CB4458}"/>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3E0D5"/>
                </a:solidFill>
                <a:latin typeface="Arial"/>
                <a:ea typeface="Arial"/>
                <a:cs typeface="Arial"/>
              </a:defRPr>
            </a:defPPr>
            <a:lvl1pPr>
              <a:defRPr sz="1275" b="0">
                <a:solidFill>
                  <a:srgbClr val="D3E0D5"/>
                </a:solidFill>
                <a:latin typeface="Arial"/>
                <a:ea typeface="Arial"/>
                <a:cs typeface="Arial"/>
              </a:defRPr>
            </a:lvl1pPr>
            <a:lvl2pPr>
              <a:defRPr sz="1275" b="0">
                <a:solidFill>
                  <a:srgbClr val="D3E0D5"/>
                </a:solidFill>
                <a:latin typeface="Arial"/>
                <a:ea typeface="Arial"/>
                <a:cs typeface="Arial"/>
              </a:defRPr>
            </a:lvl2pPr>
            <a:lvl3pPr>
              <a:defRPr sz="1275" b="0">
                <a:solidFill>
                  <a:srgbClr val="D3E0D5"/>
                </a:solidFill>
                <a:latin typeface="Arial"/>
                <a:ea typeface="Arial"/>
                <a:cs typeface="Arial"/>
              </a:defRPr>
            </a:lvl3pPr>
            <a:lvl4pPr>
              <a:defRPr sz="1275" b="0">
                <a:solidFill>
                  <a:srgbClr val="D3E0D5"/>
                </a:solidFill>
                <a:latin typeface="Arial"/>
                <a:ea typeface="Arial"/>
                <a:cs typeface="Arial"/>
              </a:defRPr>
            </a:lvl4pPr>
            <a:lvl5pPr>
              <a:defRPr sz="1275" b="0">
                <a:solidFill>
                  <a:srgbClr val="D3E0D5"/>
                </a:solidFill>
                <a:latin typeface="Arial"/>
                <a:ea typeface="Arial"/>
                <a:cs typeface="Arial"/>
              </a:defRPr>
            </a:lvl5pPr>
            <a:lvl6pPr>
              <a:defRPr sz="1275" b="0">
                <a:solidFill>
                  <a:srgbClr val="D3E0D5"/>
                </a:solidFill>
                <a:latin typeface="Arial"/>
                <a:ea typeface="Arial"/>
                <a:cs typeface="Arial"/>
              </a:defRPr>
            </a:lvl6pPr>
            <a:lvl7pPr>
              <a:defRPr sz="1275" b="0">
                <a:solidFill>
                  <a:srgbClr val="D3E0D5"/>
                </a:solidFill>
                <a:latin typeface="Arial"/>
                <a:ea typeface="Arial"/>
                <a:cs typeface="Arial"/>
              </a:defRPr>
            </a:lvl7pPr>
            <a:lvl8pPr>
              <a:defRPr sz="1275" b="0">
                <a:solidFill>
                  <a:srgbClr val="D3E0D5"/>
                </a:solidFill>
                <a:latin typeface="Arial"/>
                <a:ea typeface="Arial"/>
                <a:cs typeface="Arial"/>
              </a:defRPr>
            </a:lvl8pPr>
            <a:lvl9pPr>
              <a:defRPr sz="1275" b="0">
                <a:solidFill>
                  <a:srgbClr val="D3E0D5"/>
                </a:solidFill>
                <a:latin typeface="Arial"/>
                <a:ea typeface="Arial"/>
                <a:cs typeface="Arial"/>
              </a:defRPr>
            </a:lvl9pPr>
          </a:lstStyle>
          <a:p xmlns:a="http://schemas.openxmlformats.org/drawingml/2006/main">
            <a:pPr>
              <a:defRPr sz="1275" b="0">
                <a:solidFill>
                  <a:srgbClr val="D3E0D5"/>
                </a:solidFill>
                <a:latin typeface="Arial"/>
                <a:ea typeface="Arial"/>
                <a:cs typeface="Arial"/>
              </a:defRPr>
            </a:pPr>
            <a:r>
              <a:rPr sz="1275" b="0">
                <a:solidFill>
                  <a:srgbClr val="D3E0D5"/>
                </a:solidFill>
                <a:latin typeface="Arial"/>
                <a:ea typeface="Arial"/>
                <a:cs typeface="Arial"/>
              </a:rPr>
              <a:t>11</a:t>
            </a:r>
          </a:p>
        </p:txBody>
      </p:sp>
      <p:sp>
        <p:nvSpPr>
          <p:cNvPr id="5" name="Islamic University of Technology">
            <a:extLst xmlns:a="http://schemas.openxmlformats.org/drawingml/2006/main">
              <a:ext uri="{FF2B5EF4-FFF2-40B4-BE49-F238E27FC236}">
                <a16:creationId xmlns:a16="http://schemas.microsoft.com/office/drawing/2014/main" id="{11ABDFA6-CEBB-4FBF-95BC-27F0775D56B0}"/>
              </a:ext>
            </a:extLst>
          </p:cNvPr>
          <p:cNvSpPr>
            <a:spLocks xmlns:a="http://schemas.openxmlformats.org/drawingml/2006/main" noGrp="1"/>
          </p:cNvSpPr>
          <p:nvPr/>
        </p:nvSpPr>
        <p:spPr>
          <a:xfrm xmlns:a="http://schemas.openxmlformats.org/drawingml/2006/main">
            <a:off x="619125" y="15811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D6F39B"/>
                </a:solidFill>
                <a:latin typeface="Arial"/>
                <a:ea typeface="Arial"/>
                <a:cs typeface="Arial"/>
              </a:defRPr>
            </a:defPPr>
            <a:lvl1pPr>
              <a:defRPr sz="2550" b="0">
                <a:solidFill>
                  <a:srgbClr val="D6F39B"/>
                </a:solidFill>
                <a:latin typeface="Arial"/>
                <a:ea typeface="Arial"/>
                <a:cs typeface="Arial"/>
              </a:defRPr>
            </a:lvl1pPr>
            <a:lvl2pPr>
              <a:defRPr sz="2550" b="0">
                <a:solidFill>
                  <a:srgbClr val="D6F39B"/>
                </a:solidFill>
                <a:latin typeface="Arial"/>
                <a:ea typeface="Arial"/>
                <a:cs typeface="Arial"/>
              </a:defRPr>
            </a:lvl2pPr>
            <a:lvl3pPr>
              <a:defRPr sz="2550" b="0">
                <a:solidFill>
                  <a:srgbClr val="D6F39B"/>
                </a:solidFill>
                <a:latin typeface="Arial"/>
                <a:ea typeface="Arial"/>
                <a:cs typeface="Arial"/>
              </a:defRPr>
            </a:lvl3pPr>
            <a:lvl4pPr>
              <a:defRPr sz="2550" b="0">
                <a:solidFill>
                  <a:srgbClr val="D6F39B"/>
                </a:solidFill>
                <a:latin typeface="Arial"/>
                <a:ea typeface="Arial"/>
                <a:cs typeface="Arial"/>
              </a:defRPr>
            </a:lvl4pPr>
            <a:lvl5pPr>
              <a:defRPr sz="2550" b="0">
                <a:solidFill>
                  <a:srgbClr val="D6F39B"/>
                </a:solidFill>
                <a:latin typeface="Arial"/>
                <a:ea typeface="Arial"/>
                <a:cs typeface="Arial"/>
              </a:defRPr>
            </a:lvl5pPr>
            <a:lvl6pPr>
              <a:defRPr sz="2550" b="0">
                <a:solidFill>
                  <a:srgbClr val="D6F39B"/>
                </a:solidFill>
                <a:latin typeface="Arial"/>
                <a:ea typeface="Arial"/>
                <a:cs typeface="Arial"/>
              </a:defRPr>
            </a:lvl6pPr>
            <a:lvl7pPr>
              <a:defRPr sz="2550" b="0">
                <a:solidFill>
                  <a:srgbClr val="D6F39B"/>
                </a:solidFill>
                <a:latin typeface="Arial"/>
                <a:ea typeface="Arial"/>
                <a:cs typeface="Arial"/>
              </a:defRPr>
            </a:lvl7pPr>
            <a:lvl8pPr>
              <a:defRPr sz="2550" b="0">
                <a:solidFill>
                  <a:srgbClr val="D6F39B"/>
                </a:solidFill>
                <a:latin typeface="Arial"/>
                <a:ea typeface="Arial"/>
                <a:cs typeface="Arial"/>
              </a:defRPr>
            </a:lvl8pPr>
            <a:lvl9pPr>
              <a:defRPr sz="2550" b="0">
                <a:solidFill>
                  <a:srgbClr val="D6F39B"/>
                </a:solidFill>
                <a:latin typeface="Arial"/>
                <a:ea typeface="Arial"/>
                <a:cs typeface="Arial"/>
              </a:defRPr>
            </a:lvl9pPr>
          </a:lstStyle>
          <a:p xmlns:a="http://schemas.openxmlformats.org/drawingml/2006/main">
            <a:pPr>
              <a:defRPr sz="2550" b="0">
                <a:solidFill>
                  <a:srgbClr val="D6F39B"/>
                </a:solidFill>
                <a:latin typeface="Arial"/>
                <a:ea typeface="Arial"/>
                <a:cs typeface="Arial"/>
              </a:defRPr>
            </a:pPr>
            <a:r>
              <a:rPr sz="2550" b="0">
                <a:solidFill>
                  <a:srgbClr val="D6F39B"/>
                </a:solidFill>
                <a:latin typeface="Arial"/>
                <a:ea typeface="Arial"/>
                <a:cs typeface="Arial"/>
              </a:rPr>
              <a:t>Islamic University of Technology</a:t>
            </a:r>
          </a:p>
        </p:txBody>
      </p:sp>
      <p:sp>
        <p:nvSpPr>
          <p:cNvPr id="6" name="IUT-OIC, Bangladesh">
            <a:extLst xmlns:a="http://schemas.openxmlformats.org/drawingml/2006/main">
              <a:ext uri="{FF2B5EF4-FFF2-40B4-BE49-F238E27FC236}">
                <a16:creationId xmlns:a16="http://schemas.microsoft.com/office/drawing/2014/main" id="{DB762D9E-8842-4B33-861D-22F0CC8101A2}"/>
              </a:ext>
            </a:extLst>
          </p:cNvPr>
          <p:cNvSpPr>
            <a:spLocks xmlns:a="http://schemas.openxmlformats.org/drawingml/2006/main" noGrp="1"/>
          </p:cNvSpPr>
          <p:nvPr/>
        </p:nvSpPr>
        <p:spPr>
          <a:xfrm xmlns:a="http://schemas.openxmlformats.org/drawingml/2006/main">
            <a:off x="619125" y="21145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3E0D5"/>
                </a:solidFill>
                <a:latin typeface="Arial"/>
                <a:ea typeface="Arial"/>
                <a:cs typeface="Arial"/>
              </a:defRPr>
            </a:defPPr>
            <a:lvl1pPr>
              <a:defRPr sz="1950" b="0">
                <a:solidFill>
                  <a:srgbClr val="D3E0D5"/>
                </a:solidFill>
                <a:latin typeface="Arial"/>
                <a:ea typeface="Arial"/>
                <a:cs typeface="Arial"/>
              </a:defRPr>
            </a:lvl1pPr>
            <a:lvl2pPr>
              <a:defRPr sz="1950" b="0">
                <a:solidFill>
                  <a:srgbClr val="D3E0D5"/>
                </a:solidFill>
                <a:latin typeface="Arial"/>
                <a:ea typeface="Arial"/>
                <a:cs typeface="Arial"/>
              </a:defRPr>
            </a:lvl2pPr>
            <a:lvl3pPr>
              <a:defRPr sz="1950" b="0">
                <a:solidFill>
                  <a:srgbClr val="D3E0D5"/>
                </a:solidFill>
                <a:latin typeface="Arial"/>
                <a:ea typeface="Arial"/>
                <a:cs typeface="Arial"/>
              </a:defRPr>
            </a:lvl3pPr>
            <a:lvl4pPr>
              <a:defRPr sz="1950" b="0">
                <a:solidFill>
                  <a:srgbClr val="D3E0D5"/>
                </a:solidFill>
                <a:latin typeface="Arial"/>
                <a:ea typeface="Arial"/>
                <a:cs typeface="Arial"/>
              </a:defRPr>
            </a:lvl4pPr>
            <a:lvl5pPr>
              <a:defRPr sz="1950" b="0">
                <a:solidFill>
                  <a:srgbClr val="D3E0D5"/>
                </a:solidFill>
                <a:latin typeface="Arial"/>
                <a:ea typeface="Arial"/>
                <a:cs typeface="Arial"/>
              </a:defRPr>
            </a:lvl5pPr>
            <a:lvl6pPr>
              <a:defRPr sz="1950" b="0">
                <a:solidFill>
                  <a:srgbClr val="D3E0D5"/>
                </a:solidFill>
                <a:latin typeface="Arial"/>
                <a:ea typeface="Arial"/>
                <a:cs typeface="Arial"/>
              </a:defRPr>
            </a:lvl6pPr>
            <a:lvl7pPr>
              <a:defRPr sz="1950" b="0">
                <a:solidFill>
                  <a:srgbClr val="D3E0D5"/>
                </a:solidFill>
                <a:latin typeface="Arial"/>
                <a:ea typeface="Arial"/>
                <a:cs typeface="Arial"/>
              </a:defRPr>
            </a:lvl7pPr>
            <a:lvl8pPr>
              <a:defRPr sz="1950" b="0">
                <a:solidFill>
                  <a:srgbClr val="D3E0D5"/>
                </a:solidFill>
                <a:latin typeface="Arial"/>
                <a:ea typeface="Arial"/>
                <a:cs typeface="Arial"/>
              </a:defRPr>
            </a:lvl8pPr>
            <a:lvl9pPr>
              <a:defRPr sz="1950" b="0">
                <a:solidFill>
                  <a:srgbClr val="D3E0D5"/>
                </a:solidFill>
                <a:latin typeface="Arial"/>
                <a:ea typeface="Arial"/>
                <a:cs typeface="Arial"/>
              </a:defRPr>
            </a:lvl9pPr>
          </a:lstStyle>
          <a:p xmlns:a="http://schemas.openxmlformats.org/drawingml/2006/main">
            <a:pPr>
              <a:defRPr sz="1950" b="0">
                <a:solidFill>
                  <a:srgbClr val="D3E0D5"/>
                </a:solidFill>
                <a:latin typeface="Arial"/>
                <a:ea typeface="Arial"/>
                <a:cs typeface="Arial"/>
              </a:defRPr>
            </a:pPr>
            <a:r>
              <a:rPr sz="1950" b="0">
                <a:solidFill>
                  <a:srgbClr val="D3E0D5"/>
                </a:solidFill>
                <a:latin typeface="Arial"/>
                <a:ea typeface="Arial"/>
                <a:cs typeface="Arial"/>
              </a:rPr>
              <a:t>IUT-OIC, Bangladesh</a:t>
            </a:r>
          </a:p>
        </p:txBody>
      </p:sp>
      <p:sp>
        <p:nvSpPr>
          <p:cNvPr id="7" name="Mohammad Rafiul Islam">
            <a:extLst xmlns:a="http://schemas.openxmlformats.org/drawingml/2006/main">
              <a:ext uri="{FF2B5EF4-FFF2-40B4-BE49-F238E27FC236}">
                <a16:creationId xmlns:a16="http://schemas.microsoft.com/office/drawing/2014/main" id="{94E1E1EB-9805-47AC-8E76-7FC4FA3647CD}"/>
              </a:ext>
            </a:extLst>
          </p:cNvPr>
          <p:cNvSpPr>
            <a:spLocks xmlns:a="http://schemas.openxmlformats.org/drawingml/2006/main" noGrp="1"/>
          </p:cNvSpPr>
          <p:nvPr/>
        </p:nvSpPr>
        <p:spPr>
          <a:xfrm xmlns:a="http://schemas.openxmlformats.org/drawingml/2006/main">
            <a:off x="619125" y="2971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3EB"/>
                </a:solidFill>
                <a:latin typeface="Arial"/>
                <a:ea typeface="Arial"/>
                <a:cs typeface="Arial"/>
              </a:defRPr>
            </a:defPPr>
            <a:lvl1pPr>
              <a:defRPr sz="3300" b="1">
                <a:solidFill>
                  <a:srgbClr val="F4F3EB"/>
                </a:solidFill>
                <a:latin typeface="Arial"/>
                <a:ea typeface="Arial"/>
                <a:cs typeface="Arial"/>
              </a:defRPr>
            </a:lvl1pPr>
            <a:lvl2pPr>
              <a:defRPr sz="3300" b="1">
                <a:solidFill>
                  <a:srgbClr val="F4F3EB"/>
                </a:solidFill>
                <a:latin typeface="Arial"/>
                <a:ea typeface="Arial"/>
                <a:cs typeface="Arial"/>
              </a:defRPr>
            </a:lvl2pPr>
            <a:lvl3pPr>
              <a:defRPr sz="3300" b="1">
                <a:solidFill>
                  <a:srgbClr val="F4F3EB"/>
                </a:solidFill>
                <a:latin typeface="Arial"/>
                <a:ea typeface="Arial"/>
                <a:cs typeface="Arial"/>
              </a:defRPr>
            </a:lvl3pPr>
            <a:lvl4pPr>
              <a:defRPr sz="3300" b="1">
                <a:solidFill>
                  <a:srgbClr val="F4F3EB"/>
                </a:solidFill>
                <a:latin typeface="Arial"/>
                <a:ea typeface="Arial"/>
                <a:cs typeface="Arial"/>
              </a:defRPr>
            </a:lvl4pPr>
            <a:lvl5pPr>
              <a:defRPr sz="3300" b="1">
                <a:solidFill>
                  <a:srgbClr val="F4F3EB"/>
                </a:solidFill>
                <a:latin typeface="Arial"/>
                <a:ea typeface="Arial"/>
                <a:cs typeface="Arial"/>
              </a:defRPr>
            </a:lvl5pPr>
            <a:lvl6pPr>
              <a:defRPr sz="3300" b="1">
                <a:solidFill>
                  <a:srgbClr val="F4F3EB"/>
                </a:solidFill>
                <a:latin typeface="Arial"/>
                <a:ea typeface="Arial"/>
                <a:cs typeface="Arial"/>
              </a:defRPr>
            </a:lvl6pPr>
            <a:lvl7pPr>
              <a:defRPr sz="3300" b="1">
                <a:solidFill>
                  <a:srgbClr val="F4F3EB"/>
                </a:solidFill>
                <a:latin typeface="Arial"/>
                <a:ea typeface="Arial"/>
                <a:cs typeface="Arial"/>
              </a:defRPr>
            </a:lvl7pPr>
            <a:lvl8pPr>
              <a:defRPr sz="3300" b="1">
                <a:solidFill>
                  <a:srgbClr val="F4F3EB"/>
                </a:solidFill>
                <a:latin typeface="Arial"/>
                <a:ea typeface="Arial"/>
                <a:cs typeface="Arial"/>
              </a:defRPr>
            </a:lvl8pPr>
            <a:lvl9pPr>
              <a:defRPr sz="3300" b="1">
                <a:solidFill>
                  <a:srgbClr val="F4F3EB"/>
                </a:solidFill>
                <a:latin typeface="Arial"/>
                <a:ea typeface="Arial"/>
                <a:cs typeface="Arial"/>
              </a:defRPr>
            </a:lvl9pPr>
          </a:lstStyle>
          <a:p xmlns:a="http://schemas.openxmlformats.org/drawingml/2006/main">
            <a:pPr>
              <a:defRPr sz="3300" b="1">
                <a:solidFill>
                  <a:srgbClr val="F4F3EB"/>
                </a:solidFill>
                <a:latin typeface="Arial"/>
                <a:ea typeface="Arial"/>
                <a:cs typeface="Arial"/>
              </a:defRPr>
            </a:pPr>
            <a:r>
              <a:rPr sz="3300" b="1">
                <a:solidFill>
                  <a:srgbClr val="F4F3EB"/>
                </a:solidFill>
                <a:latin typeface="Arial"/>
                <a:ea typeface="Arial"/>
                <a:cs typeface="Arial"/>
              </a:rPr>
              <a:t>Mohammad Rafiul Islam</a:t>
            </a:r>
          </a:p>
        </p:txBody>
      </p:sp>
      <p:sp>
        <p:nvSpPr>
          <p:cNvPr id="8" name="Tasnia Basharat Mahi">
            <a:extLst xmlns:a="http://schemas.openxmlformats.org/drawingml/2006/main">
              <a:ext uri="{FF2B5EF4-FFF2-40B4-BE49-F238E27FC236}">
                <a16:creationId xmlns:a16="http://schemas.microsoft.com/office/drawing/2014/main" id="{66252881-4E5B-4AB8-B0C4-31E3E5886B28}"/>
              </a:ext>
            </a:extLst>
          </p:cNvPr>
          <p:cNvSpPr>
            <a:spLocks xmlns:a="http://schemas.openxmlformats.org/drawingml/2006/main" noGrp="1"/>
          </p:cNvSpPr>
          <p:nvPr/>
        </p:nvSpPr>
        <p:spPr>
          <a:xfrm xmlns:a="http://schemas.openxmlformats.org/drawingml/2006/main">
            <a:off x="619125" y="37528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3EB"/>
                </a:solidFill>
                <a:latin typeface="Arial"/>
                <a:ea typeface="Arial"/>
                <a:cs typeface="Arial"/>
              </a:defRPr>
            </a:defPPr>
            <a:lvl1pPr>
              <a:defRPr sz="3300" b="1">
                <a:solidFill>
                  <a:srgbClr val="F4F3EB"/>
                </a:solidFill>
                <a:latin typeface="Arial"/>
                <a:ea typeface="Arial"/>
                <a:cs typeface="Arial"/>
              </a:defRPr>
            </a:lvl1pPr>
            <a:lvl2pPr>
              <a:defRPr sz="3300" b="1">
                <a:solidFill>
                  <a:srgbClr val="F4F3EB"/>
                </a:solidFill>
                <a:latin typeface="Arial"/>
                <a:ea typeface="Arial"/>
                <a:cs typeface="Arial"/>
              </a:defRPr>
            </a:lvl2pPr>
            <a:lvl3pPr>
              <a:defRPr sz="3300" b="1">
                <a:solidFill>
                  <a:srgbClr val="F4F3EB"/>
                </a:solidFill>
                <a:latin typeface="Arial"/>
                <a:ea typeface="Arial"/>
                <a:cs typeface="Arial"/>
              </a:defRPr>
            </a:lvl3pPr>
            <a:lvl4pPr>
              <a:defRPr sz="3300" b="1">
                <a:solidFill>
                  <a:srgbClr val="F4F3EB"/>
                </a:solidFill>
                <a:latin typeface="Arial"/>
                <a:ea typeface="Arial"/>
                <a:cs typeface="Arial"/>
              </a:defRPr>
            </a:lvl4pPr>
            <a:lvl5pPr>
              <a:defRPr sz="3300" b="1">
                <a:solidFill>
                  <a:srgbClr val="F4F3EB"/>
                </a:solidFill>
                <a:latin typeface="Arial"/>
                <a:ea typeface="Arial"/>
                <a:cs typeface="Arial"/>
              </a:defRPr>
            </a:lvl5pPr>
            <a:lvl6pPr>
              <a:defRPr sz="3300" b="1">
                <a:solidFill>
                  <a:srgbClr val="F4F3EB"/>
                </a:solidFill>
                <a:latin typeface="Arial"/>
                <a:ea typeface="Arial"/>
                <a:cs typeface="Arial"/>
              </a:defRPr>
            </a:lvl6pPr>
            <a:lvl7pPr>
              <a:defRPr sz="3300" b="1">
                <a:solidFill>
                  <a:srgbClr val="F4F3EB"/>
                </a:solidFill>
                <a:latin typeface="Arial"/>
                <a:ea typeface="Arial"/>
                <a:cs typeface="Arial"/>
              </a:defRPr>
            </a:lvl7pPr>
            <a:lvl8pPr>
              <a:defRPr sz="3300" b="1">
                <a:solidFill>
                  <a:srgbClr val="F4F3EB"/>
                </a:solidFill>
                <a:latin typeface="Arial"/>
                <a:ea typeface="Arial"/>
                <a:cs typeface="Arial"/>
              </a:defRPr>
            </a:lvl8pPr>
            <a:lvl9pPr>
              <a:defRPr sz="3300" b="1">
                <a:solidFill>
                  <a:srgbClr val="F4F3EB"/>
                </a:solidFill>
                <a:latin typeface="Arial"/>
                <a:ea typeface="Arial"/>
                <a:cs typeface="Arial"/>
              </a:defRPr>
            </a:lvl9pPr>
          </a:lstStyle>
          <a:p xmlns:a="http://schemas.openxmlformats.org/drawingml/2006/main">
            <a:pPr>
              <a:defRPr sz="3300" b="1">
                <a:solidFill>
                  <a:srgbClr val="F4F3EB"/>
                </a:solidFill>
                <a:latin typeface="Arial"/>
                <a:ea typeface="Arial"/>
                <a:cs typeface="Arial"/>
              </a:defRPr>
            </a:pPr>
            <a:r>
              <a:rPr sz="3300" b="1">
                <a:solidFill>
                  <a:srgbClr val="F4F3EB"/>
                </a:solidFill>
                <a:latin typeface="Arial"/>
                <a:ea typeface="Arial"/>
                <a:cs typeface="Arial"/>
              </a:rPr>
              <a:t>Tasnia Basharat Mahi</a:t>
            </a:r>
          </a:p>
        </p:txBody>
      </p:sp>
      <p:sp>
        <p:nvSpPr>
          <p:cNvPr id="9" name="Masrura Sara Mohima">
            <a:extLst xmlns:a="http://schemas.openxmlformats.org/drawingml/2006/main">
              <a:ext uri="{FF2B5EF4-FFF2-40B4-BE49-F238E27FC236}">
                <a16:creationId xmlns:a16="http://schemas.microsoft.com/office/drawing/2014/main" id="{D4408F13-87CE-4875-A7EB-9CD7766BDB9E}"/>
              </a:ext>
            </a:extLst>
          </p:cNvPr>
          <p:cNvSpPr>
            <a:spLocks xmlns:a="http://schemas.openxmlformats.org/drawingml/2006/main" noGrp="1"/>
          </p:cNvSpPr>
          <p:nvPr/>
        </p:nvSpPr>
        <p:spPr>
          <a:xfrm xmlns:a="http://schemas.openxmlformats.org/drawingml/2006/main">
            <a:off x="619125" y="45339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3EB"/>
                </a:solidFill>
                <a:latin typeface="Arial"/>
                <a:ea typeface="Arial"/>
                <a:cs typeface="Arial"/>
              </a:defRPr>
            </a:defPPr>
            <a:lvl1pPr>
              <a:defRPr sz="3300" b="1">
                <a:solidFill>
                  <a:srgbClr val="F4F3EB"/>
                </a:solidFill>
                <a:latin typeface="Arial"/>
                <a:ea typeface="Arial"/>
                <a:cs typeface="Arial"/>
              </a:defRPr>
            </a:lvl1pPr>
            <a:lvl2pPr>
              <a:defRPr sz="3300" b="1">
                <a:solidFill>
                  <a:srgbClr val="F4F3EB"/>
                </a:solidFill>
                <a:latin typeface="Arial"/>
                <a:ea typeface="Arial"/>
                <a:cs typeface="Arial"/>
              </a:defRPr>
            </a:lvl2pPr>
            <a:lvl3pPr>
              <a:defRPr sz="3300" b="1">
                <a:solidFill>
                  <a:srgbClr val="F4F3EB"/>
                </a:solidFill>
                <a:latin typeface="Arial"/>
                <a:ea typeface="Arial"/>
                <a:cs typeface="Arial"/>
              </a:defRPr>
            </a:lvl3pPr>
            <a:lvl4pPr>
              <a:defRPr sz="3300" b="1">
                <a:solidFill>
                  <a:srgbClr val="F4F3EB"/>
                </a:solidFill>
                <a:latin typeface="Arial"/>
                <a:ea typeface="Arial"/>
                <a:cs typeface="Arial"/>
              </a:defRPr>
            </a:lvl4pPr>
            <a:lvl5pPr>
              <a:defRPr sz="3300" b="1">
                <a:solidFill>
                  <a:srgbClr val="F4F3EB"/>
                </a:solidFill>
                <a:latin typeface="Arial"/>
                <a:ea typeface="Arial"/>
                <a:cs typeface="Arial"/>
              </a:defRPr>
            </a:lvl5pPr>
            <a:lvl6pPr>
              <a:defRPr sz="3300" b="1">
                <a:solidFill>
                  <a:srgbClr val="F4F3EB"/>
                </a:solidFill>
                <a:latin typeface="Arial"/>
                <a:ea typeface="Arial"/>
                <a:cs typeface="Arial"/>
              </a:defRPr>
            </a:lvl6pPr>
            <a:lvl7pPr>
              <a:defRPr sz="3300" b="1">
                <a:solidFill>
                  <a:srgbClr val="F4F3EB"/>
                </a:solidFill>
                <a:latin typeface="Arial"/>
                <a:ea typeface="Arial"/>
                <a:cs typeface="Arial"/>
              </a:defRPr>
            </a:lvl7pPr>
            <a:lvl8pPr>
              <a:defRPr sz="3300" b="1">
                <a:solidFill>
                  <a:srgbClr val="F4F3EB"/>
                </a:solidFill>
                <a:latin typeface="Arial"/>
                <a:ea typeface="Arial"/>
                <a:cs typeface="Arial"/>
              </a:defRPr>
            </a:lvl8pPr>
            <a:lvl9pPr>
              <a:defRPr sz="3300" b="1">
                <a:solidFill>
                  <a:srgbClr val="F4F3EB"/>
                </a:solidFill>
                <a:latin typeface="Arial"/>
                <a:ea typeface="Arial"/>
                <a:cs typeface="Arial"/>
              </a:defRPr>
            </a:lvl9pPr>
          </a:lstStyle>
          <a:p xmlns:a="http://schemas.openxmlformats.org/drawingml/2006/main">
            <a:pPr>
              <a:defRPr sz="3300" b="1">
                <a:solidFill>
                  <a:srgbClr val="F4F3EB"/>
                </a:solidFill>
                <a:latin typeface="Arial"/>
                <a:ea typeface="Arial"/>
                <a:cs typeface="Arial"/>
              </a:defRPr>
            </a:pPr>
            <a:r>
              <a:rPr sz="3300" b="1">
                <a:solidFill>
                  <a:srgbClr val="F4F3EB"/>
                </a:solidFill>
                <a:latin typeface="Arial"/>
                <a:ea typeface="Arial"/>
                <a:cs typeface="Arial"/>
              </a:rPr>
              <a:t>Masrura Sara Mohima</a:t>
            </a:r>
          </a:p>
        </p:txBody>
      </p:sp>
      <p:sp>
        <p:nvSpPr>
          <p:cNvPr id="10" name="Harvest the wind. Deliver the motion.">
            <a:extLst xmlns:a="http://schemas.openxmlformats.org/drawingml/2006/main">
              <a:ext uri="{FF2B5EF4-FFF2-40B4-BE49-F238E27FC236}">
                <a16:creationId xmlns:a16="http://schemas.microsoft.com/office/drawing/2014/main" id="{411C02D2-1CCC-4F14-85D6-0B4B1094D7FA}"/>
              </a:ext>
            </a:extLst>
          </p:cNvPr>
          <p:cNvSpPr>
            <a:spLocks xmlns:a="http://schemas.openxmlformats.org/drawingml/2006/main" noGrp="1"/>
          </p:cNvSpPr>
          <p:nvPr/>
        </p:nvSpPr>
        <p:spPr>
          <a:xfrm xmlns:a="http://schemas.openxmlformats.org/drawingml/2006/main">
            <a:off x="619125" y="5619750"/>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6BE54"/>
                </a:solidFill>
                <a:latin typeface="Arial"/>
                <a:ea typeface="Arial"/>
                <a:cs typeface="Arial"/>
              </a:defRPr>
            </a:defPPr>
            <a:lvl1pPr>
              <a:defRPr sz="2400" b="0">
                <a:solidFill>
                  <a:srgbClr val="F6BE54"/>
                </a:solidFill>
                <a:latin typeface="Arial"/>
                <a:ea typeface="Arial"/>
                <a:cs typeface="Arial"/>
              </a:defRPr>
            </a:lvl1pPr>
            <a:lvl2pPr>
              <a:defRPr sz="2400" b="0">
                <a:solidFill>
                  <a:srgbClr val="F6BE54"/>
                </a:solidFill>
                <a:latin typeface="Arial"/>
                <a:ea typeface="Arial"/>
                <a:cs typeface="Arial"/>
              </a:defRPr>
            </a:lvl2pPr>
            <a:lvl3pPr>
              <a:defRPr sz="2400" b="0">
                <a:solidFill>
                  <a:srgbClr val="F6BE54"/>
                </a:solidFill>
                <a:latin typeface="Arial"/>
                <a:ea typeface="Arial"/>
                <a:cs typeface="Arial"/>
              </a:defRPr>
            </a:lvl3pPr>
            <a:lvl4pPr>
              <a:defRPr sz="2400" b="0">
                <a:solidFill>
                  <a:srgbClr val="F6BE54"/>
                </a:solidFill>
                <a:latin typeface="Arial"/>
                <a:ea typeface="Arial"/>
                <a:cs typeface="Arial"/>
              </a:defRPr>
            </a:lvl4pPr>
            <a:lvl5pPr>
              <a:defRPr sz="2400" b="0">
                <a:solidFill>
                  <a:srgbClr val="F6BE54"/>
                </a:solidFill>
                <a:latin typeface="Arial"/>
                <a:ea typeface="Arial"/>
                <a:cs typeface="Arial"/>
              </a:defRPr>
            </a:lvl5pPr>
            <a:lvl6pPr>
              <a:defRPr sz="2400" b="0">
                <a:solidFill>
                  <a:srgbClr val="F6BE54"/>
                </a:solidFill>
                <a:latin typeface="Arial"/>
                <a:ea typeface="Arial"/>
                <a:cs typeface="Arial"/>
              </a:defRPr>
            </a:lvl6pPr>
            <a:lvl7pPr>
              <a:defRPr sz="2400" b="0">
                <a:solidFill>
                  <a:srgbClr val="F6BE54"/>
                </a:solidFill>
                <a:latin typeface="Arial"/>
                <a:ea typeface="Arial"/>
                <a:cs typeface="Arial"/>
              </a:defRPr>
            </a:lvl7pPr>
            <a:lvl8pPr>
              <a:defRPr sz="2400" b="0">
                <a:solidFill>
                  <a:srgbClr val="F6BE54"/>
                </a:solidFill>
                <a:latin typeface="Arial"/>
                <a:ea typeface="Arial"/>
                <a:cs typeface="Arial"/>
              </a:defRPr>
            </a:lvl8pPr>
            <a:lvl9pPr>
              <a:defRPr sz="2400" b="0">
                <a:solidFill>
                  <a:srgbClr val="F6BE54"/>
                </a:solidFill>
                <a:latin typeface="Arial"/>
                <a:ea typeface="Arial"/>
                <a:cs typeface="Arial"/>
              </a:defRPr>
            </a:lvl9pPr>
          </a:lstStyle>
          <a:p xmlns:a="http://schemas.openxmlformats.org/drawingml/2006/main">
            <a:pPr>
              <a:defRPr sz="2400" b="0">
                <a:solidFill>
                  <a:srgbClr val="F6BE54"/>
                </a:solidFill>
                <a:latin typeface="Arial"/>
                <a:ea typeface="Arial"/>
                <a:cs typeface="Arial"/>
              </a:defRPr>
            </a:pPr>
            <a:r>
              <a:rPr sz="2400" b="0">
                <a:solidFill>
                  <a:srgbClr val="F6BE54"/>
                </a:solidFill>
                <a:latin typeface="Arial"/>
                <a:ea typeface="Arial"/>
                <a:cs typeface="Arial"/>
              </a:rPr>
              <a:t>Harvest the wind. Deliver the motion.</a:t>
            </a:r>
          </a:p>
        </p:txBody>
      </p:sp>
    </p:spTree>
    <p:extLst>
      <p:ext uri="{BB962C8B-B14F-4D97-AF65-F5344CB8AC3E}">
        <p14:creationId xmlns:p14="http://schemas.microsoft.com/office/powerpoint/2010/main" val="305293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2026-10-26T19:09:07.8780000Z</dcterms:created>
  <dcterms:modified xsi:type="dcterms:W3CDTF">2026-10-26T19:09:07.8790000Z</dcterms:modified>
</coreProperties>
</file>